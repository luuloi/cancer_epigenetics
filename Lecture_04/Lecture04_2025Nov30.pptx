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0" r:id="rId1"/>
  </p:sldMasterIdLst>
  <p:notesMasterIdLst>
    <p:notesMasterId r:id="rId40"/>
  </p:notesMasterIdLst>
  <p:sldIdLst>
    <p:sldId id="257" r:id="rId2"/>
    <p:sldId id="340" r:id="rId3"/>
    <p:sldId id="4803" r:id="rId4"/>
    <p:sldId id="4804" r:id="rId5"/>
    <p:sldId id="4805" r:id="rId6"/>
    <p:sldId id="4806" r:id="rId7"/>
    <p:sldId id="4807" r:id="rId8"/>
    <p:sldId id="4808" r:id="rId9"/>
    <p:sldId id="4809" r:id="rId10"/>
    <p:sldId id="4810" r:id="rId11"/>
    <p:sldId id="4815" r:id="rId12"/>
    <p:sldId id="4816" r:id="rId13"/>
    <p:sldId id="268" r:id="rId14"/>
    <p:sldId id="271" r:id="rId15"/>
    <p:sldId id="4823" r:id="rId16"/>
    <p:sldId id="275" r:id="rId17"/>
    <p:sldId id="278" r:id="rId18"/>
    <p:sldId id="279" r:id="rId19"/>
    <p:sldId id="276" r:id="rId20"/>
    <p:sldId id="277" r:id="rId21"/>
    <p:sldId id="282" r:id="rId22"/>
    <p:sldId id="284" r:id="rId23"/>
    <p:sldId id="287" r:id="rId24"/>
    <p:sldId id="283" r:id="rId25"/>
    <p:sldId id="285" r:id="rId26"/>
    <p:sldId id="286" r:id="rId27"/>
    <p:sldId id="288" r:id="rId28"/>
    <p:sldId id="4811" r:id="rId29"/>
    <p:sldId id="4812" r:id="rId30"/>
    <p:sldId id="4813" r:id="rId31"/>
    <p:sldId id="4814" r:id="rId32"/>
    <p:sldId id="4817" r:id="rId33"/>
    <p:sldId id="4818" r:id="rId34"/>
    <p:sldId id="4819" r:id="rId35"/>
    <p:sldId id="4820" r:id="rId36"/>
    <p:sldId id="4821" r:id="rId37"/>
    <p:sldId id="4822" r:id="rId38"/>
    <p:sldId id="273"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6" autoAdjust="0"/>
    <p:restoredTop sz="91372" autoAdjust="0"/>
  </p:normalViewPr>
  <p:slideViewPr>
    <p:cSldViewPr snapToGrid="0">
      <p:cViewPr>
        <p:scale>
          <a:sx n="84" d="100"/>
          <a:sy n="84" d="100"/>
        </p:scale>
        <p:origin x="129"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Calibri Light" panose="020F030202020403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Calibri Light" panose="020F0302020204030204" pitchFamily="34" charset="0"/>
              </a:defRPr>
            </a:lvl1pPr>
          </a:lstStyle>
          <a:p>
            <a:fld id="{5CDF7F7E-F815-4845-9F25-6AA55375E7FC}" type="datetimeFigureOut">
              <a:rPr lang="en-US" smtClean="0"/>
              <a:pPr/>
              <a:t>11/30/2025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Calibri Light" panose="020F030202020403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Calibri Light" panose="020F0302020204030204" pitchFamily="34" charset="0"/>
              </a:defRPr>
            </a:lvl1pPr>
          </a:lstStyle>
          <a:p>
            <a:fld id="{BD503204-0D85-4D43-9361-EE939A533DBE}" type="slidenum">
              <a:rPr lang="en-US" smtClean="0"/>
              <a:pPr/>
              <a:t>‹#›</a:t>
            </a:fld>
            <a:endParaRPr lang="en-US" dirty="0"/>
          </a:p>
        </p:txBody>
      </p:sp>
    </p:spTree>
    <p:extLst>
      <p:ext uri="{BB962C8B-B14F-4D97-AF65-F5344CB8AC3E}">
        <p14:creationId xmlns:p14="http://schemas.microsoft.com/office/powerpoint/2010/main" val="2549709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Calibri Light" panose="020F0302020204030204" pitchFamily="34" charset="0"/>
        <a:ea typeface="+mn-ea"/>
        <a:cs typeface="+mn-cs"/>
      </a:defRPr>
    </a:lvl1pPr>
    <a:lvl2pPr marL="457200" algn="l" defTabSz="914400" rtl="0" eaLnBrk="1" latinLnBrk="0" hangingPunct="1">
      <a:defRPr sz="1200" kern="1200">
        <a:solidFill>
          <a:schemeClr val="tx1"/>
        </a:solidFill>
        <a:latin typeface="Calibri Light" panose="020F0302020204030204" pitchFamily="34" charset="0"/>
        <a:ea typeface="+mn-ea"/>
        <a:cs typeface="+mn-cs"/>
      </a:defRPr>
    </a:lvl2pPr>
    <a:lvl3pPr marL="914400" algn="l" defTabSz="914400" rtl="0" eaLnBrk="1" latinLnBrk="0" hangingPunct="1">
      <a:defRPr sz="1200" kern="1200">
        <a:solidFill>
          <a:schemeClr val="tx1"/>
        </a:solidFill>
        <a:latin typeface="Calibri Light" panose="020F0302020204030204" pitchFamily="34" charset="0"/>
        <a:ea typeface="+mn-ea"/>
        <a:cs typeface="+mn-cs"/>
      </a:defRPr>
    </a:lvl3pPr>
    <a:lvl4pPr marL="1371600" algn="l" defTabSz="914400" rtl="0" eaLnBrk="1" latinLnBrk="0" hangingPunct="1">
      <a:defRPr sz="1200" kern="1200">
        <a:solidFill>
          <a:schemeClr val="tx1"/>
        </a:solidFill>
        <a:latin typeface="Calibri Light" panose="020F0302020204030204" pitchFamily="34" charset="0"/>
        <a:ea typeface="+mn-ea"/>
        <a:cs typeface="+mn-cs"/>
      </a:defRPr>
    </a:lvl4pPr>
    <a:lvl5pPr marL="1828800" algn="l" defTabSz="914400" rtl="0" eaLnBrk="1" latinLnBrk="0" hangingPunct="1">
      <a:defRPr sz="1200" kern="1200">
        <a:solidFill>
          <a:schemeClr val="tx1"/>
        </a:solidFill>
        <a:latin typeface="Calibri Light" panose="020F030202020403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2" name="Google Shape;6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Transcription factors are the "decision makers" of the genome. While the basal machinery (discussed in Chapter 3) is the engine that drives transcription, TFs are the drivers that tell the engine when to start and how fast to go. They translate signals from the environment (like hormones or stress) into changes in gene expression. It is important to distinguish them from GTFs, which are generic and required for </a:t>
            </a:r>
            <a:r>
              <a:rPr lang="en-GB" i="1" dirty="0"/>
              <a:t>all</a:t>
            </a:r>
            <a:r>
              <a:rPr lang="en-GB" dirty="0"/>
              <a:t> transcription. Site-specific TFs provide the unique regulation required for cell identity.</a:t>
            </a:r>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5</a:t>
            </a:fld>
            <a:endParaRPr lang="en-US" dirty="0"/>
          </a:p>
        </p:txBody>
      </p:sp>
    </p:spTree>
    <p:extLst>
      <p:ext uri="{BB962C8B-B14F-4D97-AF65-F5344CB8AC3E}">
        <p14:creationId xmlns:p14="http://schemas.microsoft.com/office/powerpoint/2010/main" val="35889356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TFs are modular proteins. You can think of them as having a "hand" that grabs the DNA (the DBD) and a "body" that connects to other proteins (the transactivation domain). The dimerization domain allows TFs to pair up. This is crucial because pairing increases the length of the DNA sequence recognized, making binding more specific and stable. Most interactions occur in the major groove of the DNA because it exposes more chemical information (hydrogen bond donors/acceptors) unique to each base pair than the minor groove.</a:t>
            </a:r>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6</a:t>
            </a:fld>
            <a:endParaRPr lang="en-US" dirty="0"/>
          </a:p>
        </p:txBody>
      </p:sp>
    </p:spTree>
    <p:extLst>
      <p:ext uri="{BB962C8B-B14F-4D97-AF65-F5344CB8AC3E}">
        <p14:creationId xmlns:p14="http://schemas.microsoft.com/office/powerpoint/2010/main" val="4057119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TFs are modular proteins. You can think of them as having a "hand" that grabs the DNA (the DBD) and a "body" that connects to other proteins (the transactivation domain). The dimerization domain allows TFs to pair up. This is crucial because pairing increases the length of the DNA sequence recognized, making binding more specific and stable. Most interactions occur in the major groove of the DNA because it exposes more chemical information (hydrogen bond donors/acceptors) unique to each base pair than the minor groove.</a:t>
            </a:r>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7</a:t>
            </a:fld>
            <a:endParaRPr lang="en-US" dirty="0"/>
          </a:p>
        </p:txBody>
      </p:sp>
    </p:spTree>
    <p:extLst>
      <p:ext uri="{BB962C8B-B14F-4D97-AF65-F5344CB8AC3E}">
        <p14:creationId xmlns:p14="http://schemas.microsoft.com/office/powerpoint/2010/main" val="18687806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Zinc Finger is the most common DBD in human TFs. The C2H2 superfamily alone has 675 members. The zinc atom is structural—it holds the small peptide domain together so an alpha-helix can insert into the DNA's major groove. Because one finger isn't strong enough, they work in tandem. CTCF, which is vital for chromatin organization (insulators), uses 11 zinc fingers to grab DNA very securely.</a:t>
            </a:r>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8</a:t>
            </a:fld>
            <a:endParaRPr lang="en-US" dirty="0"/>
          </a:p>
        </p:txBody>
      </p:sp>
    </p:spTree>
    <p:extLst>
      <p:ext uri="{BB962C8B-B14F-4D97-AF65-F5344CB8AC3E}">
        <p14:creationId xmlns:p14="http://schemas.microsoft.com/office/powerpoint/2010/main" val="39695346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Helix-Turn-Helix is another major class. The "recognition helix" reads the DNA sequence. A famous subtype is the Homeodomain. The name comes from "homeotic" genes in fruit flies, where mutations caused body parts to grow in the wrong places (like legs on the head). In humans, these (like the HOX cluster) are master regulators of embryonic development. There are about 250 Homeodomain TFs in humans.</a:t>
            </a:r>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9</a:t>
            </a:fld>
            <a:endParaRPr lang="en-US" dirty="0"/>
          </a:p>
        </p:txBody>
      </p:sp>
    </p:spTree>
    <p:extLst>
      <p:ext uri="{BB962C8B-B14F-4D97-AF65-F5344CB8AC3E}">
        <p14:creationId xmlns:p14="http://schemas.microsoft.com/office/powerpoint/2010/main" val="8853522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Dimerization is the "social" aspect of TFs. The Leucine Zipper gets its name because </a:t>
            </a:r>
            <a:r>
              <a:rPr lang="en-GB" dirty="0" err="1"/>
              <a:t>Leucines</a:t>
            </a:r>
            <a:r>
              <a:rPr lang="en-GB" dirty="0"/>
              <a:t> appear every 7 amino acids (creating a zipper-like hydrophobic strip). This allows two proteins to stick together. </a:t>
            </a:r>
            <a:r>
              <a:rPr lang="en-GB" dirty="0" err="1"/>
              <a:t>bHLH</a:t>
            </a:r>
            <a:r>
              <a:rPr lang="en-GB" dirty="0"/>
              <a:t> is similar but uses a loop for flexibility. While most TFs bind the major groove, the Beta-scaffold group (like TBP) is unique—it binds the </a:t>
            </a:r>
            <a:r>
              <a:rPr lang="en-GB" i="1" dirty="0"/>
              <a:t>minor</a:t>
            </a:r>
            <a:r>
              <a:rPr lang="en-GB" dirty="0"/>
              <a:t> groove and bends the DNA significantly, often acting as a platform for assembling other proteins.</a:t>
            </a:r>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10</a:t>
            </a:fld>
            <a:endParaRPr lang="en-US" dirty="0"/>
          </a:p>
        </p:txBody>
      </p:sp>
    </p:spTree>
    <p:extLst>
      <p:ext uri="{BB962C8B-B14F-4D97-AF65-F5344CB8AC3E}">
        <p14:creationId xmlns:p14="http://schemas.microsoft.com/office/powerpoint/2010/main" val="30668117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11</a:t>
            </a:fld>
            <a:endParaRPr lang="en-US" dirty="0"/>
          </a:p>
        </p:txBody>
      </p:sp>
    </p:spTree>
    <p:extLst>
      <p:ext uri="{BB962C8B-B14F-4D97-AF65-F5344CB8AC3E}">
        <p14:creationId xmlns:p14="http://schemas.microsoft.com/office/powerpoint/2010/main" val="25102023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Dimerization is the "social" aspect of TFs. The Leucine Zipper gets its name because </a:t>
            </a:r>
            <a:r>
              <a:rPr lang="en-GB" dirty="0" err="1"/>
              <a:t>Leucines</a:t>
            </a:r>
            <a:r>
              <a:rPr lang="en-GB" dirty="0"/>
              <a:t> appear every 7 amino acids (creating a zipper-like hydrophobic strip). This allows two proteins to stick together. </a:t>
            </a:r>
            <a:r>
              <a:rPr lang="en-GB" dirty="0" err="1"/>
              <a:t>bHLH</a:t>
            </a:r>
            <a:r>
              <a:rPr lang="en-GB" dirty="0"/>
              <a:t> is similar but uses a loop for flexibility. While most TFs bind the major groove, the Beta-scaffold group (like TBP) is unique—it binds the </a:t>
            </a:r>
            <a:r>
              <a:rPr lang="en-GB" i="1" dirty="0"/>
              <a:t>minor</a:t>
            </a:r>
            <a:r>
              <a:rPr lang="en-GB" dirty="0"/>
              <a:t> groove and bends the DNA significantly, often acting as a platform for assembling other proteins.</a:t>
            </a:r>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12</a:t>
            </a:fld>
            <a:endParaRPr lang="en-US" dirty="0"/>
          </a:p>
        </p:txBody>
      </p:sp>
    </p:spTree>
    <p:extLst>
      <p:ext uri="{BB962C8B-B14F-4D97-AF65-F5344CB8AC3E}">
        <p14:creationId xmlns:p14="http://schemas.microsoft.com/office/powerpoint/2010/main" val="16748222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Dimerization is the "social" aspect of TFs. The Leucine Zipper gets its name because </a:t>
            </a:r>
            <a:r>
              <a:rPr lang="en-GB" dirty="0" err="1"/>
              <a:t>Leucines</a:t>
            </a:r>
            <a:r>
              <a:rPr lang="en-GB" dirty="0"/>
              <a:t> appear every 7 amino acids (creating a zipper-like hydrophobic strip). This allows two proteins to stick together. </a:t>
            </a:r>
            <a:r>
              <a:rPr lang="en-GB" dirty="0" err="1"/>
              <a:t>bHLH</a:t>
            </a:r>
            <a:r>
              <a:rPr lang="en-GB" dirty="0"/>
              <a:t> is similar but uses a loop for flexibility. While most TFs bind the major groove, the Beta-scaffold group (like TBP) is unique—it binds the </a:t>
            </a:r>
            <a:r>
              <a:rPr lang="en-GB" i="1" dirty="0"/>
              <a:t>minor</a:t>
            </a:r>
            <a:r>
              <a:rPr lang="en-GB" dirty="0"/>
              <a:t> groove and bends the DNA significantly, often acting as a platform for assembling other proteins.</a:t>
            </a:r>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28</a:t>
            </a:fld>
            <a:endParaRPr lang="en-US" dirty="0"/>
          </a:p>
        </p:txBody>
      </p:sp>
    </p:spTree>
    <p:extLst>
      <p:ext uri="{BB962C8B-B14F-4D97-AF65-F5344CB8AC3E}">
        <p14:creationId xmlns:p14="http://schemas.microsoft.com/office/powerpoint/2010/main" val="9959311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Dimerization is the "social" aspect of TFs. The Leucine Zipper gets its name because </a:t>
            </a:r>
            <a:r>
              <a:rPr lang="en-GB" dirty="0" err="1"/>
              <a:t>Leucines</a:t>
            </a:r>
            <a:r>
              <a:rPr lang="en-GB" dirty="0"/>
              <a:t> appear every 7 amino acids (creating a zipper-like hydrophobic strip). This allows two proteins to stick together. </a:t>
            </a:r>
            <a:r>
              <a:rPr lang="en-GB" dirty="0" err="1"/>
              <a:t>bHLH</a:t>
            </a:r>
            <a:r>
              <a:rPr lang="en-GB" dirty="0"/>
              <a:t> is similar but uses a loop for flexibility. While most TFs bind the major groove, the Beta-scaffold group (like TBP) is unique—it binds the </a:t>
            </a:r>
            <a:r>
              <a:rPr lang="en-GB" i="1" dirty="0"/>
              <a:t>minor</a:t>
            </a:r>
            <a:r>
              <a:rPr lang="en-GB" dirty="0"/>
              <a:t> groove and bends the DNA significantly, often acting as a platform for assembling other proteins.</a:t>
            </a:r>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29</a:t>
            </a:fld>
            <a:endParaRPr lang="en-US" dirty="0"/>
          </a:p>
        </p:txBody>
      </p:sp>
    </p:spTree>
    <p:extLst>
      <p:ext uri="{BB962C8B-B14F-4D97-AF65-F5344CB8AC3E}">
        <p14:creationId xmlns:p14="http://schemas.microsoft.com/office/powerpoint/2010/main" val="14491788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slide contrasts two major </a:t>
            </a:r>
            <a:r>
              <a:rPr lang="en-GB" dirty="0" err="1"/>
              <a:t>signaling</a:t>
            </a:r>
            <a:r>
              <a:rPr lang="en-GB" dirty="0"/>
              <a:t> modes. Nuclear receptors (Chapter 5) act as direct sensors—the signal (lipid) walks right into the cell and binds the TF. In contrast, peptide hormones (like insulin or epinephrine) cannot enter the cell. They knock on the door (membrane receptor), triggering a "bucket brigade" of kinases (phosphorylation cascade) that eventually reaches the nucleus to phosphorylate and activate TFs like CREB.</a:t>
            </a:r>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30</a:t>
            </a:fld>
            <a:endParaRPr lang="en-US" dirty="0"/>
          </a:p>
        </p:txBody>
      </p:sp>
    </p:spTree>
    <p:extLst>
      <p:ext uri="{BB962C8B-B14F-4D97-AF65-F5344CB8AC3E}">
        <p14:creationId xmlns:p14="http://schemas.microsoft.com/office/powerpoint/2010/main" val="14895628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These factors are "sleeping" in the cytoplasm. They are heavily used in immune responses and development because they are fast—the protein is already made and just needs to move to the nucleus. They don't require new protein synthesis to act.</a:t>
            </a:r>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31</a:t>
            </a:fld>
            <a:endParaRPr lang="en-US" dirty="0"/>
          </a:p>
        </p:txBody>
      </p:sp>
    </p:spTree>
    <p:extLst>
      <p:ext uri="{BB962C8B-B14F-4D97-AF65-F5344CB8AC3E}">
        <p14:creationId xmlns:p14="http://schemas.microsoft.com/office/powerpoint/2010/main" val="33756391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SMAD pathway is critical for growth inhibition and development. Note that SMAD4 is a common partner for the specific R-SMADs. The STAT pathway is the "fast track" for immune </a:t>
            </a:r>
            <a:r>
              <a:rPr lang="en-GB" dirty="0" err="1"/>
              <a:t>signaling</a:t>
            </a:r>
            <a:r>
              <a:rPr lang="en-GB" dirty="0"/>
              <a:t>. JAK kinases are attached to the receptor, and STATs are the direct messengers to the nucleus.</a:t>
            </a:r>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32</a:t>
            </a:fld>
            <a:endParaRPr lang="en-US" dirty="0"/>
          </a:p>
        </p:txBody>
      </p:sp>
    </p:spTree>
    <p:extLst>
      <p:ext uri="{BB962C8B-B14F-4D97-AF65-F5344CB8AC3E}">
        <p14:creationId xmlns:p14="http://schemas.microsoft.com/office/powerpoint/2010/main" val="8371670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SMAD pathway is critical for growth inhibition and development. Note that SMAD4 is a common partner for the specific R-SMADs. The STAT pathway is the "fast track" for immune </a:t>
            </a:r>
            <a:r>
              <a:rPr lang="en-GB" dirty="0" err="1"/>
              <a:t>signaling</a:t>
            </a:r>
            <a:r>
              <a:rPr lang="en-GB" dirty="0"/>
              <a:t>. JAK kinases are attached to the receptor, and STATs are the direct messengers to the nucleus.</a:t>
            </a:r>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33</a:t>
            </a:fld>
            <a:endParaRPr lang="en-US" dirty="0"/>
          </a:p>
        </p:txBody>
      </p:sp>
    </p:spTree>
    <p:extLst>
      <p:ext uri="{BB962C8B-B14F-4D97-AF65-F5344CB8AC3E}">
        <p14:creationId xmlns:p14="http://schemas.microsoft.com/office/powerpoint/2010/main" val="2532714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NF$\</a:t>
            </a:r>
            <a:r>
              <a:rPr lang="en-GB" dirty="0" err="1"/>
              <a:t>kappa</a:t>
            </a:r>
            <a:r>
              <a:rPr lang="en-GB" dirty="0" err="1">
                <a:effectLst/>
              </a:rPr>
              <a:t>$B</a:t>
            </a:r>
            <a:r>
              <a:rPr lang="en-GB" dirty="0">
                <a:effectLst/>
              </a:rPr>
              <a:t> is the master regulator of inflammation (discussed more in Chapter 13). Its regulation is via "inhibition removal"—destroying the inhibitor (I$</a:t>
            </a:r>
            <a:r>
              <a:rPr lang="en-GB" dirty="0"/>
              <a:t>\</a:t>
            </a:r>
            <a:r>
              <a:rPr lang="en-GB" dirty="0" err="1"/>
              <a:t>kappa$B</a:t>
            </a:r>
            <a:r>
              <a:rPr lang="en-GB" dirty="0"/>
              <a:t>) allows activation. WNT </a:t>
            </a:r>
            <a:r>
              <a:rPr lang="en-GB" dirty="0" err="1"/>
              <a:t>signaling</a:t>
            </a:r>
            <a:r>
              <a:rPr lang="en-GB" dirty="0"/>
              <a:t> is unique because it relies on "protein stabilization." Normally, the co-activator Beta-catenin is constantly destroyed. WNT </a:t>
            </a:r>
            <a:r>
              <a:rPr lang="en-GB" dirty="0" err="1"/>
              <a:t>signaling</a:t>
            </a:r>
            <a:r>
              <a:rPr lang="en-GB" dirty="0"/>
              <a:t> stops the destruction, allowing Beta-catenin to pile up and enter the nucleus.</a:t>
            </a:r>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34</a:t>
            </a:fld>
            <a:endParaRPr lang="en-US" dirty="0"/>
          </a:p>
        </p:txBody>
      </p:sp>
    </p:spTree>
    <p:extLst>
      <p:ext uri="{BB962C8B-B14F-4D97-AF65-F5344CB8AC3E}">
        <p14:creationId xmlns:p14="http://schemas.microsoft.com/office/powerpoint/2010/main" val="20418635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Notch is unusual because the receptor </a:t>
            </a:r>
            <a:r>
              <a:rPr lang="en-GB" i="1" dirty="0"/>
              <a:t>itself</a:t>
            </a:r>
            <a:r>
              <a:rPr lang="en-GB" dirty="0"/>
              <a:t> becomes the transcription factor (after being cut by enzymes). It is a "one-time use" receptor. NFAT is critical in T-cells and is regulated by Calcium levels; drugs like Cyclosporine work by inhibiting Calcineurin, thus keeping NFAT out of the nucleus.</a:t>
            </a:r>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35</a:t>
            </a:fld>
            <a:endParaRPr lang="en-US" dirty="0"/>
          </a:p>
        </p:txBody>
      </p:sp>
    </p:spTree>
    <p:extLst>
      <p:ext uri="{BB962C8B-B14F-4D97-AF65-F5344CB8AC3E}">
        <p14:creationId xmlns:p14="http://schemas.microsoft.com/office/powerpoint/2010/main" val="18292390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wrap up, Transcription Factors are the interface between the genome and the environment. They are not just static switches; they are dynamic, structural proteins that form the basis of development and disease. Understanding their domains and </a:t>
            </a:r>
            <a:r>
              <a:rPr lang="en-GB" dirty="0" err="1"/>
              <a:t>signaling</a:t>
            </a:r>
            <a:r>
              <a:rPr lang="en-GB" dirty="0"/>
              <a:t> pathways allows us to understand how diseases like cancer arise (when these signals go wrong) and how to treat them.</a:t>
            </a:r>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36</a:t>
            </a:fld>
            <a:endParaRPr lang="en-US" dirty="0"/>
          </a:p>
        </p:txBody>
      </p:sp>
    </p:spTree>
    <p:extLst>
      <p:ext uri="{BB962C8B-B14F-4D97-AF65-F5344CB8AC3E}">
        <p14:creationId xmlns:p14="http://schemas.microsoft.com/office/powerpoint/2010/main" val="38001074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wrap up, Transcription Factors are the interface between the genome and the environment. They are not just static switches; they are dynamic, structural proteins that form the basis of development and disease. Understanding their domains and </a:t>
            </a:r>
            <a:r>
              <a:rPr lang="en-GB" dirty="0" err="1"/>
              <a:t>signaling</a:t>
            </a:r>
            <a:r>
              <a:rPr lang="en-GB" dirty="0"/>
              <a:t> pathways allows us to understand how diseases like cancer arise (when these signals go wrong) and how to treat them.</a:t>
            </a:r>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37</a:t>
            </a:fld>
            <a:endParaRPr lang="en-US" dirty="0"/>
          </a:p>
        </p:txBody>
      </p:sp>
    </p:spTree>
    <p:extLst>
      <p:ext uri="{BB962C8B-B14F-4D97-AF65-F5344CB8AC3E}">
        <p14:creationId xmlns:p14="http://schemas.microsoft.com/office/powerpoint/2010/main" val="38706301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2BE7BA9-91CD-41CC-B7FA-68F96BC9FFCB}"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8FF577-10E9-484E-8F87-B30A3AFE558A}" type="slidenum">
              <a:rPr lang="en-US" smtClean="0"/>
              <a:t>‹#›</a:t>
            </a:fld>
            <a:endParaRPr lang="en-US"/>
          </a:p>
        </p:txBody>
      </p:sp>
    </p:spTree>
    <p:extLst>
      <p:ext uri="{BB962C8B-B14F-4D97-AF65-F5344CB8AC3E}">
        <p14:creationId xmlns:p14="http://schemas.microsoft.com/office/powerpoint/2010/main" val="29686083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2BE7BA9-91CD-41CC-B7FA-68F96BC9FFCB}"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8FF577-10E9-484E-8F87-B30A3AFE558A}" type="slidenum">
              <a:rPr lang="en-US" smtClean="0"/>
              <a:t>‹#›</a:t>
            </a:fld>
            <a:endParaRPr lang="en-US"/>
          </a:p>
        </p:txBody>
      </p:sp>
    </p:spTree>
    <p:extLst>
      <p:ext uri="{BB962C8B-B14F-4D97-AF65-F5344CB8AC3E}">
        <p14:creationId xmlns:p14="http://schemas.microsoft.com/office/powerpoint/2010/main" val="2222281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2BE7BA9-91CD-41CC-B7FA-68F96BC9FFCB}"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8FF577-10E9-484E-8F87-B30A3AFE558A}" type="slidenum">
              <a:rPr lang="en-US" smtClean="0"/>
              <a:t>‹#›</a:t>
            </a:fld>
            <a:endParaRPr lang="en-US"/>
          </a:p>
        </p:txBody>
      </p:sp>
    </p:spTree>
    <p:extLst>
      <p:ext uri="{BB962C8B-B14F-4D97-AF65-F5344CB8AC3E}">
        <p14:creationId xmlns:p14="http://schemas.microsoft.com/office/powerpoint/2010/main" val="32203906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2BE7BA9-91CD-41CC-B7FA-68F96BC9FFCB}"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8FF577-10E9-484E-8F87-B30A3AFE558A}" type="slidenum">
              <a:rPr lang="en-US" smtClean="0"/>
              <a:t>‹#›</a:t>
            </a:fld>
            <a:endParaRPr lang="en-US"/>
          </a:p>
        </p:txBody>
      </p:sp>
    </p:spTree>
    <p:extLst>
      <p:ext uri="{BB962C8B-B14F-4D97-AF65-F5344CB8AC3E}">
        <p14:creationId xmlns:p14="http://schemas.microsoft.com/office/powerpoint/2010/main" val="13342352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2BE7BA9-91CD-41CC-B7FA-68F96BC9FFCB}" type="datetimeFigureOut">
              <a:rPr lang="en-US" smtClean="0"/>
              <a:t>11/30/2025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28FF577-10E9-484E-8F87-B30A3AFE558A}" type="slidenum">
              <a:rPr lang="en-US" smtClean="0"/>
              <a:t>‹#›</a:t>
            </a:fld>
            <a:endParaRPr lang="en-US"/>
          </a:p>
        </p:txBody>
      </p:sp>
    </p:spTree>
    <p:extLst>
      <p:ext uri="{BB962C8B-B14F-4D97-AF65-F5344CB8AC3E}">
        <p14:creationId xmlns:p14="http://schemas.microsoft.com/office/powerpoint/2010/main" val="5496319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D2BE7BA9-91CD-41CC-B7FA-68F96BC9FFCB}" type="datetimeFigureOut">
              <a:rPr lang="en-US" smtClean="0"/>
              <a:t>11/30/2025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028FF577-10E9-484E-8F87-B30A3AFE558A}" type="slidenum">
              <a:rPr lang="en-US" smtClean="0"/>
              <a:t>‹#›</a:t>
            </a:fld>
            <a:endParaRPr lang="en-US"/>
          </a:p>
        </p:txBody>
      </p:sp>
    </p:spTree>
    <p:extLst>
      <p:ext uri="{BB962C8B-B14F-4D97-AF65-F5344CB8AC3E}">
        <p14:creationId xmlns:p14="http://schemas.microsoft.com/office/powerpoint/2010/main" val="2289358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D2BE7BA9-91CD-41CC-B7FA-68F96BC9FFCB}" type="datetimeFigureOut">
              <a:rPr lang="en-US" smtClean="0"/>
              <a:t>11/30/2025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028FF577-10E9-484E-8F87-B30A3AFE558A}" type="slidenum">
              <a:rPr lang="en-US" smtClean="0"/>
              <a:t>‹#›</a:t>
            </a:fld>
            <a:endParaRPr lang="en-US"/>
          </a:p>
        </p:txBody>
      </p:sp>
    </p:spTree>
    <p:extLst>
      <p:ext uri="{BB962C8B-B14F-4D97-AF65-F5344CB8AC3E}">
        <p14:creationId xmlns:p14="http://schemas.microsoft.com/office/powerpoint/2010/main" val="6598913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3"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5" y="3129280"/>
            <a:ext cx="34010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D2BE7BA9-91CD-41CC-B7FA-68F96BC9FFCB}" type="datetimeFigureOut">
              <a:rPr lang="en-US" smtClean="0"/>
              <a:t>11/30/2025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028FF577-10E9-484E-8F87-B30A3AFE558A}" type="slidenum">
              <a:rPr lang="en-US" smtClean="0"/>
              <a:t>‹#›</a:t>
            </a:fld>
            <a:endParaRPr lang="en-US"/>
          </a:p>
        </p:txBody>
      </p:sp>
    </p:spTree>
    <p:extLst>
      <p:ext uri="{BB962C8B-B14F-4D97-AF65-F5344CB8AC3E}">
        <p14:creationId xmlns:p14="http://schemas.microsoft.com/office/powerpoint/2010/main" val="5263926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2BE7BA9-91CD-41CC-B7FA-68F96BC9FFCB}"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8FF577-10E9-484E-8F87-B30A3AFE558A}" type="slidenum">
              <a:rPr lang="en-US" smtClean="0"/>
              <a:t>‹#›</a:t>
            </a:fld>
            <a:endParaRPr lang="en-US"/>
          </a:p>
        </p:txBody>
      </p:sp>
    </p:spTree>
    <p:extLst>
      <p:ext uri="{BB962C8B-B14F-4D97-AF65-F5344CB8AC3E}">
        <p14:creationId xmlns:p14="http://schemas.microsoft.com/office/powerpoint/2010/main" val="13741002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799"/>
            <a:ext cx="8825658" cy="3640667"/>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2BE7BA9-91CD-41CC-B7FA-68F96BC9FFCB}"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8FF577-10E9-484E-8F87-B30A3AFE558A}" type="slidenum">
              <a:rPr lang="en-US" smtClean="0"/>
              <a:t>‹#›</a:t>
            </a:fld>
            <a:endParaRPr lang="en-US"/>
          </a:p>
        </p:txBody>
      </p:sp>
    </p:spTree>
    <p:extLst>
      <p:ext uri="{BB962C8B-B14F-4D97-AF65-F5344CB8AC3E}">
        <p14:creationId xmlns:p14="http://schemas.microsoft.com/office/powerpoint/2010/main" val="33347369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D2BE7BA9-91CD-41CC-B7FA-68F96BC9FFCB}"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8FF577-10E9-484E-8F87-B30A3AFE558A}" type="slidenum">
              <a:rPr lang="en-US" smtClean="0"/>
              <a:t>‹#›</a:t>
            </a:fld>
            <a:endParaRPr lang="en-US"/>
          </a:p>
        </p:txBody>
      </p:sp>
    </p:spTree>
    <p:extLst>
      <p:ext uri="{BB962C8B-B14F-4D97-AF65-F5344CB8AC3E}">
        <p14:creationId xmlns:p14="http://schemas.microsoft.com/office/powerpoint/2010/main" val="20937091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0" y="1447800"/>
            <a:ext cx="7999315" cy="2323374"/>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lumMod val="60000"/>
                    <a:lumOff val="40000"/>
                  </a:schemeClr>
                </a:solidFill>
                <a:latin typeface="Calibri Light" panose="020F0302020204030204" pitchFamily="34" charset="0"/>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D2BE7BA9-91CD-41CC-B7FA-68F96BC9FFCB}"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8FF577-10E9-484E-8F87-B30A3AFE558A}"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p>
            <a:pPr algn="r"/>
            <a:r>
              <a:rPr lang="en-US" sz="12200" b="0" i="0" dirty="0">
                <a:solidFill>
                  <a:schemeClr val="accent1">
                    <a:lumMod val="60000"/>
                    <a:lumOff val="40000"/>
                  </a:schemeClr>
                </a:solidFill>
                <a:latin typeface="Calibri Light" panose="020F0302020204030204" pitchFamily="34" charset="0"/>
                <a:ea typeface="+mj-ea"/>
                <a:cs typeface="+mj-cs"/>
              </a:rPr>
              <a:t>“</a:t>
            </a:r>
          </a:p>
        </p:txBody>
      </p:sp>
      <p:sp>
        <p:nvSpPr>
          <p:cNvPr id="11" name="TextBox 10"/>
          <p:cNvSpPr txBox="1"/>
          <p:nvPr/>
        </p:nvSpPr>
        <p:spPr>
          <a:xfrm>
            <a:off x="9330490" y="2613787"/>
            <a:ext cx="801912" cy="1969770"/>
          </a:xfrm>
          <a:prstGeom prst="rect">
            <a:avLst/>
          </a:prstGeom>
          <a:noFill/>
        </p:spPr>
        <p:txBody>
          <a:bodyPr wrap="square" rtlCol="0">
            <a:spAutoFit/>
          </a:bodyPr>
          <a:lstStyle/>
          <a:p>
            <a:pPr algn="r"/>
            <a:r>
              <a:rPr lang="en-US" sz="12200" b="0" i="0" dirty="0">
                <a:solidFill>
                  <a:schemeClr val="accent1">
                    <a:lumMod val="60000"/>
                    <a:lumOff val="40000"/>
                  </a:schemeClr>
                </a:solidFill>
                <a:latin typeface="Calibri Light" panose="020F0302020204030204" pitchFamily="34" charset="0"/>
                <a:ea typeface="+mj-ea"/>
                <a:cs typeface="+mj-cs"/>
              </a:rPr>
              <a:t>”</a:t>
            </a:r>
          </a:p>
        </p:txBody>
      </p:sp>
    </p:spTree>
    <p:extLst>
      <p:ext uri="{BB962C8B-B14F-4D97-AF65-F5344CB8AC3E}">
        <p14:creationId xmlns:p14="http://schemas.microsoft.com/office/powerpoint/2010/main" val="1709405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5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2BE7BA9-91CD-41CC-B7FA-68F96BC9FFCB}"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8FF577-10E9-484E-8F87-B30A3AFE558A}" type="slidenum">
              <a:rPr lang="en-US" smtClean="0"/>
              <a:t>‹#›</a:t>
            </a:fld>
            <a:endParaRPr lang="en-US"/>
          </a:p>
        </p:txBody>
      </p:sp>
    </p:spTree>
    <p:extLst>
      <p:ext uri="{BB962C8B-B14F-4D97-AF65-F5344CB8AC3E}">
        <p14:creationId xmlns:p14="http://schemas.microsoft.com/office/powerpoint/2010/main" val="38924558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D2BE7BA9-91CD-41CC-B7FA-68F96BC9FFCB}" type="datetimeFigureOut">
              <a:rPr lang="en-US" smtClean="0"/>
              <a:t>11/30/2025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8FF577-10E9-484E-8F87-B30A3AFE558A}" type="slidenum">
              <a:rPr lang="en-US" smtClean="0"/>
              <a:t>‹#›</a:t>
            </a:fld>
            <a:endParaRPr lang="en-US"/>
          </a:p>
        </p:txBody>
      </p:sp>
    </p:spTree>
    <p:extLst>
      <p:ext uri="{BB962C8B-B14F-4D97-AF65-F5344CB8AC3E}">
        <p14:creationId xmlns:p14="http://schemas.microsoft.com/office/powerpoint/2010/main" val="11224605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D2BE7BA9-91CD-41CC-B7FA-68F96BC9FFCB}" type="datetimeFigureOut">
              <a:rPr lang="en-US" smtClean="0"/>
              <a:t>11/30/2025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8FF577-10E9-484E-8F87-B30A3AFE558A}" type="slidenum">
              <a:rPr lang="en-US" smtClean="0"/>
              <a:t>‹#›</a:t>
            </a:fld>
            <a:endParaRPr lang="en-US"/>
          </a:p>
        </p:txBody>
      </p:sp>
    </p:spTree>
    <p:extLst>
      <p:ext uri="{BB962C8B-B14F-4D97-AF65-F5344CB8AC3E}">
        <p14:creationId xmlns:p14="http://schemas.microsoft.com/office/powerpoint/2010/main" val="14414142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2BE7BA9-91CD-41CC-B7FA-68F96BC9FFCB}"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8FF577-10E9-484E-8F87-B30A3AFE558A}" type="slidenum">
              <a:rPr lang="en-US" smtClean="0"/>
              <a:t>‹#›</a:t>
            </a:fld>
            <a:endParaRPr lang="en-US"/>
          </a:p>
        </p:txBody>
      </p:sp>
    </p:spTree>
    <p:extLst>
      <p:ext uri="{BB962C8B-B14F-4D97-AF65-F5344CB8AC3E}">
        <p14:creationId xmlns:p14="http://schemas.microsoft.com/office/powerpoint/2010/main" val="3786557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2BE7BA9-91CD-41CC-B7FA-68F96BC9FFCB}"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8FF577-10E9-484E-8F87-B30A3AFE558A}" type="slidenum">
              <a:rPr lang="en-US" smtClean="0"/>
              <a:t>‹#›</a:t>
            </a:fld>
            <a:endParaRPr lang="en-US"/>
          </a:p>
        </p:txBody>
      </p:sp>
    </p:spTree>
    <p:extLst>
      <p:ext uri="{BB962C8B-B14F-4D97-AF65-F5344CB8AC3E}">
        <p14:creationId xmlns:p14="http://schemas.microsoft.com/office/powerpoint/2010/main" val="15563558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p:cSld name="1_Blank">
    <p:spTree>
      <p:nvGrpSpPr>
        <p:cNvPr id="1" name="Shape 16"/>
        <p:cNvGrpSpPr/>
        <p:nvPr/>
      </p:nvGrpSpPr>
      <p:grpSpPr>
        <a:xfrm>
          <a:off x="0" y="0"/>
          <a:ext cx="0" cy="0"/>
          <a:chOff x="0" y="0"/>
          <a:chExt cx="0" cy="0"/>
        </a:xfrm>
      </p:grpSpPr>
      <p:sp>
        <p:nvSpPr>
          <p:cNvPr id="17" name="Google Shape;17;p6"/>
          <p:cNvSpPr txBox="1">
            <a:spLocks noGrp="1"/>
          </p:cNvSpPr>
          <p:nvPr>
            <p:ph type="title"/>
          </p:nvPr>
        </p:nvSpPr>
        <p:spPr>
          <a:xfrm>
            <a:off x="304800" y="183092"/>
            <a:ext cx="5486400" cy="762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atin typeface="Calibri Light" panose="020F0302020204030204" pitchFamily="34" charset="0"/>
                <a:cs typeface="Calibri Light" panose="020F0302020204030204" pitchFamily="34" charset="0"/>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32945049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5.png"/><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0">
            <a:extLst>
              <a:ext uri="{28A0092B-C50C-407E-A947-70E740481C1C}">
                <a14:useLocalDpi xmlns:a14="http://schemas.microsoft.com/office/drawing/2010/main" val="0"/>
              </a:ext>
            </a:extLst>
          </a:blip>
          <a:srcRect l="3644"/>
          <a:stretch/>
        </p:blipFill>
        <p:spPr>
          <a:xfrm>
            <a:off x="0" y="2669685"/>
            <a:ext cx="4035669" cy="4188315"/>
          </a:xfrm>
          <a:prstGeom prst="rect">
            <a:avLst/>
          </a:prstGeom>
        </p:spPr>
      </p:pic>
      <p:pic>
        <p:nvPicPr>
          <p:cNvPr id="7" name="Picture 6"/>
          <p:cNvPicPr>
            <a:picLocks noChangeAspect="1"/>
          </p:cNvPicPr>
          <p:nvPr/>
        </p:nvPicPr>
        <p:blipFill rotWithShape="1">
          <a:blip r:embed="rId21">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2">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3">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latin typeface="Calibri Light" panose="020F0302020204030204" pitchFamily="34" charset="0"/>
              </a:defRPr>
            </a:lvl1pPr>
          </a:lstStyle>
          <a:p>
            <a:fld id="{D2BE7BA9-91CD-41CC-B7FA-68F96BC9FFCB}" type="datetimeFigureOut">
              <a:rPr lang="en-US" smtClean="0"/>
              <a:pPr/>
              <a:t>11/30/2025</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latin typeface="Calibri Light" panose="020F0302020204030204" pitchFamily="34" charset="0"/>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latin typeface="Calibri Light" panose="020F0302020204030204" pitchFamily="34" charset="0"/>
              </a:defRPr>
            </a:lvl1pPr>
          </a:lstStyle>
          <a:p>
            <a:fld id="{028FF577-10E9-484E-8F87-B30A3AFE558A}" type="slidenum">
              <a:rPr lang="en-US" smtClean="0"/>
              <a:pPr/>
              <a:t>‹#›</a:t>
            </a:fld>
            <a:endParaRPr lang="en-US" dirty="0"/>
          </a:p>
        </p:txBody>
      </p:sp>
    </p:spTree>
    <p:extLst>
      <p:ext uri="{BB962C8B-B14F-4D97-AF65-F5344CB8AC3E}">
        <p14:creationId xmlns:p14="http://schemas.microsoft.com/office/powerpoint/2010/main" val="2926321463"/>
      </p:ext>
    </p:extLst>
  </p:cSld>
  <p:clrMap bg1="dk1" tx1="lt1" bg2="dk2" tx2="lt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 id="2147483694" r:id="rId14"/>
    <p:sldLayoutId id="2147483695" r:id="rId15"/>
    <p:sldLayoutId id="2147483696" r:id="rId16"/>
    <p:sldLayoutId id="2147483697" r:id="rId17"/>
    <p:sldLayoutId id="2147483698" r:id="rId18"/>
  </p:sldLayoutIdLst>
  <p:txStyles>
    <p:titleStyle>
      <a:lvl1pPr algn="l" defTabSz="457200" rtl="0" eaLnBrk="1" latinLnBrk="0" hangingPunct="1">
        <a:spcBef>
          <a:spcPct val="0"/>
        </a:spcBef>
        <a:buNone/>
        <a:defRPr sz="4200" b="0" i="0" kern="1200">
          <a:solidFill>
            <a:schemeClr val="tx2"/>
          </a:solidFill>
          <a:latin typeface="Calibri Light" panose="020F030202020403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Calibri Light" panose="020F0302020204030204" pitchFamily="34" charset="0"/>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Calibri Light" panose="020F0302020204030204" pitchFamily="34" charset="0"/>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Calibri Light" panose="020F0302020204030204" pitchFamily="34" charset="0"/>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Calibri Light" panose="020F0302020204030204" pitchFamily="34" charset="0"/>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Calibri Light" panose="020F0302020204030204" pitchFamily="34" charset="0"/>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Luu.p.loi@googlemail.com" TargetMode="External"/><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doi.org/10.1155/2011/461979" TargetMode="External"/><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doi.org/10.1371/journal.pcbi.1002304" TargetMode="External"/><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hyperlink" Target="https://doi.org/10.1016/j.gdata.2014.09.012"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6" name="Google Shape;66;p1"/>
          <p:cNvSpPr txBox="1"/>
          <p:nvPr/>
        </p:nvSpPr>
        <p:spPr>
          <a:xfrm>
            <a:off x="1036320" y="918143"/>
            <a:ext cx="10226040" cy="1756903"/>
          </a:xfrm>
          <a:prstGeom prst="rect">
            <a:avLst/>
          </a:prstGeom>
          <a:noFill/>
          <a:ln>
            <a:noFill/>
          </a:ln>
        </p:spPr>
        <p:txBody>
          <a:bodyPr spcFirstLastPara="1" wrap="square" lIns="28400" tIns="28400" rIns="28400" bIns="28400" anchor="ctr" anchorCtr="0">
            <a:noAutofit/>
          </a:bodyPr>
          <a:lstStyle/>
          <a:p>
            <a:pPr algn="ctr">
              <a:spcBef>
                <a:spcPts val="133"/>
              </a:spcBef>
              <a:buClr>
                <a:schemeClr val="dk1"/>
              </a:buClr>
              <a:buSzPts val="1100"/>
            </a:pPr>
            <a:r>
              <a:rPr lang="en-US" sz="5400" b="1" dirty="0">
                <a:latin typeface="Calibri Light" panose="020F0302020204030204" pitchFamily="34" charset="0"/>
              </a:rPr>
              <a:t>Transcription Factors and Signal Transduction</a:t>
            </a:r>
            <a:endParaRPr lang="vi-VN" sz="5400" b="1" dirty="0">
              <a:latin typeface="Calibri Light" panose="020F0302020204030204" pitchFamily="34" charset="0"/>
              <a:cs typeface="Calibri Light" panose="020F0302020204030204" pitchFamily="34" charset="0"/>
            </a:endParaRPr>
          </a:p>
        </p:txBody>
      </p:sp>
      <p:sp>
        <p:nvSpPr>
          <p:cNvPr id="67" name="Google Shape;67;p1"/>
          <p:cNvSpPr txBox="1"/>
          <p:nvPr/>
        </p:nvSpPr>
        <p:spPr>
          <a:xfrm>
            <a:off x="5437414" y="4457608"/>
            <a:ext cx="5459186" cy="1538857"/>
          </a:xfrm>
          <a:prstGeom prst="rect">
            <a:avLst/>
          </a:prstGeom>
          <a:noFill/>
          <a:ln>
            <a:noFill/>
          </a:ln>
        </p:spPr>
        <p:txBody>
          <a:bodyPr spcFirstLastPara="1" wrap="square" lIns="60950" tIns="30467" rIns="60950" bIns="30467" anchor="t" anchorCtr="0">
            <a:spAutoFit/>
          </a:bodyPr>
          <a:lstStyle/>
          <a:p>
            <a:pPr algn="r"/>
            <a:r>
              <a:rPr lang="en-US" sz="2400" b="1" dirty="0">
                <a:solidFill>
                  <a:schemeClr val="lt1"/>
                </a:solidFill>
                <a:latin typeface="Calibri Light" panose="020F0302020204030204" pitchFamily="34" charset="0"/>
                <a:ea typeface="Calibri Light" panose="020F0302020204030204" pitchFamily="34" charset="0"/>
                <a:cs typeface="Calibri Light" panose="020F0302020204030204" pitchFamily="34" charset="0"/>
                <a:sym typeface="Calibri"/>
              </a:rPr>
              <a:t>Nov 30 2025</a:t>
            </a:r>
          </a:p>
          <a:p>
            <a:pPr algn="r"/>
            <a:r>
              <a:rPr lang="en-US" sz="2400" b="1" dirty="0" err="1">
                <a:solidFill>
                  <a:schemeClr val="lt1"/>
                </a:solidFill>
                <a:latin typeface="Calibri Light" panose="020F0302020204030204" pitchFamily="34" charset="0"/>
                <a:ea typeface="Calibri Light" panose="020F0302020204030204" pitchFamily="34" charset="0"/>
                <a:cs typeface="Calibri Light" panose="020F0302020204030204" pitchFamily="34" charset="0"/>
                <a:sym typeface="Calibri"/>
              </a:rPr>
              <a:t>Giảng</a:t>
            </a:r>
            <a:r>
              <a:rPr lang="en-US" sz="2400" b="1" dirty="0">
                <a:solidFill>
                  <a:schemeClr val="lt1"/>
                </a:solidFill>
                <a:latin typeface="Calibri Light" panose="020F0302020204030204" pitchFamily="34" charset="0"/>
                <a:ea typeface="Calibri Light" panose="020F0302020204030204" pitchFamily="34" charset="0"/>
                <a:cs typeface="Calibri Light" panose="020F0302020204030204" pitchFamily="34" charset="0"/>
                <a:sym typeface="Calibri"/>
              </a:rPr>
              <a:t> </a:t>
            </a:r>
            <a:r>
              <a:rPr lang="en-US" sz="2400" b="1" dirty="0" err="1">
                <a:solidFill>
                  <a:schemeClr val="lt1"/>
                </a:solidFill>
                <a:latin typeface="Calibri Light" panose="020F0302020204030204" pitchFamily="34" charset="0"/>
                <a:ea typeface="Calibri Light" panose="020F0302020204030204" pitchFamily="34" charset="0"/>
                <a:cs typeface="Calibri Light" panose="020F0302020204030204" pitchFamily="34" charset="0"/>
                <a:sym typeface="Calibri"/>
              </a:rPr>
              <a:t>viên</a:t>
            </a:r>
            <a:r>
              <a:rPr lang="en-US" sz="2400" b="1" dirty="0">
                <a:solidFill>
                  <a:schemeClr val="lt1"/>
                </a:solidFill>
                <a:latin typeface="Calibri Light" panose="020F0302020204030204" pitchFamily="34" charset="0"/>
                <a:ea typeface="Calibri Light" panose="020F0302020204030204" pitchFamily="34" charset="0"/>
                <a:cs typeface="Calibri Light" panose="020F0302020204030204" pitchFamily="34" charset="0"/>
                <a:sym typeface="Calibri"/>
              </a:rPr>
              <a:t>: TS. Lưu Phúc Lợi</a:t>
            </a:r>
          </a:p>
          <a:p>
            <a:pPr algn="r"/>
            <a:r>
              <a:rPr lang="en-US" sz="2400" b="1" dirty="0">
                <a:solidFill>
                  <a:schemeClr val="lt1"/>
                </a:solidFill>
                <a:latin typeface="Calibri Light" panose="020F0302020204030204" pitchFamily="34" charset="0"/>
                <a:cs typeface="Calibri Light" panose="020F0302020204030204" pitchFamily="34" charset="0"/>
                <a:sym typeface="Calibri"/>
              </a:rPr>
              <a:t>Email: </a:t>
            </a:r>
            <a:r>
              <a:rPr lang="en-US" sz="2400" b="1" dirty="0">
                <a:solidFill>
                  <a:schemeClr val="lt1"/>
                </a:solidFill>
                <a:latin typeface="Calibri Light" panose="020F0302020204030204" pitchFamily="34" charset="0"/>
                <a:cs typeface="Calibri Light" panose="020F0302020204030204" pitchFamily="34" charset="0"/>
                <a:sym typeface="Calibri"/>
                <a:hlinkClick r:id="rId3"/>
              </a:rPr>
              <a:t>Luu.p.loi@googlemail.com</a:t>
            </a:r>
            <a:endParaRPr lang="en-US" sz="2400" b="1" dirty="0">
              <a:solidFill>
                <a:schemeClr val="lt1"/>
              </a:solidFill>
              <a:latin typeface="Calibri Light" panose="020F0302020204030204" pitchFamily="34" charset="0"/>
              <a:cs typeface="Calibri Light" panose="020F0302020204030204" pitchFamily="34" charset="0"/>
              <a:sym typeface="Calibri"/>
            </a:endParaRPr>
          </a:p>
          <a:p>
            <a:pPr algn="r"/>
            <a:r>
              <a:rPr lang="en-US" sz="2400" b="1" dirty="0" err="1">
                <a:solidFill>
                  <a:schemeClr val="lt1"/>
                </a:solidFill>
                <a:latin typeface="Calibri Light" panose="020F0302020204030204" pitchFamily="34" charset="0"/>
                <a:cs typeface="Calibri Light" panose="020F0302020204030204" pitchFamily="34" charset="0"/>
                <a:sym typeface="Calibri"/>
              </a:rPr>
              <a:t>Zalo</a:t>
            </a:r>
            <a:r>
              <a:rPr lang="en-US" sz="2400" b="1" dirty="0">
                <a:solidFill>
                  <a:schemeClr val="lt1"/>
                </a:solidFill>
                <a:latin typeface="Calibri Light" panose="020F0302020204030204" pitchFamily="34" charset="0"/>
                <a:cs typeface="Calibri Light" panose="020F0302020204030204" pitchFamily="34" charset="0"/>
                <a:sym typeface="Calibri"/>
              </a:rPr>
              <a:t>: 0901802182</a:t>
            </a:r>
            <a:endParaRPr sz="1200" dirty="0">
              <a:latin typeface="Calibri Light" panose="020F0302020204030204" pitchFamily="34" charset="0"/>
              <a:cs typeface="Calibri Light" panose="020F0302020204030204" pitchFamily="34" charset="0"/>
            </a:endParaRPr>
          </a:p>
        </p:txBody>
      </p:sp>
      <p:sp>
        <p:nvSpPr>
          <p:cNvPr id="3" name="TextBox 2">
            <a:extLst>
              <a:ext uri="{FF2B5EF4-FFF2-40B4-BE49-F238E27FC236}">
                <a16:creationId xmlns:a16="http://schemas.microsoft.com/office/drawing/2014/main" id="{4220E326-3A6B-097D-A13C-0C8E1DDAD160}"/>
              </a:ext>
            </a:extLst>
          </p:cNvPr>
          <p:cNvSpPr txBox="1"/>
          <p:nvPr/>
        </p:nvSpPr>
        <p:spPr>
          <a:xfrm>
            <a:off x="1561863" y="2897669"/>
            <a:ext cx="9456373" cy="646331"/>
          </a:xfrm>
          <a:prstGeom prst="rect">
            <a:avLst/>
          </a:prstGeom>
          <a:noFill/>
        </p:spPr>
        <p:txBody>
          <a:bodyPr wrap="square">
            <a:spAutoFit/>
          </a:bodyPr>
          <a:lstStyle/>
          <a:p>
            <a:pPr algn="ctr"/>
            <a:r>
              <a:rPr lang="en-GB" dirty="0">
                <a:latin typeface="Calibri Light" panose="020F0302020204030204" pitchFamily="34" charset="0"/>
              </a:rPr>
              <a:t>Focus: Transcription factors as the key controllers of gene expression. </a:t>
            </a:r>
          </a:p>
          <a:p>
            <a:pPr algn="ctr"/>
            <a:r>
              <a:rPr lang="en-GB" dirty="0">
                <a:latin typeface="Calibri Light" panose="020F0302020204030204" pitchFamily="34" charset="0"/>
              </a:rPr>
              <a:t>Chapter 4 of Transcription Factors and Signal Transduction, Carsten Carlberg (2024)</a:t>
            </a:r>
            <a:endParaRPr lang="en-US" dirty="0">
              <a:latin typeface="Calibri Light" panose="020F030202020403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2635A84-5931-D1B3-DAA6-7EB2A6DD0E54}"/>
              </a:ext>
            </a:extLst>
          </p:cNvPr>
          <p:cNvSpPr txBox="1">
            <a:spLocks/>
          </p:cNvSpPr>
          <p:nvPr/>
        </p:nvSpPr>
        <p:spPr>
          <a:xfrm>
            <a:off x="819396" y="168317"/>
            <a:ext cx="10348687" cy="83616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dirty="0">
                <a:latin typeface="Calibri Light" panose="020F0302020204030204" pitchFamily="34" charset="0"/>
                <a:ea typeface="Calibri Light" panose="020F0302020204030204" pitchFamily="34" charset="0"/>
                <a:cs typeface="Calibri Light" panose="020F0302020204030204" pitchFamily="34" charset="0"/>
              </a:rPr>
              <a:t>Content</a:t>
            </a:r>
          </a:p>
        </p:txBody>
      </p:sp>
      <p:sp>
        <p:nvSpPr>
          <p:cNvPr id="3" name="TextBox 2">
            <a:extLst>
              <a:ext uri="{FF2B5EF4-FFF2-40B4-BE49-F238E27FC236}">
                <a16:creationId xmlns:a16="http://schemas.microsoft.com/office/drawing/2014/main" id="{BD4F4C34-97D3-2899-8411-9E2C7F7D7206}"/>
              </a:ext>
            </a:extLst>
          </p:cNvPr>
          <p:cNvSpPr txBox="1"/>
          <p:nvPr/>
        </p:nvSpPr>
        <p:spPr>
          <a:xfrm>
            <a:off x="970429" y="1352030"/>
            <a:ext cx="10553282" cy="4161460"/>
          </a:xfrm>
          <a:prstGeom prst="rect">
            <a:avLst/>
          </a:prstGeom>
          <a:noFill/>
        </p:spPr>
        <p:txBody>
          <a:bodyPr wrap="square">
            <a:spAutoFit/>
          </a:bodyPr>
          <a:lstStyle/>
          <a:p>
            <a:pPr marL="285750" indent="-285750" algn="just" eaLnBrk="0" fontAlgn="base" hangingPunct="0">
              <a:lnSpc>
                <a:spcPct val="150000"/>
              </a:lnSpc>
              <a:spcBef>
                <a:spcPct val="0"/>
              </a:spcBef>
              <a:spcAft>
                <a:spcPct val="0"/>
              </a:spcAft>
              <a:buFont typeface="Arial" panose="020B0604020202020204" pitchFamily="34" charset="0"/>
              <a:buChar char="•"/>
            </a:pPr>
            <a:r>
              <a:rPr lang="en-US" sz="3600" b="1" dirty="0">
                <a:latin typeface="Calibri Light" panose="020F0302020204030204" pitchFamily="34" charset="0"/>
                <a:ea typeface="Calibri Light" panose="020F0302020204030204" pitchFamily="34" charset="0"/>
                <a:cs typeface="Calibri Light" panose="020F0302020204030204" pitchFamily="34" charset="0"/>
              </a:rPr>
              <a:t>Introduction to Transcription Factors</a:t>
            </a:r>
          </a:p>
          <a:p>
            <a:pPr marL="285750" indent="-285750" algn="just" eaLnBrk="0" fontAlgn="base" hangingPunct="0">
              <a:lnSpc>
                <a:spcPct val="150000"/>
              </a:lnSpc>
              <a:spcBef>
                <a:spcPct val="0"/>
              </a:spcBef>
              <a:spcAft>
                <a:spcPct val="0"/>
              </a:spcAft>
              <a:buFont typeface="Arial" panose="020B0604020202020204" pitchFamily="34" charset="0"/>
              <a:buChar char="•"/>
            </a:pPr>
            <a:r>
              <a:rPr lang="en-GB" sz="3600" b="1" dirty="0">
                <a:latin typeface="Calibri Light" panose="020F0302020204030204" pitchFamily="34" charset="0"/>
                <a:ea typeface="Calibri Light" panose="020F0302020204030204" pitchFamily="34" charset="0"/>
                <a:cs typeface="Calibri Light" panose="020F0302020204030204" pitchFamily="34" charset="0"/>
              </a:rPr>
              <a:t>Functional Domains of Transcription Factors</a:t>
            </a:r>
          </a:p>
          <a:p>
            <a:pPr marL="285750" indent="-285750" algn="just" eaLnBrk="0" fontAlgn="base" hangingPunct="0">
              <a:lnSpc>
                <a:spcPct val="150000"/>
              </a:lnSpc>
              <a:spcBef>
                <a:spcPct val="0"/>
              </a:spcBef>
              <a:spcAft>
                <a:spcPct val="0"/>
              </a:spcAft>
              <a:buFont typeface="Arial" panose="020B0604020202020204" pitchFamily="34" charset="0"/>
              <a:buChar char="•"/>
            </a:pPr>
            <a:r>
              <a:rPr lang="en-US" sz="3600" b="1" dirty="0" err="1">
                <a:latin typeface="Calibri Light" panose="020F0302020204030204" pitchFamily="34" charset="0"/>
                <a:ea typeface="Calibri Light" panose="020F0302020204030204" pitchFamily="34" charset="0"/>
                <a:cs typeface="Calibri Light" panose="020F0302020204030204" pitchFamily="34" charset="0"/>
              </a:rPr>
              <a:t>ChIP</a:t>
            </a:r>
            <a:r>
              <a:rPr lang="en-US" sz="3600" b="1" dirty="0">
                <a:latin typeface="Calibri Light" panose="020F0302020204030204" pitchFamily="34" charset="0"/>
                <a:ea typeface="Calibri Light" panose="020F0302020204030204" pitchFamily="34" charset="0"/>
                <a:cs typeface="Calibri Light" panose="020F0302020204030204" pitchFamily="34" charset="0"/>
              </a:rPr>
              <a:t>-seq</a:t>
            </a:r>
          </a:p>
          <a:p>
            <a:pPr marL="285750" indent="-285750" algn="just" eaLnBrk="0" fontAlgn="base" hangingPunct="0">
              <a:lnSpc>
                <a:spcPct val="150000"/>
              </a:lnSpc>
              <a:spcBef>
                <a:spcPct val="0"/>
              </a:spcBef>
              <a:spcAft>
                <a:spcPct val="0"/>
              </a:spcAft>
              <a:buFont typeface="Arial" panose="020B0604020202020204" pitchFamily="34" charset="0"/>
              <a:buChar char="•"/>
            </a:pPr>
            <a:r>
              <a:rPr lang="en-US" sz="3600" b="1" dirty="0">
                <a:latin typeface="Calibri Light" panose="020F0302020204030204" pitchFamily="34" charset="0"/>
                <a:ea typeface="Calibri Light" panose="020F0302020204030204" pitchFamily="34" charset="0"/>
                <a:cs typeface="Calibri Light" panose="020F0302020204030204" pitchFamily="34" charset="0"/>
              </a:rPr>
              <a:t>Classification of Transcription Factors</a:t>
            </a:r>
          </a:p>
          <a:p>
            <a:pPr marL="285750" indent="-285750" algn="just" eaLnBrk="0" fontAlgn="base" hangingPunct="0">
              <a:lnSpc>
                <a:spcPct val="150000"/>
              </a:lnSpc>
              <a:spcBef>
                <a:spcPct val="0"/>
              </a:spcBef>
              <a:spcAft>
                <a:spcPct val="0"/>
              </a:spcAft>
              <a:buFont typeface="Arial" panose="020B0604020202020204" pitchFamily="34" charset="0"/>
              <a:buChar char="•"/>
            </a:pPr>
            <a:r>
              <a:rPr lang="en-US" sz="3600" b="1" dirty="0">
                <a:latin typeface="Calibri Light" panose="020F0302020204030204" pitchFamily="34" charset="0"/>
                <a:ea typeface="Calibri Light" panose="020F0302020204030204" pitchFamily="34" charset="0"/>
                <a:cs typeface="Calibri Light" panose="020F0302020204030204" pitchFamily="34" charset="0"/>
              </a:rPr>
              <a:t>Signal-Dependent Activation Mechanisms</a:t>
            </a:r>
          </a:p>
        </p:txBody>
      </p:sp>
    </p:spTree>
    <p:extLst>
      <p:ext uri="{BB962C8B-B14F-4D97-AF65-F5344CB8AC3E}">
        <p14:creationId xmlns:p14="http://schemas.microsoft.com/office/powerpoint/2010/main" val="8694384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2635A84-5931-D1B3-DAA6-7EB2A6DD0E54}"/>
              </a:ext>
            </a:extLst>
          </p:cNvPr>
          <p:cNvSpPr txBox="1">
            <a:spLocks/>
          </p:cNvSpPr>
          <p:nvPr/>
        </p:nvSpPr>
        <p:spPr>
          <a:xfrm>
            <a:off x="819396" y="168317"/>
            <a:ext cx="10348687" cy="83616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dirty="0">
                <a:latin typeface="Calibri Light" panose="020F0302020204030204" pitchFamily="34" charset="0"/>
                <a:ea typeface="Calibri Light" panose="020F0302020204030204" pitchFamily="34" charset="0"/>
                <a:cs typeface="Calibri Light" panose="020F0302020204030204" pitchFamily="34" charset="0"/>
              </a:rPr>
              <a:t>Introduction to Transcription Factors</a:t>
            </a:r>
          </a:p>
        </p:txBody>
      </p:sp>
      <p:pic>
        <p:nvPicPr>
          <p:cNvPr id="1026" name="Picture 2" descr="Details are in the caption following the image">
            <a:extLst>
              <a:ext uri="{FF2B5EF4-FFF2-40B4-BE49-F238E27FC236}">
                <a16:creationId xmlns:a16="http://schemas.microsoft.com/office/drawing/2014/main" id="{DF8A0479-74C6-DECB-A150-EDBC306683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6149" y="1286320"/>
            <a:ext cx="8107269" cy="458060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46D7372-3C09-5153-8E4D-A9AD1BC4FB4B}"/>
              </a:ext>
            </a:extLst>
          </p:cNvPr>
          <p:cNvSpPr txBox="1"/>
          <p:nvPr/>
        </p:nvSpPr>
        <p:spPr>
          <a:xfrm>
            <a:off x="4945427" y="6221814"/>
            <a:ext cx="6096946" cy="369332"/>
          </a:xfrm>
          <a:prstGeom prst="rect">
            <a:avLst/>
          </a:prstGeom>
          <a:noFill/>
        </p:spPr>
        <p:txBody>
          <a:bodyPr wrap="square">
            <a:spAutoFit/>
          </a:bodyPr>
          <a:lstStyle/>
          <a:p>
            <a:pPr algn="r"/>
            <a:r>
              <a:rPr lang="en-US" b="0" i="0" dirty="0">
                <a:solidFill>
                  <a:srgbClr val="555555"/>
                </a:solidFill>
                <a:effectLst/>
                <a:latin typeface="Calibri Light" panose="020F0302020204030204" pitchFamily="34" charset="0"/>
                <a:ea typeface="Calibri Light" panose="020F0302020204030204" pitchFamily="34" charset="0"/>
                <a:cs typeface="Calibri Light" panose="020F0302020204030204" pitchFamily="34" charset="0"/>
              </a:rPr>
              <a:t>DOI:</a:t>
            </a:r>
            <a:r>
              <a:rPr lang="en-US" b="0" i="0" u="sng" dirty="0">
                <a:effectLst/>
                <a:latin typeface="Calibri Light" panose="020F0302020204030204" pitchFamily="34" charset="0"/>
                <a:ea typeface="Calibri Light" panose="020F0302020204030204" pitchFamily="34" charset="0"/>
                <a:cs typeface="Calibri Light" panose="020F0302020204030204" pitchFamily="34" charset="0"/>
                <a:hlinkClick r:id="rId3"/>
              </a:rPr>
              <a:t>10.1155/2011/461979</a:t>
            </a:r>
            <a:endParaRPr lang="en-US"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30104036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2635A84-5931-D1B3-DAA6-7EB2A6DD0E54}"/>
              </a:ext>
            </a:extLst>
          </p:cNvPr>
          <p:cNvSpPr txBox="1">
            <a:spLocks/>
          </p:cNvSpPr>
          <p:nvPr/>
        </p:nvSpPr>
        <p:spPr>
          <a:xfrm>
            <a:off x="819396" y="168317"/>
            <a:ext cx="10348687" cy="83616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5400" b="1" dirty="0">
                <a:latin typeface="Calibri Light" panose="020F0302020204030204" pitchFamily="34" charset="0"/>
                <a:ea typeface="Calibri Light" panose="020F0302020204030204" pitchFamily="34" charset="0"/>
                <a:cs typeface="Calibri Light" panose="020F0302020204030204" pitchFamily="34" charset="0"/>
              </a:rPr>
              <a:t>What are Transcription Factors (TFs)?</a:t>
            </a:r>
            <a:endParaRPr lang="en-US" sz="54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TextBox 2">
            <a:extLst>
              <a:ext uri="{FF2B5EF4-FFF2-40B4-BE49-F238E27FC236}">
                <a16:creationId xmlns:a16="http://schemas.microsoft.com/office/drawing/2014/main" id="{BD4F4C34-97D3-2899-8411-9E2C7F7D7206}"/>
              </a:ext>
            </a:extLst>
          </p:cNvPr>
          <p:cNvSpPr txBox="1"/>
          <p:nvPr/>
        </p:nvSpPr>
        <p:spPr>
          <a:xfrm>
            <a:off x="510395" y="1454263"/>
            <a:ext cx="6787766" cy="4524315"/>
          </a:xfrm>
          <a:prstGeom prst="rect">
            <a:avLst/>
          </a:prstGeom>
          <a:noFill/>
        </p:spPr>
        <p:txBody>
          <a:bodyPr wrap="square">
            <a:spAutoFit/>
          </a:bodyPr>
          <a:lstStyle/>
          <a:p>
            <a:pPr marL="285750" marR="0" lvl="0" indent="-285750" algn="just" defTabSz="914400" rtl="0" eaLnBrk="0" fontAlgn="base" latinLnBrk="0" hangingPunct="0">
              <a:spcBef>
                <a:spcPct val="0"/>
              </a:spcBef>
              <a:spcAft>
                <a:spcPct val="0"/>
              </a:spcAft>
              <a:buClrTx/>
              <a:buSzTx/>
              <a:buFont typeface="Arial" panose="020B0604020202020204" pitchFamily="34" charset="0"/>
              <a:buChar char="•"/>
              <a:tabLst/>
            </a:pPr>
            <a:r>
              <a:rPr kumimoji="0" lang="en-GB"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Definition: Proteins that bind sequence-specifically to genomic DNA to control gene expression.</a:t>
            </a:r>
          </a:p>
          <a:p>
            <a:pPr marL="285750" marR="0" lvl="0" indent="-285750" algn="just" defTabSz="914400" rtl="0" eaLnBrk="0" fontAlgn="base" latinLnBrk="0" hangingPunct="0">
              <a:spcBef>
                <a:spcPct val="0"/>
              </a:spcBef>
              <a:spcAft>
                <a:spcPct val="0"/>
              </a:spcAft>
              <a:buClrTx/>
              <a:buSzTx/>
              <a:buFont typeface="Arial" panose="020B0604020202020204" pitchFamily="34" charset="0"/>
              <a:buChar char="•"/>
              <a:tabLst/>
            </a:pPr>
            <a:r>
              <a:rPr kumimoji="0" lang="en-GB"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Role: Key controllers of cell function and response to environmental perturbations.</a:t>
            </a:r>
          </a:p>
          <a:p>
            <a:pPr marL="285750" marR="0" lvl="0" indent="-285750" algn="just" defTabSz="914400" rtl="0" eaLnBrk="0" fontAlgn="base" latinLnBrk="0" hangingPunct="0">
              <a:spcBef>
                <a:spcPct val="0"/>
              </a:spcBef>
              <a:spcAft>
                <a:spcPct val="0"/>
              </a:spcAft>
              <a:buClrTx/>
              <a:buSzTx/>
              <a:buFont typeface="Arial" panose="020B0604020202020204" pitchFamily="34" charset="0"/>
              <a:buChar char="•"/>
              <a:tabLst/>
            </a:pPr>
            <a:r>
              <a:rPr kumimoji="0" lang="en-GB"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Scale: Humans have ~1,600 TF genes (~8% of all protein-coding genes).</a:t>
            </a:r>
          </a:p>
          <a:p>
            <a:pPr marL="285750" marR="0" lvl="0" indent="-285750" algn="just" defTabSz="914400" rtl="0" eaLnBrk="0" fontAlgn="base" latinLnBrk="0" hangingPunct="0">
              <a:spcBef>
                <a:spcPct val="0"/>
              </a:spcBef>
              <a:spcAft>
                <a:spcPct val="0"/>
              </a:spcAft>
              <a:buClrTx/>
              <a:buSzTx/>
              <a:buFont typeface="Arial" panose="020B0604020202020204" pitchFamily="34" charset="0"/>
              <a:buChar char="•"/>
              <a:tabLst/>
            </a:pPr>
            <a:r>
              <a:rPr kumimoji="0" lang="en-GB"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Mechanism: </a:t>
            </a:r>
          </a:p>
          <a:p>
            <a:pPr marL="800100" lvl="1" indent="-342900" algn="just" eaLnBrk="0" fontAlgn="base" hangingPunct="0">
              <a:spcBef>
                <a:spcPct val="0"/>
              </a:spcBef>
              <a:spcAft>
                <a:spcPct val="0"/>
              </a:spcAft>
              <a:buFont typeface="Wingdings" panose="05000000000000000000" pitchFamily="2" charset="2"/>
              <a:buChar char="§"/>
            </a:pPr>
            <a:r>
              <a:rPr kumimoji="0" lang="en-GB"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Bind to Enhancers (proximal or distal).</a:t>
            </a:r>
          </a:p>
          <a:p>
            <a:pPr marL="800100" lvl="1" indent="-342900" algn="just" eaLnBrk="0" fontAlgn="base" hangingPunct="0">
              <a:spcBef>
                <a:spcPct val="0"/>
              </a:spcBef>
              <a:spcAft>
                <a:spcPct val="0"/>
              </a:spcAft>
              <a:buFont typeface="Wingdings" panose="05000000000000000000" pitchFamily="2" charset="2"/>
              <a:buChar char="§"/>
            </a:pPr>
            <a:r>
              <a:rPr kumimoji="0" lang="en-GB"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Recruit Coactivators and Chromatin Modifiers.</a:t>
            </a:r>
          </a:p>
          <a:p>
            <a:pPr marL="800100" lvl="1" indent="-342900" algn="just" eaLnBrk="0" fontAlgn="base" hangingPunct="0">
              <a:spcBef>
                <a:spcPct val="0"/>
              </a:spcBef>
              <a:spcAft>
                <a:spcPct val="0"/>
              </a:spcAft>
              <a:buFont typeface="Wingdings" panose="05000000000000000000" pitchFamily="2" charset="2"/>
              <a:buChar char="§"/>
            </a:pPr>
            <a:r>
              <a:rPr kumimoji="0" lang="en-GB"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Interact with the Basal Transcriptional Machinery (Pol II complex) via the Mediator complex.</a:t>
            </a:r>
            <a:endParaRPr kumimoji="0" lang="en-US" altLang="en-US" sz="24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endParaRPr>
          </a:p>
        </p:txBody>
      </p:sp>
      <p:pic>
        <p:nvPicPr>
          <p:cNvPr id="2051" name="Picture 3">
            <a:extLst>
              <a:ext uri="{FF2B5EF4-FFF2-40B4-BE49-F238E27FC236}">
                <a16:creationId xmlns:a16="http://schemas.microsoft.com/office/drawing/2014/main" id="{35032007-7E5F-5A0A-9E65-5D8D63B1AB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80542" y="1217541"/>
            <a:ext cx="4155543" cy="499775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7523ABB-4056-5A4C-916D-9B9F57332AF4}"/>
              </a:ext>
            </a:extLst>
          </p:cNvPr>
          <p:cNvSpPr txBox="1"/>
          <p:nvPr/>
        </p:nvSpPr>
        <p:spPr>
          <a:xfrm>
            <a:off x="5739139" y="6320351"/>
            <a:ext cx="6096946" cy="369332"/>
          </a:xfrm>
          <a:prstGeom prst="rect">
            <a:avLst/>
          </a:prstGeom>
          <a:noFill/>
        </p:spPr>
        <p:txBody>
          <a:bodyPr wrap="square">
            <a:spAutoFit/>
          </a:bodyPr>
          <a:lstStyle/>
          <a:p>
            <a:pPr algn="r">
              <a:buFont typeface="Arial" panose="020B0604020202020204" pitchFamily="34" charset="0"/>
              <a:buChar char="•"/>
            </a:pPr>
            <a:r>
              <a:rPr lang="en-US" b="0" i="0" u="none" strike="noStrike" dirty="0">
                <a:solidFill>
                  <a:srgbClr val="606060"/>
                </a:solidFill>
                <a:effectLst/>
                <a:latin typeface="Calibri Light" panose="020F0302020204030204" pitchFamily="34" charset="0"/>
                <a:ea typeface="Calibri Light" panose="020F0302020204030204" pitchFamily="34" charset="0"/>
                <a:cs typeface="Calibri Light" panose="020F0302020204030204" pitchFamily="34" charset="0"/>
                <a:hlinkClick r:id="rId3"/>
              </a:rPr>
              <a:t>https://doi.org/10.1371/journal.pcbi.1002304</a:t>
            </a:r>
            <a:endParaRPr lang="en-US" b="0" i="0" dirty="0">
              <a:solidFill>
                <a:srgbClr val="606060"/>
              </a:solidFill>
              <a:effectLst/>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5102733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2635A84-5931-D1B3-DAA6-7EB2A6DD0E54}"/>
              </a:ext>
            </a:extLst>
          </p:cNvPr>
          <p:cNvSpPr txBox="1">
            <a:spLocks/>
          </p:cNvSpPr>
          <p:nvPr/>
        </p:nvSpPr>
        <p:spPr>
          <a:xfrm>
            <a:off x="819396" y="168317"/>
            <a:ext cx="10348687" cy="836165"/>
          </a:xfrm>
          <a:prstGeom prst="rect">
            <a:avLst/>
          </a:prstGeom>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5400" b="1" dirty="0">
                <a:latin typeface="Calibri Light" panose="020F0302020204030204" pitchFamily="34" charset="0"/>
                <a:ea typeface="Calibri Light" panose="020F0302020204030204" pitchFamily="34" charset="0"/>
                <a:cs typeface="Calibri Light" panose="020F0302020204030204" pitchFamily="34" charset="0"/>
              </a:rPr>
              <a:t>Site-Specific TFs vs General Transcription Factors (GTFs)</a:t>
            </a:r>
            <a:endParaRPr lang="en-US" sz="54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TextBox 2">
            <a:extLst>
              <a:ext uri="{FF2B5EF4-FFF2-40B4-BE49-F238E27FC236}">
                <a16:creationId xmlns:a16="http://schemas.microsoft.com/office/drawing/2014/main" id="{BD4F4C34-97D3-2899-8411-9E2C7F7D7206}"/>
              </a:ext>
            </a:extLst>
          </p:cNvPr>
          <p:cNvSpPr txBox="1"/>
          <p:nvPr/>
        </p:nvSpPr>
        <p:spPr>
          <a:xfrm>
            <a:off x="510394" y="1454263"/>
            <a:ext cx="11007637" cy="1200329"/>
          </a:xfrm>
          <a:prstGeom prst="rect">
            <a:avLst/>
          </a:prstGeom>
          <a:noFill/>
        </p:spPr>
        <p:txBody>
          <a:bodyPr wrap="square">
            <a:spAutoFit/>
          </a:bodyPr>
          <a:lstStyle/>
          <a:p>
            <a:pPr marL="285750" marR="0" lvl="0" indent="-285750" algn="just" defTabSz="914400" rtl="0" eaLnBrk="0" fontAlgn="base" latinLnBrk="0" hangingPunct="0">
              <a:spcBef>
                <a:spcPct val="0"/>
              </a:spcBef>
              <a:spcAft>
                <a:spcPct val="0"/>
              </a:spcAft>
              <a:buClrTx/>
              <a:buSzTx/>
              <a:buFont typeface="Arial" panose="020B0604020202020204" pitchFamily="34" charset="0"/>
              <a:buChar char="•"/>
              <a:tabLst/>
            </a:pPr>
            <a:r>
              <a:rPr kumimoji="0" lang="en-GB"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General Transcription Factors (GTFs): Part of the basal machinery (e.g., TFIID) at the Transcription Start Site (TSS).</a:t>
            </a:r>
          </a:p>
          <a:p>
            <a:pPr marL="285750" marR="0" lvl="0" indent="-285750" algn="just" defTabSz="914400" rtl="0" eaLnBrk="0" fontAlgn="base" latinLnBrk="0" hangingPunct="0">
              <a:spcBef>
                <a:spcPct val="0"/>
              </a:spcBef>
              <a:spcAft>
                <a:spcPct val="0"/>
              </a:spcAft>
              <a:buClrTx/>
              <a:buSzTx/>
              <a:buFont typeface="Arial" panose="020B0604020202020204" pitchFamily="34" charset="0"/>
              <a:buChar char="•"/>
              <a:tabLst/>
            </a:pPr>
            <a:r>
              <a:rPr kumimoji="0" lang="en-GB"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Site-Specific TFs: Regulate specific genes by binding to enhancers.</a:t>
            </a:r>
            <a:endParaRPr kumimoji="0" lang="en-US" altLang="en-US" sz="24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endParaRPr>
          </a:p>
        </p:txBody>
      </p:sp>
      <p:pic>
        <p:nvPicPr>
          <p:cNvPr id="5" name="Picture 4">
            <a:extLst>
              <a:ext uri="{FF2B5EF4-FFF2-40B4-BE49-F238E27FC236}">
                <a16:creationId xmlns:a16="http://schemas.microsoft.com/office/drawing/2014/main" id="{2A7B70FD-BDC4-CE1F-3C2B-23695E00CD73}"/>
              </a:ext>
            </a:extLst>
          </p:cNvPr>
          <p:cNvPicPr>
            <a:picLocks noChangeAspect="1"/>
          </p:cNvPicPr>
          <p:nvPr/>
        </p:nvPicPr>
        <p:blipFill>
          <a:blip r:embed="rId3"/>
          <a:stretch>
            <a:fillRect/>
          </a:stretch>
        </p:blipFill>
        <p:spPr>
          <a:xfrm>
            <a:off x="510394" y="2927949"/>
            <a:ext cx="6039488" cy="3655169"/>
          </a:xfrm>
          <a:prstGeom prst="rect">
            <a:avLst/>
          </a:prstGeom>
        </p:spPr>
      </p:pic>
      <p:pic>
        <p:nvPicPr>
          <p:cNvPr id="7" name="Picture 6">
            <a:extLst>
              <a:ext uri="{FF2B5EF4-FFF2-40B4-BE49-F238E27FC236}">
                <a16:creationId xmlns:a16="http://schemas.microsoft.com/office/drawing/2014/main" id="{133C8014-61D2-DC84-E2C8-40378C1E3184}"/>
              </a:ext>
            </a:extLst>
          </p:cNvPr>
          <p:cNvPicPr>
            <a:picLocks noChangeAspect="1"/>
          </p:cNvPicPr>
          <p:nvPr/>
        </p:nvPicPr>
        <p:blipFill>
          <a:blip r:embed="rId4"/>
          <a:stretch>
            <a:fillRect/>
          </a:stretch>
        </p:blipFill>
        <p:spPr>
          <a:xfrm>
            <a:off x="6584733" y="2910337"/>
            <a:ext cx="5194553" cy="3655170"/>
          </a:xfrm>
          <a:prstGeom prst="rect">
            <a:avLst/>
          </a:prstGeom>
        </p:spPr>
      </p:pic>
    </p:spTree>
    <p:extLst>
      <p:ext uri="{BB962C8B-B14F-4D97-AF65-F5344CB8AC3E}">
        <p14:creationId xmlns:p14="http://schemas.microsoft.com/office/powerpoint/2010/main" val="11832190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2635A84-5931-D1B3-DAA6-7EB2A6DD0E54}"/>
              </a:ext>
            </a:extLst>
          </p:cNvPr>
          <p:cNvSpPr txBox="1">
            <a:spLocks/>
          </p:cNvSpPr>
          <p:nvPr/>
        </p:nvSpPr>
        <p:spPr>
          <a:xfrm>
            <a:off x="556592" y="168317"/>
            <a:ext cx="10611492" cy="836165"/>
          </a:xfrm>
          <a:prstGeom prst="rect">
            <a:avLst/>
          </a:prstGeom>
        </p:spPr>
        <p:txBody>
          <a:bodyPr vert="horz" lIns="91440" tIns="45720" rIns="91440" bIns="45720" rtlCol="0" anchor="b">
            <a:normAutofit fontScale="85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5400" b="1" dirty="0">
                <a:latin typeface="Calibri Light" panose="020F0302020204030204" pitchFamily="34" charset="0"/>
                <a:ea typeface="Calibri Light" panose="020F0302020204030204" pitchFamily="34" charset="0"/>
                <a:cs typeface="Calibri Light" panose="020F0302020204030204" pitchFamily="34" charset="0"/>
              </a:rPr>
              <a:t>Functional Domains of Transcription Factors</a:t>
            </a:r>
            <a:endParaRPr lang="en-US" sz="54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TextBox 2">
            <a:extLst>
              <a:ext uri="{FF2B5EF4-FFF2-40B4-BE49-F238E27FC236}">
                <a16:creationId xmlns:a16="http://schemas.microsoft.com/office/drawing/2014/main" id="{BD4F4C34-97D3-2899-8411-9E2C7F7D7206}"/>
              </a:ext>
            </a:extLst>
          </p:cNvPr>
          <p:cNvSpPr txBox="1"/>
          <p:nvPr/>
        </p:nvSpPr>
        <p:spPr>
          <a:xfrm>
            <a:off x="624745" y="1454263"/>
            <a:ext cx="10893286" cy="4524315"/>
          </a:xfrm>
          <a:prstGeom prst="rect">
            <a:avLst/>
          </a:prstGeom>
          <a:noFill/>
        </p:spPr>
        <p:txBody>
          <a:bodyPr wrap="square">
            <a:spAutoFit/>
          </a:bodyPr>
          <a:lstStyle/>
          <a:p>
            <a:pPr marR="0" lvl="0" algn="just" defTabSz="914400" rtl="0" eaLnBrk="0" fontAlgn="base" latinLnBrk="0" hangingPunct="0">
              <a:spcBef>
                <a:spcPct val="0"/>
              </a:spcBef>
              <a:spcAft>
                <a:spcPct val="0"/>
              </a:spcAft>
              <a:buClrTx/>
              <a:buSzTx/>
              <a:tabLst/>
            </a:pPr>
            <a:r>
              <a:rPr kumimoji="0" lang="en-GB"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The Modular Structure of TFs A typical TF contains three specific domains:</a:t>
            </a:r>
          </a:p>
          <a:p>
            <a:pPr marL="457200" marR="0" lvl="0" indent="-457200" algn="just" defTabSz="914400" rtl="0" eaLnBrk="0" fontAlgn="base" latinLnBrk="0" hangingPunct="0">
              <a:spcBef>
                <a:spcPct val="0"/>
              </a:spcBef>
              <a:spcAft>
                <a:spcPct val="0"/>
              </a:spcAft>
              <a:buClrTx/>
              <a:buSzTx/>
              <a:buFont typeface="+mj-lt"/>
              <a:buAutoNum type="arabicPeriod"/>
              <a:tabLst/>
            </a:pPr>
            <a:r>
              <a:rPr kumimoji="0" lang="en-GB"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DNA-Binding Domain (DBD): </a:t>
            </a:r>
          </a:p>
          <a:p>
            <a:pPr marL="914400" lvl="1" indent="-457200" algn="just" eaLnBrk="0" fontAlgn="base" hangingPunct="0">
              <a:spcBef>
                <a:spcPct val="0"/>
              </a:spcBef>
              <a:spcAft>
                <a:spcPct val="0"/>
              </a:spcAft>
              <a:buFont typeface="Arial" panose="020B0604020202020204" pitchFamily="34" charset="0"/>
              <a:buChar char="•"/>
            </a:pPr>
            <a:r>
              <a:rPr kumimoji="0" lang="en-GB"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Recognizes specific DNA sequences (motifs).</a:t>
            </a:r>
          </a:p>
          <a:p>
            <a:pPr marL="914400" lvl="1" indent="-457200" algn="just" eaLnBrk="0" fontAlgn="base" hangingPunct="0">
              <a:spcBef>
                <a:spcPct val="0"/>
              </a:spcBef>
              <a:spcAft>
                <a:spcPct val="0"/>
              </a:spcAft>
              <a:buFont typeface="Arial" panose="020B0604020202020204" pitchFamily="34" charset="0"/>
              <a:buChar char="•"/>
            </a:pPr>
            <a:r>
              <a:rPr kumimoji="0" lang="en-GB"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Average size: 60–90 amino acids.</a:t>
            </a:r>
          </a:p>
          <a:p>
            <a:pPr marL="914400" lvl="1" indent="-457200" algn="just" eaLnBrk="0" fontAlgn="base" hangingPunct="0">
              <a:spcBef>
                <a:spcPct val="0"/>
              </a:spcBef>
              <a:spcAft>
                <a:spcPct val="0"/>
              </a:spcAft>
              <a:buFont typeface="Arial" panose="020B0604020202020204" pitchFamily="34" charset="0"/>
              <a:buChar char="•"/>
            </a:pPr>
            <a:r>
              <a:rPr kumimoji="0" lang="en-GB"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Interacts primarily with the Major Groove of DNA via hydrogen bonds.</a:t>
            </a:r>
          </a:p>
          <a:p>
            <a:pPr marL="914400" lvl="1" indent="-457200" algn="just" eaLnBrk="0" fontAlgn="base" hangingPunct="0">
              <a:spcBef>
                <a:spcPct val="0"/>
              </a:spcBef>
              <a:spcAft>
                <a:spcPct val="0"/>
              </a:spcAft>
              <a:buFont typeface="Arial" panose="020B0604020202020204" pitchFamily="34" charset="0"/>
              <a:buChar char="•"/>
            </a:pPr>
            <a:r>
              <a:rPr kumimoji="0" lang="en-GB"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Basic amino acids (Lys, Arg) interact with the negatively charged DNA backbone.</a:t>
            </a:r>
          </a:p>
          <a:p>
            <a:pPr marL="457200" marR="0" lvl="0" indent="-457200" algn="just" defTabSz="914400" rtl="0" eaLnBrk="0" fontAlgn="base" latinLnBrk="0" hangingPunct="0">
              <a:spcBef>
                <a:spcPct val="0"/>
              </a:spcBef>
              <a:spcAft>
                <a:spcPct val="0"/>
              </a:spcAft>
              <a:buClrTx/>
              <a:buSzTx/>
              <a:buFont typeface="+mj-lt"/>
              <a:buAutoNum type="arabicPeriod"/>
              <a:tabLst/>
            </a:pPr>
            <a:r>
              <a:rPr kumimoji="0" lang="en-GB"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Dimerization Domain:</a:t>
            </a:r>
          </a:p>
          <a:p>
            <a:pPr marL="742950" lvl="1" indent="-285750" algn="just" eaLnBrk="0" fontAlgn="base" hangingPunct="0">
              <a:spcBef>
                <a:spcPct val="0"/>
              </a:spcBef>
              <a:spcAft>
                <a:spcPct val="0"/>
              </a:spcAft>
              <a:buFont typeface="Arial" panose="020B0604020202020204" pitchFamily="34" charset="0"/>
              <a:buChar char="•"/>
            </a:pPr>
            <a:r>
              <a:rPr kumimoji="0" lang="en-GB"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Allows TFs to form homodimers or heterodimers.</a:t>
            </a:r>
          </a:p>
          <a:p>
            <a:pPr marL="742950" lvl="1" indent="-285750" algn="just" eaLnBrk="0" fontAlgn="base" hangingPunct="0">
              <a:spcBef>
                <a:spcPct val="0"/>
              </a:spcBef>
              <a:spcAft>
                <a:spcPct val="0"/>
              </a:spcAft>
              <a:buFont typeface="Arial" panose="020B0604020202020204" pitchFamily="34" charset="0"/>
              <a:buChar char="•"/>
            </a:pPr>
            <a:r>
              <a:rPr kumimoji="0" lang="en-GB"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Increases diversity and specificity of gene regulation.</a:t>
            </a:r>
          </a:p>
          <a:p>
            <a:pPr marL="457200" marR="0" lvl="0" indent="-457200" algn="just" defTabSz="914400" rtl="0" eaLnBrk="0" fontAlgn="base" latinLnBrk="0" hangingPunct="0">
              <a:spcBef>
                <a:spcPct val="0"/>
              </a:spcBef>
              <a:spcAft>
                <a:spcPct val="0"/>
              </a:spcAft>
              <a:buClrTx/>
              <a:buSzTx/>
              <a:buFont typeface="+mj-lt"/>
              <a:buAutoNum type="arabicPeriod"/>
              <a:tabLst/>
            </a:pPr>
            <a:r>
              <a:rPr kumimoji="0" lang="en-GB"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Transactivation Domain: </a:t>
            </a:r>
          </a:p>
          <a:p>
            <a:pPr marL="742950" lvl="1" indent="-285750" algn="just" eaLnBrk="0" fontAlgn="base" hangingPunct="0">
              <a:spcBef>
                <a:spcPct val="0"/>
              </a:spcBef>
              <a:spcAft>
                <a:spcPct val="0"/>
              </a:spcAft>
              <a:buFont typeface="Arial" panose="020B0604020202020204" pitchFamily="34" charset="0"/>
              <a:buChar char="•"/>
            </a:pPr>
            <a:r>
              <a:rPr kumimoji="0" lang="en-GB"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Site for protein-protein interactions (e.g., with Coactivators or Mediator).</a:t>
            </a:r>
          </a:p>
          <a:p>
            <a:pPr marL="742950" lvl="1" indent="-285750" algn="just" eaLnBrk="0" fontAlgn="base" hangingPunct="0">
              <a:spcBef>
                <a:spcPct val="0"/>
              </a:spcBef>
              <a:spcAft>
                <a:spcPct val="0"/>
              </a:spcAft>
              <a:buFont typeface="Arial" panose="020B0604020202020204" pitchFamily="34" charset="0"/>
              <a:buChar char="•"/>
            </a:pPr>
            <a:r>
              <a:rPr kumimoji="0" lang="en-GB"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Connects the TF to the transcriptional machinery.</a:t>
            </a:r>
            <a:endParaRPr kumimoji="0" lang="en-US" altLang="en-US" sz="24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17661979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2635A84-5931-D1B3-DAA6-7EB2A6DD0E54}"/>
              </a:ext>
            </a:extLst>
          </p:cNvPr>
          <p:cNvSpPr txBox="1">
            <a:spLocks/>
          </p:cNvSpPr>
          <p:nvPr/>
        </p:nvSpPr>
        <p:spPr>
          <a:xfrm>
            <a:off x="556592" y="168317"/>
            <a:ext cx="10611492" cy="83616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5400" b="1" dirty="0">
                <a:latin typeface="Calibri Light" panose="020F0302020204030204" pitchFamily="34" charset="0"/>
                <a:ea typeface="Calibri Light" panose="020F0302020204030204" pitchFamily="34" charset="0"/>
                <a:cs typeface="Calibri Light" panose="020F0302020204030204" pitchFamily="34" charset="0"/>
              </a:rPr>
              <a:t>DNA-Binding Domains (DBD)</a:t>
            </a:r>
            <a:endParaRPr lang="en-US" sz="5400" b="1" dirty="0">
              <a:latin typeface="Calibri Light" panose="020F0302020204030204" pitchFamily="34" charset="0"/>
              <a:ea typeface="Calibri Light" panose="020F0302020204030204" pitchFamily="34" charset="0"/>
              <a:cs typeface="Calibri Light" panose="020F0302020204030204" pitchFamily="34" charset="0"/>
            </a:endParaRPr>
          </a:p>
        </p:txBody>
      </p:sp>
      <p:pic>
        <p:nvPicPr>
          <p:cNvPr id="5" name="Picture 4">
            <a:extLst>
              <a:ext uri="{FF2B5EF4-FFF2-40B4-BE49-F238E27FC236}">
                <a16:creationId xmlns:a16="http://schemas.microsoft.com/office/drawing/2014/main" id="{96F9A17D-E8F3-DF8A-7AC7-AF36C429D08C}"/>
              </a:ext>
            </a:extLst>
          </p:cNvPr>
          <p:cNvPicPr>
            <a:picLocks noChangeAspect="1"/>
          </p:cNvPicPr>
          <p:nvPr/>
        </p:nvPicPr>
        <p:blipFill>
          <a:blip r:embed="rId3"/>
          <a:stretch>
            <a:fillRect/>
          </a:stretch>
        </p:blipFill>
        <p:spPr>
          <a:xfrm>
            <a:off x="1242063" y="1154288"/>
            <a:ext cx="9384288" cy="5178805"/>
          </a:xfrm>
          <a:prstGeom prst="rect">
            <a:avLst/>
          </a:prstGeom>
        </p:spPr>
      </p:pic>
    </p:spTree>
    <p:extLst>
      <p:ext uri="{BB962C8B-B14F-4D97-AF65-F5344CB8AC3E}">
        <p14:creationId xmlns:p14="http://schemas.microsoft.com/office/powerpoint/2010/main" val="33112854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2635A84-5931-D1B3-DAA6-7EB2A6DD0E54}"/>
              </a:ext>
            </a:extLst>
          </p:cNvPr>
          <p:cNvSpPr txBox="1">
            <a:spLocks/>
          </p:cNvSpPr>
          <p:nvPr/>
        </p:nvSpPr>
        <p:spPr>
          <a:xfrm>
            <a:off x="556592" y="168317"/>
            <a:ext cx="10611492" cy="836165"/>
          </a:xfrm>
          <a:prstGeom prst="rect">
            <a:avLst/>
          </a:prstGeom>
        </p:spPr>
        <p:txBody>
          <a:bodyPr vert="horz" lIns="91440" tIns="45720" rIns="91440" bIns="45720" rtlCol="0" anchor="b">
            <a:normAutofit fontScale="7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5400" b="1" dirty="0">
                <a:latin typeface="Calibri Light" panose="020F0302020204030204" pitchFamily="34" charset="0"/>
                <a:ea typeface="Calibri Light" panose="020F0302020204030204" pitchFamily="34" charset="0"/>
                <a:cs typeface="Calibri Light" panose="020F0302020204030204" pitchFamily="34" charset="0"/>
              </a:rPr>
              <a:t>DNA-Binding Domains (DBD) – Class I: Zinc Fingers</a:t>
            </a:r>
            <a:endParaRPr lang="en-US" sz="54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TextBox 2">
            <a:extLst>
              <a:ext uri="{FF2B5EF4-FFF2-40B4-BE49-F238E27FC236}">
                <a16:creationId xmlns:a16="http://schemas.microsoft.com/office/drawing/2014/main" id="{BD4F4C34-97D3-2899-8411-9E2C7F7D7206}"/>
              </a:ext>
            </a:extLst>
          </p:cNvPr>
          <p:cNvSpPr txBox="1"/>
          <p:nvPr/>
        </p:nvSpPr>
        <p:spPr>
          <a:xfrm>
            <a:off x="624745" y="1261155"/>
            <a:ext cx="7599175" cy="4893647"/>
          </a:xfrm>
          <a:prstGeom prst="rect">
            <a:avLst/>
          </a:prstGeom>
          <a:noFill/>
        </p:spPr>
        <p:txBody>
          <a:bodyPr wrap="square">
            <a:spAutoFit/>
          </a:bodyPr>
          <a:lstStyle/>
          <a:p>
            <a:pPr marL="342900" marR="0" lvl="0" indent="-342900" algn="just" defTabSz="914400" rtl="0" eaLnBrk="0" fontAlgn="base" latinLnBrk="0" hangingPunct="0">
              <a:spcBef>
                <a:spcPct val="0"/>
              </a:spcBef>
              <a:spcAft>
                <a:spcPct val="0"/>
              </a:spcAft>
              <a:buClrTx/>
              <a:buSzTx/>
              <a:buFont typeface="Arial" panose="020B0604020202020204" pitchFamily="34" charset="0"/>
              <a:buChar char="•"/>
              <a:tabLst/>
            </a:pPr>
            <a:r>
              <a:rPr kumimoji="0" lang="en-GB"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Structure:</a:t>
            </a:r>
          </a:p>
          <a:p>
            <a:pPr marL="800100" lvl="1" indent="-342900" algn="just" eaLnBrk="0" fontAlgn="base" hangingPunct="0">
              <a:spcBef>
                <a:spcPct val="0"/>
              </a:spcBef>
              <a:spcAft>
                <a:spcPct val="0"/>
              </a:spcAft>
              <a:buFont typeface="Wingdings" panose="05000000000000000000" pitchFamily="2" charset="2"/>
              <a:buChar char="§"/>
            </a:pPr>
            <a:r>
              <a:rPr kumimoji="0" lang="en-GB"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Small motif (~30 amino acids).</a:t>
            </a:r>
          </a:p>
          <a:p>
            <a:pPr marL="800100" lvl="1" indent="-342900" algn="just" eaLnBrk="0" fontAlgn="base" hangingPunct="0">
              <a:spcBef>
                <a:spcPct val="0"/>
              </a:spcBef>
              <a:spcAft>
                <a:spcPct val="0"/>
              </a:spcAft>
              <a:buFont typeface="Wingdings" panose="05000000000000000000" pitchFamily="2" charset="2"/>
              <a:buChar char="§"/>
            </a:pPr>
            <a:r>
              <a:rPr kumimoji="0" lang="en-GB"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Coordinates a Zinc ion (Zn</a:t>
            </a:r>
            <a:r>
              <a:rPr kumimoji="0" lang="en-GB" altLang="en-US" sz="2400" b="1" i="0" u="none" strike="noStrike" cap="none" normalizeH="0" baseline="3000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2+</a:t>
            </a:r>
            <a:r>
              <a:rPr kumimoji="0" lang="en-GB"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)using 4 residues:</a:t>
            </a:r>
          </a:p>
          <a:p>
            <a:pPr marL="1257300" lvl="2" indent="-342900" algn="just" eaLnBrk="0" fontAlgn="base" hangingPunct="0">
              <a:spcBef>
                <a:spcPct val="0"/>
              </a:spcBef>
              <a:spcAft>
                <a:spcPct val="0"/>
              </a:spcAft>
              <a:buFont typeface="Courier New" panose="02070309020205020404" pitchFamily="49" charset="0"/>
              <a:buChar char="o"/>
            </a:pPr>
            <a:r>
              <a:rPr kumimoji="0" lang="en-GB"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C4 Type: 4 Cysteines (common in Nuclear Receptors).</a:t>
            </a:r>
          </a:p>
          <a:p>
            <a:pPr marL="1257300" lvl="2" indent="-342900" algn="just" eaLnBrk="0" fontAlgn="base" hangingPunct="0">
              <a:spcBef>
                <a:spcPct val="0"/>
              </a:spcBef>
              <a:spcAft>
                <a:spcPct val="0"/>
              </a:spcAft>
              <a:buFont typeface="Courier New" panose="02070309020205020404" pitchFamily="49" charset="0"/>
              <a:buChar char="o"/>
            </a:pPr>
            <a:r>
              <a:rPr lang="en-GB" altLang="en-US" sz="2400" b="1" dirty="0">
                <a:latin typeface="Calibri Light" panose="020F0302020204030204" pitchFamily="34" charset="0"/>
                <a:ea typeface="Calibri Light" panose="020F0302020204030204" pitchFamily="34" charset="0"/>
                <a:cs typeface="Calibri Light" panose="020F0302020204030204" pitchFamily="34" charset="0"/>
              </a:rPr>
              <a:t>C2H2</a:t>
            </a:r>
            <a:r>
              <a:rPr kumimoji="0" lang="en-GB"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Type: 2 Cysteines + 2 </a:t>
            </a:r>
            <a:r>
              <a:rPr kumimoji="0" lang="en-GB" altLang="en-US" sz="2400" b="1" i="0" u="none" strike="noStrike" cap="none" normalizeH="0" baseline="0" dirty="0" err="1">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Histidines</a:t>
            </a:r>
            <a:r>
              <a:rPr kumimoji="0" lang="en-GB"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a:t>
            </a:r>
          </a:p>
          <a:p>
            <a:pPr marL="342900" marR="0" lvl="0" indent="-342900" algn="just" defTabSz="914400" rtl="0" eaLnBrk="0" fontAlgn="base" latinLnBrk="0" hangingPunct="0">
              <a:spcBef>
                <a:spcPct val="0"/>
              </a:spcBef>
              <a:spcAft>
                <a:spcPct val="0"/>
              </a:spcAft>
              <a:buClrTx/>
              <a:buSzTx/>
              <a:buFont typeface="Arial" panose="020B0604020202020204" pitchFamily="34" charset="0"/>
              <a:buChar char="•"/>
              <a:tabLst/>
            </a:pPr>
            <a:r>
              <a:rPr kumimoji="0" lang="en-GB"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Function:</a:t>
            </a:r>
          </a:p>
          <a:p>
            <a:pPr marL="800100" lvl="1" indent="-342900" algn="just" eaLnBrk="0" fontAlgn="base" hangingPunct="0">
              <a:spcBef>
                <a:spcPct val="0"/>
              </a:spcBef>
              <a:spcAft>
                <a:spcPct val="0"/>
              </a:spcAft>
              <a:buFont typeface="Wingdings" panose="05000000000000000000" pitchFamily="2" charset="2"/>
              <a:buChar char="§"/>
            </a:pPr>
            <a:r>
              <a:rPr kumimoji="0" lang="en-GB"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The Zinc ion stabilizes the 3D structure (creates a "finger" loop).</a:t>
            </a:r>
          </a:p>
          <a:p>
            <a:pPr marL="800100" lvl="1" indent="-342900" algn="just" eaLnBrk="0" fontAlgn="base" hangingPunct="0">
              <a:spcBef>
                <a:spcPct val="0"/>
              </a:spcBef>
              <a:spcAft>
                <a:spcPct val="0"/>
              </a:spcAft>
              <a:buFont typeface="Wingdings" panose="05000000000000000000" pitchFamily="2" charset="2"/>
              <a:buChar char="§"/>
            </a:pPr>
            <a:r>
              <a:rPr kumimoji="0" lang="en-GB"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Cooperativity: A single finger binds weakly; TFs usually have multiple fingers linked in a chain to bind DNA with high affinity.</a:t>
            </a:r>
          </a:p>
          <a:p>
            <a:pPr marL="800100" lvl="1" indent="-342900" algn="just" eaLnBrk="0" fontAlgn="base" hangingPunct="0">
              <a:spcBef>
                <a:spcPct val="0"/>
              </a:spcBef>
              <a:spcAft>
                <a:spcPct val="0"/>
              </a:spcAft>
              <a:buFont typeface="Wingdings" panose="05000000000000000000" pitchFamily="2" charset="2"/>
              <a:buChar char="§"/>
            </a:pPr>
            <a:r>
              <a:rPr kumimoji="0" lang="en-GB"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Example: CTCF (11 zinc fingers), Sp1 (3 zinc fingers).</a:t>
            </a:r>
            <a:endParaRPr kumimoji="0" lang="en-US" altLang="en-US" sz="24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endParaRPr>
          </a:p>
        </p:txBody>
      </p:sp>
      <p:pic>
        <p:nvPicPr>
          <p:cNvPr id="2" name="Picture 1">
            <a:extLst>
              <a:ext uri="{FF2B5EF4-FFF2-40B4-BE49-F238E27FC236}">
                <a16:creationId xmlns:a16="http://schemas.microsoft.com/office/drawing/2014/main" id="{518ED6A3-881B-0E68-6B9C-926AD227F810}"/>
              </a:ext>
            </a:extLst>
          </p:cNvPr>
          <p:cNvPicPr>
            <a:picLocks noChangeAspect="1"/>
          </p:cNvPicPr>
          <p:nvPr/>
        </p:nvPicPr>
        <p:blipFill rotWithShape="1">
          <a:blip r:embed="rId3"/>
          <a:srcRect r="66755"/>
          <a:stretch/>
        </p:blipFill>
        <p:spPr>
          <a:xfrm>
            <a:off x="8447460" y="1177006"/>
            <a:ext cx="3119795" cy="5178805"/>
          </a:xfrm>
          <a:prstGeom prst="rect">
            <a:avLst/>
          </a:prstGeom>
        </p:spPr>
      </p:pic>
    </p:spTree>
    <p:extLst>
      <p:ext uri="{BB962C8B-B14F-4D97-AF65-F5344CB8AC3E}">
        <p14:creationId xmlns:p14="http://schemas.microsoft.com/office/powerpoint/2010/main" val="17539695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2635A84-5931-D1B3-DAA6-7EB2A6DD0E54}"/>
              </a:ext>
            </a:extLst>
          </p:cNvPr>
          <p:cNvSpPr txBox="1">
            <a:spLocks/>
          </p:cNvSpPr>
          <p:nvPr/>
        </p:nvSpPr>
        <p:spPr>
          <a:xfrm>
            <a:off x="556592" y="168317"/>
            <a:ext cx="10611492" cy="836165"/>
          </a:xfrm>
          <a:prstGeom prst="rect">
            <a:avLst/>
          </a:prstGeom>
        </p:spPr>
        <p:txBody>
          <a:bodyPr vert="horz" lIns="91440" tIns="45720" rIns="91440" bIns="45720" rtlCol="0" anchor="b">
            <a:normAutofit fontScale="7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5400" b="1" dirty="0">
                <a:latin typeface="Calibri Light" panose="020F0302020204030204" pitchFamily="34" charset="0"/>
                <a:ea typeface="Calibri Light" panose="020F0302020204030204" pitchFamily="34" charset="0"/>
                <a:cs typeface="Calibri Light" panose="020F0302020204030204" pitchFamily="34" charset="0"/>
              </a:rPr>
              <a:t>DNA-Binding Domains (DBD) – Class II: Helix-Turn-Helix</a:t>
            </a:r>
            <a:endParaRPr lang="en-US" sz="54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TextBox 2">
            <a:extLst>
              <a:ext uri="{FF2B5EF4-FFF2-40B4-BE49-F238E27FC236}">
                <a16:creationId xmlns:a16="http://schemas.microsoft.com/office/drawing/2014/main" id="{BD4F4C34-97D3-2899-8411-9E2C7F7D7206}"/>
              </a:ext>
            </a:extLst>
          </p:cNvPr>
          <p:cNvSpPr txBox="1"/>
          <p:nvPr/>
        </p:nvSpPr>
        <p:spPr>
          <a:xfrm>
            <a:off x="624745" y="1261155"/>
            <a:ext cx="7599175" cy="5334987"/>
          </a:xfrm>
          <a:prstGeom prst="rect">
            <a:avLst/>
          </a:prstGeom>
          <a:noFill/>
        </p:spPr>
        <p:txBody>
          <a:bodyPr wrap="square">
            <a:spAutoFit/>
          </a:bodyPr>
          <a:lstStyle/>
          <a:p>
            <a:pPr marL="342900" marR="0" lvl="0" indent="-342900" algn="just" defTabSz="914400" rtl="0" eaLnBrk="0" fontAlgn="base" latinLnBrk="0" hangingPunct="0">
              <a:lnSpc>
                <a:spcPct val="130000"/>
              </a:lnSpc>
              <a:spcBef>
                <a:spcPct val="0"/>
              </a:spcBef>
              <a:spcAft>
                <a:spcPct val="0"/>
              </a:spcAft>
              <a:buClrTx/>
              <a:buSzTx/>
              <a:buFont typeface="Arial" panose="020B0604020202020204" pitchFamily="34" charset="0"/>
              <a:buChar char="•"/>
              <a:tabLst/>
            </a:pPr>
            <a:r>
              <a:rPr kumimoji="0" lang="en-GB"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Helix-Turn-Helix (HTH):</a:t>
            </a:r>
          </a:p>
          <a:p>
            <a:pPr marL="800100" lvl="1" indent="-342900" algn="just" eaLnBrk="0" fontAlgn="base" hangingPunct="0">
              <a:lnSpc>
                <a:spcPct val="130000"/>
              </a:lnSpc>
              <a:spcBef>
                <a:spcPct val="0"/>
              </a:spcBef>
              <a:spcAft>
                <a:spcPct val="0"/>
              </a:spcAft>
              <a:buFont typeface="Wingdings" panose="05000000000000000000" pitchFamily="2" charset="2"/>
              <a:buChar char="§"/>
            </a:pPr>
            <a:r>
              <a:rPr kumimoji="0" lang="en-GB"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Structure: Two alpha-helices separated by a beta-turn.</a:t>
            </a:r>
          </a:p>
          <a:p>
            <a:pPr marL="800100" lvl="1" indent="-342900" algn="just" eaLnBrk="0" fontAlgn="base" hangingPunct="0">
              <a:lnSpc>
                <a:spcPct val="130000"/>
              </a:lnSpc>
              <a:spcBef>
                <a:spcPct val="0"/>
              </a:spcBef>
              <a:spcAft>
                <a:spcPct val="0"/>
              </a:spcAft>
              <a:buFont typeface="Wingdings" panose="05000000000000000000" pitchFamily="2" charset="2"/>
              <a:buChar char="§"/>
            </a:pPr>
            <a:r>
              <a:rPr kumimoji="0" lang="en-GB"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Mechanism: One helix is the "Recognition Helix" that sits in the major groove.</a:t>
            </a:r>
          </a:p>
          <a:p>
            <a:pPr marL="800100" lvl="1" indent="-342900" algn="just" eaLnBrk="0" fontAlgn="base" hangingPunct="0">
              <a:lnSpc>
                <a:spcPct val="130000"/>
              </a:lnSpc>
              <a:spcBef>
                <a:spcPct val="0"/>
              </a:spcBef>
              <a:spcAft>
                <a:spcPct val="0"/>
              </a:spcAft>
              <a:buFont typeface="Wingdings" panose="05000000000000000000" pitchFamily="2" charset="2"/>
              <a:buChar char="§"/>
            </a:pPr>
            <a:r>
              <a:rPr kumimoji="0" lang="en-GB"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Evolution: Ancient motif found in bacteria and eukaryotes.</a:t>
            </a:r>
          </a:p>
          <a:p>
            <a:pPr marL="342900" marR="0" lvl="0" indent="-342900" algn="just" defTabSz="914400" rtl="0" eaLnBrk="0" fontAlgn="base" latinLnBrk="0" hangingPunct="0">
              <a:lnSpc>
                <a:spcPct val="130000"/>
              </a:lnSpc>
              <a:spcBef>
                <a:spcPct val="0"/>
              </a:spcBef>
              <a:spcAft>
                <a:spcPct val="0"/>
              </a:spcAft>
              <a:buClrTx/>
              <a:buSzTx/>
              <a:buFont typeface="Arial" panose="020B0604020202020204" pitchFamily="34" charset="0"/>
              <a:buChar char="•"/>
              <a:tabLst/>
            </a:pPr>
            <a:r>
              <a:rPr kumimoji="0" lang="en-GB"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Homeodomain (Subtype of HTH):</a:t>
            </a:r>
          </a:p>
          <a:p>
            <a:pPr marL="800100" lvl="1" indent="-342900" algn="just" eaLnBrk="0" fontAlgn="base" hangingPunct="0">
              <a:lnSpc>
                <a:spcPct val="130000"/>
              </a:lnSpc>
              <a:spcBef>
                <a:spcPct val="0"/>
              </a:spcBef>
              <a:spcAft>
                <a:spcPct val="0"/>
              </a:spcAft>
              <a:buFont typeface="Wingdings" panose="05000000000000000000" pitchFamily="2" charset="2"/>
              <a:buChar char="§"/>
            </a:pPr>
            <a:r>
              <a:rPr kumimoji="0" lang="en-GB"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Definition: A specific 60-amino acid HTH motif.</a:t>
            </a:r>
          </a:p>
          <a:p>
            <a:pPr marL="800100" lvl="1" indent="-342900" algn="just" eaLnBrk="0" fontAlgn="base" hangingPunct="0">
              <a:lnSpc>
                <a:spcPct val="130000"/>
              </a:lnSpc>
              <a:spcBef>
                <a:spcPct val="0"/>
              </a:spcBef>
              <a:spcAft>
                <a:spcPct val="0"/>
              </a:spcAft>
              <a:buFont typeface="Wingdings" panose="05000000000000000000" pitchFamily="2" charset="2"/>
              <a:buChar char="§"/>
            </a:pPr>
            <a:r>
              <a:rPr kumimoji="0" lang="en-GB"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Role: Critical for body pattern formation during development.</a:t>
            </a:r>
          </a:p>
          <a:p>
            <a:pPr marL="800100" lvl="1" indent="-342900" algn="just" eaLnBrk="0" fontAlgn="base" hangingPunct="0">
              <a:lnSpc>
                <a:spcPct val="130000"/>
              </a:lnSpc>
              <a:spcBef>
                <a:spcPct val="0"/>
              </a:spcBef>
              <a:spcAft>
                <a:spcPct val="0"/>
              </a:spcAft>
              <a:buFont typeface="Wingdings" panose="05000000000000000000" pitchFamily="2" charset="2"/>
              <a:buChar char="§"/>
            </a:pPr>
            <a:r>
              <a:rPr kumimoji="0" lang="en-GB"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Examples: HOX genes (Homeobox), POU family.</a:t>
            </a:r>
            <a:endParaRPr kumimoji="0" lang="en-US" altLang="en-US" sz="24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endParaRPr>
          </a:p>
        </p:txBody>
      </p:sp>
      <p:pic>
        <p:nvPicPr>
          <p:cNvPr id="2" name="Picture 1">
            <a:extLst>
              <a:ext uri="{FF2B5EF4-FFF2-40B4-BE49-F238E27FC236}">
                <a16:creationId xmlns:a16="http://schemas.microsoft.com/office/drawing/2014/main" id="{518ED6A3-881B-0E68-6B9C-926AD227F810}"/>
              </a:ext>
            </a:extLst>
          </p:cNvPr>
          <p:cNvPicPr>
            <a:picLocks noChangeAspect="1"/>
          </p:cNvPicPr>
          <p:nvPr/>
        </p:nvPicPr>
        <p:blipFill rotWithShape="1">
          <a:blip r:embed="rId3"/>
          <a:srcRect l="33368" r="35290"/>
          <a:stretch/>
        </p:blipFill>
        <p:spPr>
          <a:xfrm>
            <a:off x="8626032" y="1205938"/>
            <a:ext cx="2941223" cy="5178805"/>
          </a:xfrm>
          <a:prstGeom prst="rect">
            <a:avLst/>
          </a:prstGeom>
        </p:spPr>
      </p:pic>
    </p:spTree>
    <p:extLst>
      <p:ext uri="{BB962C8B-B14F-4D97-AF65-F5344CB8AC3E}">
        <p14:creationId xmlns:p14="http://schemas.microsoft.com/office/powerpoint/2010/main" val="27538140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2635A84-5931-D1B3-DAA6-7EB2A6DD0E54}"/>
              </a:ext>
            </a:extLst>
          </p:cNvPr>
          <p:cNvSpPr txBox="1">
            <a:spLocks/>
          </p:cNvSpPr>
          <p:nvPr/>
        </p:nvSpPr>
        <p:spPr>
          <a:xfrm>
            <a:off x="556592" y="168317"/>
            <a:ext cx="10611492" cy="836165"/>
          </a:xfrm>
          <a:prstGeom prst="rect">
            <a:avLst/>
          </a:prstGeom>
        </p:spPr>
        <p:txBody>
          <a:bodyPr vert="horz" lIns="91440" tIns="45720" rIns="91440" bIns="45720" rtlCol="0" anchor="b">
            <a:normAutofit fontScale="5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5400" b="1" dirty="0">
                <a:latin typeface="Calibri Light" panose="020F0302020204030204" pitchFamily="34" charset="0"/>
                <a:ea typeface="Calibri Light" panose="020F0302020204030204" pitchFamily="34" charset="0"/>
                <a:cs typeface="Calibri Light" panose="020F0302020204030204" pitchFamily="34" charset="0"/>
              </a:rPr>
              <a:t>DNA-Binding Domains (DBD) – Class III: Homeodomain factors</a:t>
            </a:r>
            <a:br>
              <a:rPr lang="en-GB" sz="5400" b="1" dirty="0">
                <a:latin typeface="Calibri Light" panose="020F0302020204030204" pitchFamily="34" charset="0"/>
                <a:ea typeface="Calibri Light" panose="020F0302020204030204" pitchFamily="34" charset="0"/>
                <a:cs typeface="Calibri Light" panose="020F0302020204030204" pitchFamily="34" charset="0"/>
              </a:rPr>
            </a:br>
            <a:r>
              <a:rPr lang="en-GB" sz="5400" b="1" dirty="0">
                <a:latin typeface="Calibri Light" panose="020F0302020204030204" pitchFamily="34" charset="0"/>
                <a:ea typeface="Calibri Light" panose="020F0302020204030204" pitchFamily="34" charset="0"/>
                <a:cs typeface="Calibri Light" panose="020F0302020204030204" pitchFamily="34" charset="0"/>
              </a:rPr>
              <a:t>Dimerization Domains</a:t>
            </a:r>
            <a:endParaRPr lang="en-US" sz="54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TextBox 2">
            <a:extLst>
              <a:ext uri="{FF2B5EF4-FFF2-40B4-BE49-F238E27FC236}">
                <a16:creationId xmlns:a16="http://schemas.microsoft.com/office/drawing/2014/main" id="{BD4F4C34-97D3-2899-8411-9E2C7F7D7206}"/>
              </a:ext>
            </a:extLst>
          </p:cNvPr>
          <p:cNvSpPr txBox="1"/>
          <p:nvPr/>
        </p:nvSpPr>
        <p:spPr>
          <a:xfrm>
            <a:off x="624745" y="1261155"/>
            <a:ext cx="7599175" cy="4708981"/>
          </a:xfrm>
          <a:prstGeom prst="rect">
            <a:avLst/>
          </a:prstGeom>
          <a:noFill/>
        </p:spPr>
        <p:txBody>
          <a:bodyPr wrap="square">
            <a:spAutoFit/>
          </a:bodyPr>
          <a:lstStyle/>
          <a:p>
            <a:pPr marR="0" lvl="0" algn="just" defTabSz="914400" rtl="0" eaLnBrk="0" fontAlgn="base" latinLnBrk="0" hangingPunct="0">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1. Leucine Zipper (</a:t>
            </a:r>
            <a:r>
              <a:rPr kumimoji="0" lang="en-US" altLang="en-US" sz="2000" b="1" i="0" u="none" strike="noStrike" cap="none" normalizeH="0" baseline="0" dirty="0" err="1">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bZIP</a:t>
            </a:r>
            <a:r>
              <a:rPr kumimoji="0" lang="en-US" altLang="en-US" sz="20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a:t>
            </a:r>
          </a:p>
          <a:p>
            <a:pPr marL="342900" marR="0" lvl="0" indent="-342900" algn="just"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20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Structure: Two alpha-helices with Leucine residues every 7th position.</a:t>
            </a:r>
          </a:p>
          <a:p>
            <a:pPr marL="342900" marR="0" lvl="0" indent="-342900" algn="just"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20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Mechanism: </a:t>
            </a:r>
            <a:r>
              <a:rPr kumimoji="0" lang="en-US" altLang="en-US" sz="2000" i="0" u="none" strike="noStrike" cap="none" normalizeH="0" baseline="0" dirty="0" err="1">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Leucines</a:t>
            </a:r>
            <a:r>
              <a:rPr kumimoji="0" lang="en-US" altLang="en-US" sz="20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create a hydrophobic surface that "zips" two helices together.</a:t>
            </a:r>
          </a:p>
          <a:p>
            <a:pPr marL="342900" marR="0" lvl="0" indent="-342900" algn="just"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20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DNA Binding: Adjacent basic region binds DNA.</a:t>
            </a:r>
          </a:p>
          <a:p>
            <a:pPr marL="342900" marR="0" lvl="0" indent="-342900" algn="just"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20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Example: AP1 (</a:t>
            </a:r>
            <a:r>
              <a:rPr kumimoji="0" lang="en-US" altLang="en-US" sz="2000" i="0" u="none" strike="noStrike" cap="none" normalizeH="0" baseline="0" dirty="0" err="1">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Fos</a:t>
            </a:r>
            <a:r>
              <a:rPr kumimoji="0" lang="en-US" altLang="en-US" sz="20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/Jun heterodimer).</a:t>
            </a:r>
          </a:p>
          <a:p>
            <a:pPr marR="0" lvl="0" algn="just" defTabSz="914400" rtl="0" eaLnBrk="0" fontAlgn="base" latinLnBrk="0" hangingPunct="0">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2. Basic Helix-Loop-Helix (</a:t>
            </a:r>
            <a:r>
              <a:rPr kumimoji="0" lang="en-US" altLang="en-US" sz="2000" b="1" i="0" u="none" strike="noStrike" cap="none" normalizeH="0" baseline="0" dirty="0" err="1">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bHLH</a:t>
            </a:r>
            <a:r>
              <a:rPr kumimoji="0" lang="en-US" altLang="en-US" sz="20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a:t>
            </a:r>
          </a:p>
          <a:p>
            <a:pPr marL="342900" marR="0" lvl="0" indent="-342900" algn="just"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20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Structure: Two helices connected by a flexible loop.</a:t>
            </a:r>
          </a:p>
          <a:p>
            <a:pPr marL="342900" marR="0" lvl="0" indent="-342900" algn="just"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20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Mechanism: Loop allows folding; helices mediate dimerization.</a:t>
            </a:r>
          </a:p>
          <a:p>
            <a:pPr marL="342900" marR="0" lvl="0" indent="-342900" algn="just"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20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Example: MYOD1 (Muscle differentiation), MYC (Oncogene).</a:t>
            </a:r>
          </a:p>
          <a:p>
            <a:pPr marR="0" lvl="0" algn="just" defTabSz="914400" rtl="0" eaLnBrk="0" fontAlgn="base" latinLnBrk="0" hangingPunct="0">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3. Beta-Scaffold (Minor Groove Contacts)</a:t>
            </a:r>
          </a:p>
          <a:p>
            <a:pPr marL="342900" marR="0" lvl="0" indent="-342900" algn="just"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20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Mechanism: Distorts/bends DNA by inserting amino acids into the Minor Groove.</a:t>
            </a:r>
          </a:p>
          <a:p>
            <a:pPr marL="342900" marR="0" lvl="0" indent="-342900" algn="just"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20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Example: TBP (TATA-binding protein), SOX factors.</a:t>
            </a:r>
          </a:p>
        </p:txBody>
      </p:sp>
      <p:pic>
        <p:nvPicPr>
          <p:cNvPr id="5" name="Picture 4">
            <a:extLst>
              <a:ext uri="{FF2B5EF4-FFF2-40B4-BE49-F238E27FC236}">
                <a16:creationId xmlns:a16="http://schemas.microsoft.com/office/drawing/2014/main" id="{23AE4935-84BB-2ED8-6C8C-16859967A222}"/>
              </a:ext>
            </a:extLst>
          </p:cNvPr>
          <p:cNvPicPr>
            <a:picLocks noChangeAspect="1"/>
          </p:cNvPicPr>
          <p:nvPr/>
        </p:nvPicPr>
        <p:blipFill rotWithShape="1">
          <a:blip r:embed="rId3"/>
          <a:srcRect l="63661"/>
          <a:stretch/>
        </p:blipFill>
        <p:spPr>
          <a:xfrm>
            <a:off x="8485866" y="1218354"/>
            <a:ext cx="3410162" cy="5178805"/>
          </a:xfrm>
          <a:prstGeom prst="rect">
            <a:avLst/>
          </a:prstGeom>
        </p:spPr>
      </p:pic>
    </p:spTree>
    <p:extLst>
      <p:ext uri="{BB962C8B-B14F-4D97-AF65-F5344CB8AC3E}">
        <p14:creationId xmlns:p14="http://schemas.microsoft.com/office/powerpoint/2010/main" val="36591295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2635A84-5931-D1B3-DAA6-7EB2A6DD0E54}"/>
              </a:ext>
            </a:extLst>
          </p:cNvPr>
          <p:cNvSpPr txBox="1">
            <a:spLocks/>
          </p:cNvSpPr>
          <p:nvPr/>
        </p:nvSpPr>
        <p:spPr>
          <a:xfrm>
            <a:off x="790254" y="256266"/>
            <a:ext cx="10611492" cy="1266572"/>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4400" b="1" dirty="0">
                <a:latin typeface="Calibri Light" panose="020F0302020204030204" pitchFamily="34" charset="0"/>
                <a:ea typeface="Calibri Light" panose="020F0302020204030204" pitchFamily="34" charset="0"/>
                <a:cs typeface="Calibri Light" panose="020F0302020204030204" pitchFamily="34" charset="0"/>
              </a:rPr>
              <a:t>Three main classes of protein–DNA interaction modes of transcription factors</a:t>
            </a:r>
            <a:endParaRPr lang="en-US" sz="4400" b="1" dirty="0">
              <a:latin typeface="Calibri Light" panose="020F0302020204030204" pitchFamily="34" charset="0"/>
              <a:ea typeface="Calibri Light" panose="020F0302020204030204" pitchFamily="34" charset="0"/>
              <a:cs typeface="Calibri Light" panose="020F0302020204030204" pitchFamily="34" charset="0"/>
            </a:endParaRPr>
          </a:p>
        </p:txBody>
      </p:sp>
      <p:pic>
        <p:nvPicPr>
          <p:cNvPr id="10" name="Picture 9">
            <a:extLst>
              <a:ext uri="{FF2B5EF4-FFF2-40B4-BE49-F238E27FC236}">
                <a16:creationId xmlns:a16="http://schemas.microsoft.com/office/drawing/2014/main" id="{BAD306D5-2C12-3795-80C2-0E327F786DFC}"/>
              </a:ext>
            </a:extLst>
          </p:cNvPr>
          <p:cNvPicPr>
            <a:picLocks noChangeAspect="1"/>
          </p:cNvPicPr>
          <p:nvPr/>
        </p:nvPicPr>
        <p:blipFill>
          <a:blip r:embed="rId3"/>
          <a:stretch>
            <a:fillRect/>
          </a:stretch>
        </p:blipFill>
        <p:spPr>
          <a:xfrm>
            <a:off x="681540" y="1673355"/>
            <a:ext cx="7076300" cy="4736180"/>
          </a:xfrm>
          <a:prstGeom prst="rect">
            <a:avLst/>
          </a:prstGeom>
        </p:spPr>
      </p:pic>
      <p:sp>
        <p:nvSpPr>
          <p:cNvPr id="12" name="TextBox 11">
            <a:extLst>
              <a:ext uri="{FF2B5EF4-FFF2-40B4-BE49-F238E27FC236}">
                <a16:creationId xmlns:a16="http://schemas.microsoft.com/office/drawing/2014/main" id="{8893BA09-D67F-7FE1-93A7-E896776B3897}"/>
              </a:ext>
            </a:extLst>
          </p:cNvPr>
          <p:cNvSpPr txBox="1"/>
          <p:nvPr/>
        </p:nvSpPr>
        <p:spPr>
          <a:xfrm>
            <a:off x="8013779" y="1709846"/>
            <a:ext cx="3653339" cy="4202304"/>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GB" dirty="0">
                <a:latin typeface="Calibri Light" panose="020F0302020204030204" pitchFamily="34" charset="0"/>
              </a:rPr>
              <a:t>The DNA interaction of transcription factors is often directed by their mode of dimerization. </a:t>
            </a:r>
          </a:p>
          <a:p>
            <a:pPr marL="285750" indent="-285750" algn="just">
              <a:lnSpc>
                <a:spcPct val="150000"/>
              </a:lnSpc>
              <a:buFont typeface="Arial" panose="020B0604020202020204" pitchFamily="34" charset="0"/>
              <a:buChar char="•"/>
            </a:pPr>
            <a:r>
              <a:rPr lang="en-GB" dirty="0">
                <a:latin typeface="Calibri Light" panose="020F0302020204030204" pitchFamily="34" charset="0"/>
              </a:rPr>
              <a:t>Representatives of the three main groups, leucine zipper a, helix-loop-helix b and β-scaffold factors with minor groove contacts c, are displayed in two different orientations</a:t>
            </a:r>
            <a:endParaRPr lang="en-US" dirty="0">
              <a:latin typeface="Calibri Light" panose="020F0302020204030204" pitchFamily="34" charset="0"/>
            </a:endParaRPr>
          </a:p>
        </p:txBody>
      </p:sp>
    </p:spTree>
    <p:extLst>
      <p:ext uri="{BB962C8B-B14F-4D97-AF65-F5344CB8AC3E}">
        <p14:creationId xmlns:p14="http://schemas.microsoft.com/office/powerpoint/2010/main" val="21637222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2635A84-5931-D1B3-DAA6-7EB2A6DD0E54}"/>
              </a:ext>
            </a:extLst>
          </p:cNvPr>
          <p:cNvSpPr txBox="1">
            <a:spLocks/>
          </p:cNvSpPr>
          <p:nvPr/>
        </p:nvSpPr>
        <p:spPr>
          <a:xfrm>
            <a:off x="556592" y="168317"/>
            <a:ext cx="10611492" cy="83616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5400" b="1" dirty="0">
                <a:latin typeface="Calibri Light" panose="020F0302020204030204" pitchFamily="34" charset="0"/>
                <a:ea typeface="Calibri Light" panose="020F0302020204030204" pitchFamily="34" charset="0"/>
                <a:cs typeface="Calibri Light" panose="020F0302020204030204" pitchFamily="34" charset="0"/>
              </a:rPr>
              <a:t> Sequence logos of key TFBSs</a:t>
            </a:r>
            <a:endParaRPr lang="en-US" sz="5400" b="1" dirty="0">
              <a:latin typeface="Calibri Light" panose="020F0302020204030204" pitchFamily="34" charset="0"/>
              <a:ea typeface="Calibri Light" panose="020F0302020204030204" pitchFamily="34" charset="0"/>
              <a:cs typeface="Calibri Light" panose="020F0302020204030204" pitchFamily="34" charset="0"/>
            </a:endParaRPr>
          </a:p>
        </p:txBody>
      </p:sp>
      <p:pic>
        <p:nvPicPr>
          <p:cNvPr id="3" name="Picture 2">
            <a:extLst>
              <a:ext uri="{FF2B5EF4-FFF2-40B4-BE49-F238E27FC236}">
                <a16:creationId xmlns:a16="http://schemas.microsoft.com/office/drawing/2014/main" id="{462089C1-7378-C659-A545-F18864826ABE}"/>
              </a:ext>
            </a:extLst>
          </p:cNvPr>
          <p:cNvPicPr>
            <a:picLocks noChangeAspect="1"/>
          </p:cNvPicPr>
          <p:nvPr/>
        </p:nvPicPr>
        <p:blipFill>
          <a:blip r:embed="rId3"/>
          <a:stretch>
            <a:fillRect/>
          </a:stretch>
        </p:blipFill>
        <p:spPr>
          <a:xfrm>
            <a:off x="1481505" y="1273016"/>
            <a:ext cx="2920078" cy="4936013"/>
          </a:xfrm>
          <a:prstGeom prst="rect">
            <a:avLst/>
          </a:prstGeom>
        </p:spPr>
      </p:pic>
      <p:pic>
        <p:nvPicPr>
          <p:cNvPr id="8" name="Picture 7">
            <a:extLst>
              <a:ext uri="{FF2B5EF4-FFF2-40B4-BE49-F238E27FC236}">
                <a16:creationId xmlns:a16="http://schemas.microsoft.com/office/drawing/2014/main" id="{08E17363-AB11-8894-1EBD-B02DCA9BDB9A}"/>
              </a:ext>
            </a:extLst>
          </p:cNvPr>
          <p:cNvPicPr>
            <a:picLocks noChangeAspect="1"/>
          </p:cNvPicPr>
          <p:nvPr/>
        </p:nvPicPr>
        <p:blipFill rotWithShape="1">
          <a:blip r:embed="rId4"/>
          <a:srcRect t="2160"/>
          <a:stretch/>
        </p:blipFill>
        <p:spPr>
          <a:xfrm>
            <a:off x="4880683" y="1263853"/>
            <a:ext cx="5870798" cy="4938377"/>
          </a:xfrm>
          <a:prstGeom prst="rect">
            <a:avLst/>
          </a:prstGeom>
        </p:spPr>
      </p:pic>
    </p:spTree>
    <p:extLst>
      <p:ext uri="{BB962C8B-B14F-4D97-AF65-F5344CB8AC3E}">
        <p14:creationId xmlns:p14="http://schemas.microsoft.com/office/powerpoint/2010/main" val="26767394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7F525-3D74-91C7-A384-E78D6EF8B91B}"/>
              </a:ext>
            </a:extLst>
          </p:cNvPr>
          <p:cNvSpPr>
            <a:spLocks noGrp="1"/>
          </p:cNvSpPr>
          <p:nvPr>
            <p:ph type="title"/>
          </p:nvPr>
        </p:nvSpPr>
        <p:spPr>
          <a:xfrm>
            <a:off x="838200" y="2625247"/>
            <a:ext cx="10515600" cy="1009350"/>
          </a:xfrm>
        </p:spPr>
        <p:txBody>
          <a:bodyPr>
            <a:noAutofit/>
          </a:bodyPr>
          <a:lstStyle/>
          <a:p>
            <a:pPr algn="ctr"/>
            <a:r>
              <a:rPr lang="en-US" sz="4800" b="1" dirty="0" err="1"/>
              <a:t>ChIP</a:t>
            </a:r>
            <a:r>
              <a:rPr lang="en-US" sz="4800" b="1" dirty="0"/>
              <a:t>-seq for Histone modifications, TFBSs and </a:t>
            </a:r>
            <a:r>
              <a:rPr lang="en-US" sz="4800" b="1" dirty="0" err="1"/>
              <a:t>DNAaseI</a:t>
            </a:r>
            <a:r>
              <a:rPr lang="en-US" sz="4800" b="1" dirty="0"/>
              <a:t> Hypersensitivity</a:t>
            </a:r>
          </a:p>
        </p:txBody>
      </p:sp>
    </p:spTree>
    <p:extLst>
      <p:ext uri="{BB962C8B-B14F-4D97-AF65-F5344CB8AC3E}">
        <p14:creationId xmlns:p14="http://schemas.microsoft.com/office/powerpoint/2010/main" val="8534895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8F501983-5480-4FE1-05BE-7AFB7DB3FC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764" y="437071"/>
            <a:ext cx="7815534" cy="5861651"/>
          </a:xfrm>
          <a:prstGeom prst="rect">
            <a:avLst/>
          </a:prstGeom>
          <a:noFill/>
          <a:extLst>
            <a:ext uri="{909E8E84-426E-40DD-AFC4-6F175D3DCCD1}">
              <a14:hiddenFill xmlns:a14="http://schemas.microsoft.com/office/drawing/2010/main">
                <a:solidFill>
                  <a:srgbClr val="FFFFFF"/>
                </a:solidFill>
              </a14:hiddenFill>
            </a:ext>
          </a:extLst>
        </p:spPr>
      </p:pic>
      <p:pic>
        <p:nvPicPr>
          <p:cNvPr id="9218" name="Picture 2" descr="ChIP-Seq Analysis workflow">
            <a:extLst>
              <a:ext uri="{FF2B5EF4-FFF2-40B4-BE49-F238E27FC236}">
                <a16:creationId xmlns:a16="http://schemas.microsoft.com/office/drawing/2014/main" id="{9D66E1B5-0B89-1510-1D61-281C5DDBFE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99280" y="437071"/>
            <a:ext cx="3733056" cy="499253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5813D94-AF81-3FF1-03EE-1C601AFCAD68}"/>
              </a:ext>
            </a:extLst>
          </p:cNvPr>
          <p:cNvSpPr txBox="1"/>
          <p:nvPr/>
        </p:nvSpPr>
        <p:spPr>
          <a:xfrm>
            <a:off x="8053845" y="5560613"/>
            <a:ext cx="3733055" cy="600164"/>
          </a:xfrm>
          <a:prstGeom prst="rect">
            <a:avLst/>
          </a:prstGeom>
          <a:noFill/>
        </p:spPr>
        <p:txBody>
          <a:bodyPr wrap="square">
            <a:spAutoFit/>
          </a:bodyPr>
          <a:lstStyle/>
          <a:p>
            <a:pPr algn="just"/>
            <a:r>
              <a:rPr lang="en-US" sz="1100" b="1" i="0" dirty="0">
                <a:effectLst/>
                <a:latin typeface="Calibri Light" panose="020F0302020204030204" pitchFamily="34" charset="0"/>
              </a:rPr>
              <a:t>Figure</a:t>
            </a:r>
            <a:r>
              <a:rPr lang="en-US" sz="1100" b="0" i="0" dirty="0">
                <a:effectLst/>
                <a:latin typeface="Calibri Light" panose="020F0302020204030204" pitchFamily="34" charset="0"/>
              </a:rPr>
              <a:t> from </a:t>
            </a:r>
            <a:r>
              <a:rPr lang="en-US" sz="1100" b="0" i="0" dirty="0" err="1">
                <a:effectLst/>
                <a:latin typeface="Calibri Light" panose="020F0302020204030204" pitchFamily="34" charset="0"/>
              </a:rPr>
              <a:t>Szalkowski</a:t>
            </a:r>
            <a:r>
              <a:rPr lang="en-US" sz="1100" b="0" i="0" dirty="0">
                <a:effectLst/>
                <a:latin typeface="Calibri Light" panose="020F0302020204030204" pitchFamily="34" charset="0"/>
              </a:rPr>
              <a:t>, A.M, and Schmid, C.D.(2010). </a:t>
            </a:r>
            <a:r>
              <a:rPr lang="en-US" sz="1100" b="0" i="1" dirty="0">
                <a:effectLst/>
                <a:latin typeface="Calibri Light" panose="020F0302020204030204" pitchFamily="34" charset="0"/>
              </a:rPr>
              <a:t>Rapid innovation in </a:t>
            </a:r>
            <a:r>
              <a:rPr lang="en-US" sz="1100" b="0" i="1" dirty="0" err="1">
                <a:effectLst/>
                <a:latin typeface="Calibri Light" panose="020F0302020204030204" pitchFamily="34" charset="0"/>
              </a:rPr>
              <a:t>ChIP</a:t>
            </a:r>
            <a:r>
              <a:rPr lang="en-US" sz="1100" b="0" i="1" dirty="0">
                <a:effectLst/>
                <a:latin typeface="Calibri Light" panose="020F0302020204030204" pitchFamily="34" charset="0"/>
              </a:rPr>
              <a:t>-seq peak-calling algorithms is outdistancing </a:t>
            </a:r>
            <a:r>
              <a:rPr lang="en-US" sz="1100" b="0" i="1" dirty="0" err="1">
                <a:effectLst/>
                <a:latin typeface="Calibri Light" panose="020F0302020204030204" pitchFamily="34" charset="0"/>
              </a:rPr>
              <a:t>banchmarking</a:t>
            </a:r>
            <a:r>
              <a:rPr lang="en-US" sz="1100" b="0" i="1" dirty="0">
                <a:effectLst/>
                <a:latin typeface="Calibri Light" panose="020F0302020204030204" pitchFamily="34" charset="0"/>
              </a:rPr>
              <a:t> efforts. </a:t>
            </a:r>
            <a:r>
              <a:rPr lang="en-US" sz="1100" b="0" i="0" dirty="0">
                <a:effectLst/>
                <a:latin typeface="Calibri Light" panose="020F0302020204030204" pitchFamily="34" charset="0"/>
              </a:rPr>
              <a:t>Briefings in </a:t>
            </a:r>
            <a:r>
              <a:rPr lang="en-US" sz="1100" b="0" i="0" dirty="0" err="1">
                <a:effectLst/>
                <a:latin typeface="Calibri Light" panose="020F0302020204030204" pitchFamily="34" charset="0"/>
              </a:rPr>
              <a:t>Bioinfomatics</a:t>
            </a:r>
            <a:r>
              <a:rPr lang="en-US" sz="1100" b="0" i="0" dirty="0">
                <a:effectLst/>
                <a:latin typeface="Calibri Light" panose="020F0302020204030204" pitchFamily="34" charset="0"/>
              </a:rPr>
              <a:t>.</a:t>
            </a:r>
            <a:endParaRPr lang="en-US" sz="1100" dirty="0">
              <a:latin typeface="Calibri Light" panose="020F0302020204030204" pitchFamily="34" charset="0"/>
            </a:endParaRPr>
          </a:p>
        </p:txBody>
      </p:sp>
    </p:spTree>
    <p:extLst>
      <p:ext uri="{BB962C8B-B14F-4D97-AF65-F5344CB8AC3E}">
        <p14:creationId xmlns:p14="http://schemas.microsoft.com/office/powerpoint/2010/main" val="26298160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Fig. 1">
            <a:extLst>
              <a:ext uri="{FF2B5EF4-FFF2-40B4-BE49-F238E27FC236}">
                <a16:creationId xmlns:a16="http://schemas.microsoft.com/office/drawing/2014/main" id="{2B6BC2BA-17E5-7658-2BE3-948F769894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88" y="11356"/>
            <a:ext cx="7561263"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181AB09-75B4-FF46-8FED-78BF7798843C}"/>
              </a:ext>
            </a:extLst>
          </p:cNvPr>
          <p:cNvSpPr txBox="1"/>
          <p:nvPr/>
        </p:nvSpPr>
        <p:spPr>
          <a:xfrm>
            <a:off x="5825750" y="6526315"/>
            <a:ext cx="6096946" cy="261610"/>
          </a:xfrm>
          <a:prstGeom prst="rect">
            <a:avLst/>
          </a:prstGeom>
          <a:noFill/>
        </p:spPr>
        <p:txBody>
          <a:bodyPr wrap="square">
            <a:spAutoFit/>
          </a:bodyPr>
          <a:lstStyle/>
          <a:p>
            <a:pPr algn="r"/>
            <a:r>
              <a:rPr lang="en-US" sz="1050" dirty="0">
                <a:latin typeface="Calibri Light" panose="020F0302020204030204" pitchFamily="34" charset="0"/>
              </a:rPr>
              <a:t>https://www.nature.com/articles/s41467-019-13753-7/figures/1</a:t>
            </a:r>
          </a:p>
        </p:txBody>
      </p:sp>
      <p:pic>
        <p:nvPicPr>
          <p:cNvPr id="4100" name="Picture 4">
            <a:extLst>
              <a:ext uri="{FF2B5EF4-FFF2-40B4-BE49-F238E27FC236}">
                <a16:creationId xmlns:a16="http://schemas.microsoft.com/office/drawing/2014/main" id="{63DEABB5-69BE-A1E6-5BA7-FEDDE0CD63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23500" y="1401772"/>
            <a:ext cx="4271611" cy="215927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ECD8CFE9-F808-7822-58FA-A4087ED3DA67}"/>
              </a:ext>
            </a:extLst>
          </p:cNvPr>
          <p:cNvSpPr txBox="1"/>
          <p:nvPr/>
        </p:nvSpPr>
        <p:spPr>
          <a:xfrm>
            <a:off x="5842801" y="3711477"/>
            <a:ext cx="6096946" cy="369332"/>
          </a:xfrm>
          <a:prstGeom prst="rect">
            <a:avLst/>
          </a:prstGeom>
          <a:noFill/>
        </p:spPr>
        <p:txBody>
          <a:bodyPr wrap="square">
            <a:spAutoFit/>
          </a:bodyPr>
          <a:lstStyle/>
          <a:p>
            <a:pPr algn="r"/>
            <a:r>
              <a:rPr lang="en-US" b="0" i="0" u="none" strike="noStrike" dirty="0">
                <a:effectLst/>
                <a:latin typeface="Calibri Light" panose="020F0302020204030204" pitchFamily="34" charset="0"/>
                <a:hlinkClick r:id="rId4" tooltip="Persistent link using digital object identifier">
                  <a:extLst>
                    <a:ext uri="{A12FA001-AC4F-418D-AE19-62706E023703}">
                      <ahyp:hlinkClr xmlns:ahyp="http://schemas.microsoft.com/office/drawing/2018/hyperlinkcolor" val="tx"/>
                    </a:ext>
                  </a:extLst>
                </a:hlinkClick>
              </a:rPr>
              <a:t>10.1016/j.gdata.2014.09.012</a:t>
            </a:r>
            <a:endParaRPr lang="en-US" dirty="0">
              <a:latin typeface="Calibri Light" panose="020F0302020204030204" pitchFamily="34" charset="0"/>
            </a:endParaRPr>
          </a:p>
        </p:txBody>
      </p:sp>
    </p:spTree>
    <p:extLst>
      <p:ext uri="{BB962C8B-B14F-4D97-AF65-F5344CB8AC3E}">
        <p14:creationId xmlns:p14="http://schemas.microsoft.com/office/powerpoint/2010/main" val="4837557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chipseq_overview">
            <a:extLst>
              <a:ext uri="{FF2B5EF4-FFF2-40B4-BE49-F238E27FC236}">
                <a16:creationId xmlns:a16="http://schemas.microsoft.com/office/drawing/2014/main" id="{E337FA1C-F3CB-D366-EA00-7F663C6733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35499" y="175344"/>
            <a:ext cx="4875901" cy="6603364"/>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Chip-Seq analysis: A Short Introduction. | by iqra sajjad | Medium">
            <a:extLst>
              <a:ext uri="{FF2B5EF4-FFF2-40B4-BE49-F238E27FC236}">
                <a16:creationId xmlns:a16="http://schemas.microsoft.com/office/drawing/2014/main" id="{ADC93309-C20C-F5EE-B0EE-7A8F9A4207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6321" y="858060"/>
            <a:ext cx="5394340" cy="243147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3870FAF-3016-5F00-4613-67C2B7035593}"/>
              </a:ext>
            </a:extLst>
          </p:cNvPr>
          <p:cNvSpPr txBox="1"/>
          <p:nvPr/>
        </p:nvSpPr>
        <p:spPr>
          <a:xfrm>
            <a:off x="462503" y="6368000"/>
            <a:ext cx="5869286" cy="261610"/>
          </a:xfrm>
          <a:prstGeom prst="rect">
            <a:avLst/>
          </a:prstGeom>
          <a:noFill/>
        </p:spPr>
        <p:txBody>
          <a:bodyPr wrap="square">
            <a:spAutoFit/>
          </a:bodyPr>
          <a:lstStyle/>
          <a:p>
            <a:r>
              <a:rPr lang="en-US" sz="1100" dirty="0">
                <a:latin typeface="Calibri Light" panose="020F0302020204030204" pitchFamily="34" charset="0"/>
              </a:rPr>
              <a:t>https://hbctraining.github.io/Intro-to-ChIPseq/lessons/01_Intro_chipseq_data_organization.html</a:t>
            </a:r>
          </a:p>
        </p:txBody>
      </p:sp>
    </p:spTree>
    <p:extLst>
      <p:ext uri="{BB962C8B-B14F-4D97-AF65-F5344CB8AC3E}">
        <p14:creationId xmlns:p14="http://schemas.microsoft.com/office/powerpoint/2010/main" val="16016892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A diagram illustrating the principles of Chromatin Immunoprecipitation Sequencing (ChIP-sequencing), where the location of binding by a specific protein to DNA is investigated. DNA from the nucleus is taken, and cross-linked to protein DNA. This is then sheared by sonication, and the cells are lysed. Bead-attached antibodies are added to immunoprecipitate the target protein. A large red callout says input data is NOT going through the Immunoprecipitation step. The resulting beads with bound protein are sequenced and mapped to the genome. Another bred text says millions of reads to map.">
            <a:extLst>
              <a:ext uri="{FF2B5EF4-FFF2-40B4-BE49-F238E27FC236}">
                <a16:creationId xmlns:a16="http://schemas.microsoft.com/office/drawing/2014/main" id="{0A30743C-234D-1422-668E-4AD93BF041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793" y="66383"/>
            <a:ext cx="10666413" cy="666843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7C2772C-60BB-9C5A-5C5C-5B1888A4A481}"/>
              </a:ext>
            </a:extLst>
          </p:cNvPr>
          <p:cNvSpPr txBox="1"/>
          <p:nvPr/>
        </p:nvSpPr>
        <p:spPr>
          <a:xfrm>
            <a:off x="5333205" y="6442343"/>
            <a:ext cx="6582749" cy="230832"/>
          </a:xfrm>
          <a:prstGeom prst="rect">
            <a:avLst/>
          </a:prstGeom>
          <a:noFill/>
        </p:spPr>
        <p:txBody>
          <a:bodyPr wrap="square">
            <a:spAutoFit/>
          </a:bodyPr>
          <a:lstStyle/>
          <a:p>
            <a:r>
              <a:rPr lang="en-US" sz="900" dirty="0">
                <a:latin typeface="Calibri Light" panose="020F0302020204030204" pitchFamily="34" charset="0"/>
              </a:rPr>
              <a:t>https://training.galaxyproject.org/training-material/topics/epigenetics/tutorials/formation_of_super-structures_on_xi/slides-plain.html</a:t>
            </a:r>
          </a:p>
        </p:txBody>
      </p:sp>
    </p:spTree>
    <p:extLst>
      <p:ext uri="{BB962C8B-B14F-4D97-AF65-F5344CB8AC3E}">
        <p14:creationId xmlns:p14="http://schemas.microsoft.com/office/powerpoint/2010/main" val="22743545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7C2772C-60BB-9C5A-5C5C-5B1888A4A481}"/>
              </a:ext>
            </a:extLst>
          </p:cNvPr>
          <p:cNvSpPr txBox="1"/>
          <p:nvPr/>
        </p:nvSpPr>
        <p:spPr>
          <a:xfrm>
            <a:off x="3072611" y="6442343"/>
            <a:ext cx="8843343" cy="230832"/>
          </a:xfrm>
          <a:prstGeom prst="rect">
            <a:avLst/>
          </a:prstGeom>
          <a:noFill/>
        </p:spPr>
        <p:txBody>
          <a:bodyPr wrap="square">
            <a:spAutoFit/>
          </a:bodyPr>
          <a:lstStyle/>
          <a:p>
            <a:pPr algn="r"/>
            <a:r>
              <a:rPr lang="en-US" sz="900" dirty="0">
                <a:latin typeface="Calibri Light" panose="020F0302020204030204" pitchFamily="34" charset="0"/>
              </a:rPr>
              <a:t>https://training.galaxyproject.org/training-material/topics/epigenetics/tutorials/formation_of_super-structures_on_xi/slides-plain.html</a:t>
            </a:r>
          </a:p>
        </p:txBody>
      </p:sp>
      <p:pic>
        <p:nvPicPr>
          <p:cNvPr id="3" name="Picture 2">
            <a:extLst>
              <a:ext uri="{FF2B5EF4-FFF2-40B4-BE49-F238E27FC236}">
                <a16:creationId xmlns:a16="http://schemas.microsoft.com/office/drawing/2014/main" id="{B4B8BD89-E1BB-FEE2-BD0A-E166EFB0390F}"/>
              </a:ext>
            </a:extLst>
          </p:cNvPr>
          <p:cNvPicPr>
            <a:picLocks noChangeAspect="1"/>
          </p:cNvPicPr>
          <p:nvPr/>
        </p:nvPicPr>
        <p:blipFill>
          <a:blip r:embed="rId2"/>
          <a:stretch>
            <a:fillRect/>
          </a:stretch>
        </p:blipFill>
        <p:spPr>
          <a:xfrm>
            <a:off x="86264" y="538149"/>
            <a:ext cx="12036725" cy="4965068"/>
          </a:xfrm>
          <a:prstGeom prst="rect">
            <a:avLst/>
          </a:prstGeom>
        </p:spPr>
      </p:pic>
    </p:spTree>
    <p:extLst>
      <p:ext uri="{BB962C8B-B14F-4D97-AF65-F5344CB8AC3E}">
        <p14:creationId xmlns:p14="http://schemas.microsoft.com/office/powerpoint/2010/main" val="33728808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59999-E94E-82B0-EDC1-AD978A4C1AC5}"/>
              </a:ext>
            </a:extLst>
          </p:cNvPr>
          <p:cNvSpPr>
            <a:spLocks noGrp="1"/>
          </p:cNvSpPr>
          <p:nvPr>
            <p:ph type="title"/>
          </p:nvPr>
        </p:nvSpPr>
        <p:spPr>
          <a:xfrm>
            <a:off x="838200" y="365125"/>
            <a:ext cx="10515600" cy="681547"/>
          </a:xfrm>
        </p:spPr>
        <p:txBody>
          <a:bodyPr>
            <a:noAutofit/>
          </a:bodyPr>
          <a:lstStyle/>
          <a:p>
            <a:r>
              <a:rPr lang="en-US" sz="2400" dirty="0" err="1"/>
              <a:t>ChIP</a:t>
            </a:r>
            <a:r>
              <a:rPr lang="en-US" sz="2400" dirty="0"/>
              <a:t> profiles: </a:t>
            </a:r>
            <a:r>
              <a:rPr lang="en-GB" sz="2400" dirty="0"/>
              <a:t>Examples of the profiles generated by chromatin immunoprecipitation</a:t>
            </a:r>
            <a:endParaRPr lang="en-US" sz="2400" dirty="0"/>
          </a:p>
        </p:txBody>
      </p:sp>
      <p:pic>
        <p:nvPicPr>
          <p:cNvPr id="5" name="Content Placeholder 4">
            <a:extLst>
              <a:ext uri="{FF2B5EF4-FFF2-40B4-BE49-F238E27FC236}">
                <a16:creationId xmlns:a16="http://schemas.microsoft.com/office/drawing/2014/main" id="{F9916819-353A-33C7-BA9F-375560F8A4C2}"/>
              </a:ext>
            </a:extLst>
          </p:cNvPr>
          <p:cNvPicPr>
            <a:picLocks noGrp="1" noChangeAspect="1"/>
          </p:cNvPicPr>
          <p:nvPr>
            <p:ph idx="1"/>
          </p:nvPr>
        </p:nvPicPr>
        <p:blipFill>
          <a:blip r:embed="rId2"/>
          <a:stretch>
            <a:fillRect/>
          </a:stretch>
        </p:blipFill>
        <p:spPr>
          <a:xfrm>
            <a:off x="2018583" y="1079928"/>
            <a:ext cx="7746602" cy="5338035"/>
          </a:xfrm>
        </p:spPr>
      </p:pic>
      <p:sp>
        <p:nvSpPr>
          <p:cNvPr id="7" name="TextBox 6">
            <a:extLst>
              <a:ext uri="{FF2B5EF4-FFF2-40B4-BE49-F238E27FC236}">
                <a16:creationId xmlns:a16="http://schemas.microsoft.com/office/drawing/2014/main" id="{035AB159-072D-9820-7E17-6A488E4D1A92}"/>
              </a:ext>
            </a:extLst>
          </p:cNvPr>
          <p:cNvSpPr txBox="1"/>
          <p:nvPr/>
        </p:nvSpPr>
        <p:spPr>
          <a:xfrm>
            <a:off x="8473819" y="6480920"/>
            <a:ext cx="3631917" cy="276999"/>
          </a:xfrm>
          <a:prstGeom prst="rect">
            <a:avLst/>
          </a:prstGeom>
          <a:noFill/>
        </p:spPr>
        <p:txBody>
          <a:bodyPr wrap="square">
            <a:spAutoFit/>
          </a:bodyPr>
          <a:lstStyle/>
          <a:p>
            <a:r>
              <a:rPr lang="en-US" sz="1200" dirty="0">
                <a:latin typeface="Calibri Light" panose="020F0302020204030204" pitchFamily="34" charset="0"/>
              </a:rPr>
              <a:t>https://www.nature.com/articles/nrg2641</a:t>
            </a:r>
          </a:p>
        </p:txBody>
      </p:sp>
    </p:spTree>
    <p:extLst>
      <p:ext uri="{BB962C8B-B14F-4D97-AF65-F5344CB8AC3E}">
        <p14:creationId xmlns:p14="http://schemas.microsoft.com/office/powerpoint/2010/main" val="22090935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59999-E94E-82B0-EDC1-AD978A4C1AC5}"/>
              </a:ext>
            </a:extLst>
          </p:cNvPr>
          <p:cNvSpPr>
            <a:spLocks noGrp="1"/>
          </p:cNvSpPr>
          <p:nvPr>
            <p:ph type="title"/>
          </p:nvPr>
        </p:nvSpPr>
        <p:spPr>
          <a:xfrm>
            <a:off x="838200" y="234493"/>
            <a:ext cx="10515600" cy="878690"/>
          </a:xfrm>
        </p:spPr>
        <p:txBody>
          <a:bodyPr>
            <a:noAutofit/>
          </a:bodyPr>
          <a:lstStyle/>
          <a:p>
            <a:pPr algn="ctr"/>
            <a:r>
              <a:rPr lang="en-US" sz="2800" dirty="0" err="1"/>
              <a:t>ChIP</a:t>
            </a:r>
            <a:r>
              <a:rPr lang="en-US" sz="2800" dirty="0"/>
              <a:t> profiles: </a:t>
            </a:r>
            <a:r>
              <a:rPr lang="en-GB" sz="2800" dirty="0"/>
              <a:t>Examples of different types of </a:t>
            </a:r>
            <a:r>
              <a:rPr lang="en-GB" sz="2800" dirty="0" err="1"/>
              <a:t>ChIP</a:t>
            </a:r>
            <a:r>
              <a:rPr lang="en-GB" sz="2800" dirty="0"/>
              <a:t>–</a:t>
            </a:r>
            <a:r>
              <a:rPr lang="en-GB" sz="2800" dirty="0" err="1"/>
              <a:t>seq</a:t>
            </a:r>
            <a:r>
              <a:rPr lang="en-GB" sz="2800" dirty="0"/>
              <a:t> tag density profiles in human T cells</a:t>
            </a:r>
            <a:endParaRPr lang="en-US" sz="2800" dirty="0"/>
          </a:p>
        </p:txBody>
      </p:sp>
      <p:sp>
        <p:nvSpPr>
          <p:cNvPr id="7" name="TextBox 6">
            <a:extLst>
              <a:ext uri="{FF2B5EF4-FFF2-40B4-BE49-F238E27FC236}">
                <a16:creationId xmlns:a16="http://schemas.microsoft.com/office/drawing/2014/main" id="{035AB159-072D-9820-7E17-6A488E4D1A92}"/>
              </a:ext>
            </a:extLst>
          </p:cNvPr>
          <p:cNvSpPr txBox="1"/>
          <p:nvPr/>
        </p:nvSpPr>
        <p:spPr>
          <a:xfrm>
            <a:off x="8723717" y="6480920"/>
            <a:ext cx="3382019" cy="276999"/>
          </a:xfrm>
          <a:prstGeom prst="rect">
            <a:avLst/>
          </a:prstGeom>
          <a:noFill/>
        </p:spPr>
        <p:txBody>
          <a:bodyPr wrap="square">
            <a:spAutoFit/>
          </a:bodyPr>
          <a:lstStyle/>
          <a:p>
            <a:r>
              <a:rPr lang="en-US" sz="1200" dirty="0">
                <a:latin typeface="Calibri Light" panose="020F0302020204030204" pitchFamily="34" charset="0"/>
              </a:rPr>
              <a:t>https://www.nature.com/articles/nrg2641</a:t>
            </a:r>
          </a:p>
        </p:txBody>
      </p:sp>
      <p:pic>
        <p:nvPicPr>
          <p:cNvPr id="8" name="Picture 7">
            <a:extLst>
              <a:ext uri="{FF2B5EF4-FFF2-40B4-BE49-F238E27FC236}">
                <a16:creationId xmlns:a16="http://schemas.microsoft.com/office/drawing/2014/main" id="{95D827AA-8D54-AEAA-2209-A0FB1E28DD97}"/>
              </a:ext>
            </a:extLst>
          </p:cNvPr>
          <p:cNvPicPr>
            <a:picLocks noChangeAspect="1"/>
          </p:cNvPicPr>
          <p:nvPr/>
        </p:nvPicPr>
        <p:blipFill>
          <a:blip r:embed="rId2"/>
          <a:stretch>
            <a:fillRect/>
          </a:stretch>
        </p:blipFill>
        <p:spPr>
          <a:xfrm>
            <a:off x="2849508" y="1435079"/>
            <a:ext cx="5552619" cy="4893834"/>
          </a:xfrm>
          <a:prstGeom prst="rect">
            <a:avLst/>
          </a:prstGeom>
        </p:spPr>
      </p:pic>
    </p:spTree>
    <p:extLst>
      <p:ext uri="{BB962C8B-B14F-4D97-AF65-F5344CB8AC3E}">
        <p14:creationId xmlns:p14="http://schemas.microsoft.com/office/powerpoint/2010/main" val="30342942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A8A8C-B589-587F-E6C8-639DC0586C33}"/>
              </a:ext>
            </a:extLst>
          </p:cNvPr>
          <p:cNvSpPr>
            <a:spLocks noGrp="1"/>
          </p:cNvSpPr>
          <p:nvPr>
            <p:ph type="title"/>
          </p:nvPr>
        </p:nvSpPr>
        <p:spPr>
          <a:xfrm>
            <a:off x="688676" y="365125"/>
            <a:ext cx="10515600" cy="887486"/>
          </a:xfrm>
        </p:spPr>
        <p:txBody>
          <a:bodyPr/>
          <a:lstStyle/>
          <a:p>
            <a:r>
              <a:rPr lang="en-GB" dirty="0"/>
              <a:t>Types of </a:t>
            </a:r>
            <a:r>
              <a:rPr lang="en-GB" dirty="0" err="1"/>
              <a:t>ChIP-seq</a:t>
            </a:r>
            <a:endParaRPr lang="en-US" dirty="0"/>
          </a:p>
        </p:txBody>
      </p:sp>
      <p:pic>
        <p:nvPicPr>
          <p:cNvPr id="14338" name="Picture 2" descr="A complicated figure showing a set of nucleosomes at the top with the following regions appearing to be exposed to sequencing: enhancer, promoter, gene, and tss regions. several charts appear below, chromatin accessibility showing broad peaks around the enhancer, promoter, and gene. the transcription factor chart shows peaks around enhancer and promoter. A line labelled TFBS shows sequences in repressive state (the nucleosome regions), enhancer, and promoter. The PollI track shows peaks below promoter and gene. Then several organisms labelled things like H3K4me1, H3K36me3 show various peaks along the regions of repressive state, enhancer, promoter, transcribed state (the gene) and poised state (the transcription start site.).">
            <a:extLst>
              <a:ext uri="{FF2B5EF4-FFF2-40B4-BE49-F238E27FC236}">
                <a16:creationId xmlns:a16="http://schemas.microsoft.com/office/drawing/2014/main" id="{BE82099F-52F1-72F9-5D96-75571058CE2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80714" y="1252611"/>
            <a:ext cx="9515555" cy="505513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197DAB1-F2ED-CB81-FD68-BF6072E75638}"/>
              </a:ext>
            </a:extLst>
          </p:cNvPr>
          <p:cNvSpPr txBox="1"/>
          <p:nvPr/>
        </p:nvSpPr>
        <p:spPr>
          <a:xfrm>
            <a:off x="2582174" y="6492875"/>
            <a:ext cx="9132497" cy="276999"/>
          </a:xfrm>
          <a:prstGeom prst="rect">
            <a:avLst/>
          </a:prstGeom>
          <a:noFill/>
        </p:spPr>
        <p:txBody>
          <a:bodyPr wrap="square">
            <a:spAutoFit/>
          </a:bodyPr>
          <a:lstStyle/>
          <a:p>
            <a:pPr algn="r"/>
            <a:r>
              <a:rPr lang="en-US" sz="1200" dirty="0">
                <a:latin typeface="Calibri Light" panose="020F0302020204030204" pitchFamily="34" charset="0"/>
              </a:rPr>
              <a:t>https://training.galaxyproject.org/training-material/topics/epigenetics/tutorials/formation_of_super-structures_on_xi/slides-plain.html</a:t>
            </a:r>
          </a:p>
        </p:txBody>
      </p:sp>
    </p:spTree>
    <p:extLst>
      <p:ext uri="{BB962C8B-B14F-4D97-AF65-F5344CB8AC3E}">
        <p14:creationId xmlns:p14="http://schemas.microsoft.com/office/powerpoint/2010/main" val="6532965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A8A8C-B589-587F-E6C8-639DC0586C33}"/>
              </a:ext>
            </a:extLst>
          </p:cNvPr>
          <p:cNvSpPr>
            <a:spLocks noGrp="1"/>
          </p:cNvSpPr>
          <p:nvPr>
            <p:ph type="title"/>
          </p:nvPr>
        </p:nvSpPr>
        <p:spPr>
          <a:xfrm>
            <a:off x="688676" y="365125"/>
            <a:ext cx="10515600" cy="887486"/>
          </a:xfrm>
        </p:spPr>
        <p:txBody>
          <a:bodyPr>
            <a:normAutofit/>
          </a:bodyPr>
          <a:lstStyle/>
          <a:p>
            <a:pPr algn="ctr"/>
            <a:r>
              <a:rPr lang="en-GB" dirty="0"/>
              <a:t>Peak types and locations of histone methylation </a:t>
            </a:r>
            <a:endParaRPr lang="en-US" dirty="0"/>
          </a:p>
        </p:txBody>
      </p:sp>
      <p:sp>
        <p:nvSpPr>
          <p:cNvPr id="5" name="TextBox 4">
            <a:extLst>
              <a:ext uri="{FF2B5EF4-FFF2-40B4-BE49-F238E27FC236}">
                <a16:creationId xmlns:a16="http://schemas.microsoft.com/office/drawing/2014/main" id="{C197DAB1-F2ED-CB81-FD68-BF6072E75638}"/>
              </a:ext>
            </a:extLst>
          </p:cNvPr>
          <p:cNvSpPr txBox="1"/>
          <p:nvPr/>
        </p:nvSpPr>
        <p:spPr>
          <a:xfrm>
            <a:off x="414069" y="6435425"/>
            <a:ext cx="3618378" cy="276999"/>
          </a:xfrm>
          <a:prstGeom prst="rect">
            <a:avLst/>
          </a:prstGeom>
          <a:noFill/>
        </p:spPr>
        <p:txBody>
          <a:bodyPr wrap="square">
            <a:spAutoFit/>
          </a:bodyPr>
          <a:lstStyle/>
          <a:p>
            <a:pPr algn="r"/>
            <a:r>
              <a:rPr lang="en-US" sz="1200" dirty="0">
                <a:latin typeface="Calibri Light" panose="020F0302020204030204" pitchFamily="34" charset="0"/>
              </a:rPr>
              <a:t>https://www.nature.com/articles/jhg201366</a:t>
            </a:r>
          </a:p>
        </p:txBody>
      </p:sp>
      <p:pic>
        <p:nvPicPr>
          <p:cNvPr id="15362" name="Picture 2" descr="Figure 3">
            <a:extLst>
              <a:ext uri="{FF2B5EF4-FFF2-40B4-BE49-F238E27FC236}">
                <a16:creationId xmlns:a16="http://schemas.microsoft.com/office/drawing/2014/main" id="{D09745F0-7C1B-35CC-51C8-AD6C537F1C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09712" y="1618591"/>
            <a:ext cx="4508515" cy="4351338"/>
          </a:xfrm>
          <a:prstGeom prst="rect">
            <a:avLst/>
          </a:prstGeom>
          <a:noFill/>
          <a:extLst>
            <a:ext uri="{909E8E84-426E-40DD-AFC4-6F175D3DCCD1}">
              <a14:hiddenFill xmlns:a14="http://schemas.microsoft.com/office/drawing/2010/main">
                <a:solidFill>
                  <a:srgbClr val="FFFFFF"/>
                </a:solidFill>
              </a14:hiddenFill>
            </a:ext>
          </a:extLst>
        </p:spPr>
      </p:pic>
      <p:pic>
        <p:nvPicPr>
          <p:cNvPr id="15364" name="Picture 4" descr="The distribution of histone modifications across transcriptional regulatory elements of active and silent genes in T cells. Characterization of chromatin signatures in immune cells have mainly been performed in T cells, thus these distributions are derived from human T-cell ChIP-seq data. Enhancers are typically characterized by the presence of H3 acetylation, H3K4me1 and H3K9me1 in T cells. CpG islands are localized in a 1-kb region around the TSS and tend to have high acetylation, which is spread out evenly within the island, and very low levels of H3K27me3. Active genes are marked by a bimodal distribution of H3K4me3 and H3 acetylation as well as H3K9me1 at the promoter region and H3K36me3 and H3K79me1/2/3 spreading across the gene body. In contrast, silent genes have low levels of H3K4me3 and H3K9me1 at the gene promoter but high levels of H3K9me2/3 and H3K27me3 widespread across the gene region. Combination of some of these marks work cooperatively to lead to transcriptional activation [13,14,17,19]. TSS: Transcription start site.">
            <a:extLst>
              <a:ext uri="{FF2B5EF4-FFF2-40B4-BE49-F238E27FC236}">
                <a16:creationId xmlns:a16="http://schemas.microsoft.com/office/drawing/2014/main" id="{3F6D69E9-65CF-BB1A-B56D-56FCF2A84E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1995" y="1359798"/>
            <a:ext cx="6107357" cy="508706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558F6D2-93E6-814A-2ADF-D8637CEB364D}"/>
              </a:ext>
            </a:extLst>
          </p:cNvPr>
          <p:cNvSpPr txBox="1"/>
          <p:nvPr/>
        </p:nvSpPr>
        <p:spPr>
          <a:xfrm>
            <a:off x="8554529" y="6478498"/>
            <a:ext cx="3082505" cy="276999"/>
          </a:xfrm>
          <a:prstGeom prst="rect">
            <a:avLst/>
          </a:prstGeom>
          <a:noFill/>
        </p:spPr>
        <p:txBody>
          <a:bodyPr wrap="square">
            <a:spAutoFit/>
          </a:bodyPr>
          <a:lstStyle/>
          <a:p>
            <a:pPr algn="r"/>
            <a:r>
              <a:rPr lang="en-US" sz="1200" dirty="0">
                <a:latin typeface="Calibri Light" panose="020F0302020204030204" pitchFamily="34" charset="0"/>
              </a:rPr>
              <a:t>DOI:10.2217/epi.10.55</a:t>
            </a:r>
          </a:p>
        </p:txBody>
      </p:sp>
    </p:spTree>
    <p:extLst>
      <p:ext uri="{BB962C8B-B14F-4D97-AF65-F5344CB8AC3E}">
        <p14:creationId xmlns:p14="http://schemas.microsoft.com/office/powerpoint/2010/main" val="9800497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A8A8C-B589-587F-E6C8-639DC0586C33}"/>
              </a:ext>
            </a:extLst>
          </p:cNvPr>
          <p:cNvSpPr>
            <a:spLocks noGrp="1"/>
          </p:cNvSpPr>
          <p:nvPr>
            <p:ph type="title"/>
          </p:nvPr>
        </p:nvSpPr>
        <p:spPr>
          <a:xfrm>
            <a:off x="688676" y="365125"/>
            <a:ext cx="10515600" cy="887486"/>
          </a:xfrm>
        </p:spPr>
        <p:txBody>
          <a:bodyPr>
            <a:normAutofit fontScale="90000"/>
          </a:bodyPr>
          <a:lstStyle/>
          <a:p>
            <a:pPr algn="ctr"/>
            <a:r>
              <a:rPr lang="en-GB" dirty="0"/>
              <a:t>Peak types and locations of histone modifications </a:t>
            </a:r>
            <a:endParaRPr lang="en-US" dirty="0"/>
          </a:p>
        </p:txBody>
      </p:sp>
      <p:sp>
        <p:nvSpPr>
          <p:cNvPr id="4" name="TextBox 3">
            <a:extLst>
              <a:ext uri="{FF2B5EF4-FFF2-40B4-BE49-F238E27FC236}">
                <a16:creationId xmlns:a16="http://schemas.microsoft.com/office/drawing/2014/main" id="{E558F6D2-93E6-814A-2ADF-D8637CEB364D}"/>
              </a:ext>
            </a:extLst>
          </p:cNvPr>
          <p:cNvSpPr txBox="1"/>
          <p:nvPr/>
        </p:nvSpPr>
        <p:spPr>
          <a:xfrm>
            <a:off x="5417389" y="6478498"/>
            <a:ext cx="6219645" cy="276999"/>
          </a:xfrm>
          <a:prstGeom prst="rect">
            <a:avLst/>
          </a:prstGeom>
          <a:noFill/>
        </p:spPr>
        <p:txBody>
          <a:bodyPr wrap="square">
            <a:spAutoFit/>
          </a:bodyPr>
          <a:lstStyle/>
          <a:p>
            <a:pPr algn="r"/>
            <a:r>
              <a:rPr lang="en-US" sz="1200" dirty="0">
                <a:latin typeface="Calibri Light" panose="020F0302020204030204" pitchFamily="34" charset="0"/>
              </a:rPr>
              <a:t>https://genomebiology.biomedcentral.com/articles/10.1186/s13059-022-02707-w</a:t>
            </a:r>
          </a:p>
        </p:txBody>
      </p:sp>
      <p:pic>
        <p:nvPicPr>
          <p:cNvPr id="17410" name="Picture 2" descr="Fig. 1">
            <a:extLst>
              <a:ext uri="{FF2B5EF4-FFF2-40B4-BE49-F238E27FC236}">
                <a16:creationId xmlns:a16="http://schemas.microsoft.com/office/drawing/2014/main" id="{D472C334-7C96-FBB9-C6FA-F2D89094651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75526" y="1630998"/>
            <a:ext cx="6341900"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69968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EE0B7D6-68E1-7AC6-517B-EFEF44597B4E}"/>
              </a:ext>
            </a:extLst>
          </p:cNvPr>
          <p:cNvPicPr>
            <a:picLocks noChangeAspect="1"/>
          </p:cNvPicPr>
          <p:nvPr/>
        </p:nvPicPr>
        <p:blipFill>
          <a:blip r:embed="rId2"/>
          <a:stretch>
            <a:fillRect/>
          </a:stretch>
        </p:blipFill>
        <p:spPr>
          <a:xfrm>
            <a:off x="2063362" y="170189"/>
            <a:ext cx="7267556" cy="6092588"/>
          </a:xfrm>
          <a:prstGeom prst="rect">
            <a:avLst/>
          </a:prstGeom>
        </p:spPr>
      </p:pic>
      <p:sp>
        <p:nvSpPr>
          <p:cNvPr id="7" name="TextBox 6">
            <a:extLst>
              <a:ext uri="{FF2B5EF4-FFF2-40B4-BE49-F238E27FC236}">
                <a16:creationId xmlns:a16="http://schemas.microsoft.com/office/drawing/2014/main" id="{F1F05B7B-D073-DC06-E9A6-7059174DD371}"/>
              </a:ext>
            </a:extLst>
          </p:cNvPr>
          <p:cNvSpPr txBox="1"/>
          <p:nvPr/>
        </p:nvSpPr>
        <p:spPr>
          <a:xfrm>
            <a:off x="8804694" y="6380034"/>
            <a:ext cx="3255033" cy="307777"/>
          </a:xfrm>
          <a:prstGeom prst="rect">
            <a:avLst/>
          </a:prstGeom>
          <a:noFill/>
        </p:spPr>
        <p:txBody>
          <a:bodyPr wrap="square">
            <a:spAutoFit/>
          </a:bodyPr>
          <a:lstStyle/>
          <a:p>
            <a:r>
              <a:rPr lang="en-US" sz="1400" dirty="0">
                <a:latin typeface="Calibri Light" panose="020F0302020204030204" pitchFamily="34" charset="0"/>
              </a:rPr>
              <a:t>https://www.nature.com/articles/ni.2117</a:t>
            </a:r>
          </a:p>
        </p:txBody>
      </p:sp>
    </p:spTree>
    <p:extLst>
      <p:ext uri="{BB962C8B-B14F-4D97-AF65-F5344CB8AC3E}">
        <p14:creationId xmlns:p14="http://schemas.microsoft.com/office/powerpoint/2010/main" val="3125028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8289C-0575-2C39-69F0-2624247B9492}"/>
              </a:ext>
            </a:extLst>
          </p:cNvPr>
          <p:cNvSpPr>
            <a:spLocks noGrp="1"/>
          </p:cNvSpPr>
          <p:nvPr>
            <p:ph type="title"/>
          </p:nvPr>
        </p:nvSpPr>
        <p:spPr>
          <a:xfrm>
            <a:off x="447137" y="313368"/>
            <a:ext cx="10515600" cy="716052"/>
          </a:xfrm>
        </p:spPr>
        <p:txBody>
          <a:bodyPr/>
          <a:lstStyle/>
          <a:p>
            <a:r>
              <a:rPr lang="en-US" sz="4400" b="1" dirty="0"/>
              <a:t>ATAC-seq</a:t>
            </a:r>
            <a:endParaRPr lang="en-US" dirty="0"/>
          </a:p>
        </p:txBody>
      </p:sp>
      <p:pic>
        <p:nvPicPr>
          <p:cNvPr id="16386" name="Picture 2">
            <a:extLst>
              <a:ext uri="{FF2B5EF4-FFF2-40B4-BE49-F238E27FC236}">
                <a16:creationId xmlns:a16="http://schemas.microsoft.com/office/drawing/2014/main" id="{D6B2E34F-A39A-DEA2-0DA2-0D3679805B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01993" y="57349"/>
            <a:ext cx="8683924" cy="638750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C759EBA-6762-08F6-930E-1894809304D1}"/>
              </a:ext>
            </a:extLst>
          </p:cNvPr>
          <p:cNvSpPr txBox="1"/>
          <p:nvPr/>
        </p:nvSpPr>
        <p:spPr>
          <a:xfrm>
            <a:off x="7826355" y="6492874"/>
            <a:ext cx="4193117" cy="307777"/>
          </a:xfrm>
          <a:prstGeom prst="rect">
            <a:avLst/>
          </a:prstGeom>
          <a:noFill/>
        </p:spPr>
        <p:txBody>
          <a:bodyPr wrap="square">
            <a:spAutoFit/>
          </a:bodyPr>
          <a:lstStyle/>
          <a:p>
            <a:r>
              <a:rPr lang="en-US" sz="1400" dirty="0">
                <a:latin typeface="Calibri Light" panose="020F0302020204030204" pitchFamily="34" charset="0"/>
              </a:rPr>
              <a:t>https://pubmed.ncbi.nlm.nih.gov/35478247/</a:t>
            </a:r>
          </a:p>
        </p:txBody>
      </p:sp>
    </p:spTree>
    <p:extLst>
      <p:ext uri="{BB962C8B-B14F-4D97-AF65-F5344CB8AC3E}">
        <p14:creationId xmlns:p14="http://schemas.microsoft.com/office/powerpoint/2010/main" val="2872556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8289C-0575-2C39-69F0-2624247B9492}"/>
              </a:ext>
            </a:extLst>
          </p:cNvPr>
          <p:cNvSpPr>
            <a:spLocks noGrp="1"/>
          </p:cNvSpPr>
          <p:nvPr>
            <p:ph type="title"/>
          </p:nvPr>
        </p:nvSpPr>
        <p:spPr>
          <a:xfrm>
            <a:off x="688676" y="74040"/>
            <a:ext cx="10515600" cy="716052"/>
          </a:xfrm>
        </p:spPr>
        <p:txBody>
          <a:bodyPr/>
          <a:lstStyle/>
          <a:p>
            <a:r>
              <a:rPr lang="en-US" sz="4400" b="1" dirty="0"/>
              <a:t>ATAC-seq</a:t>
            </a:r>
            <a:endParaRPr lang="en-US" dirty="0"/>
          </a:p>
        </p:txBody>
      </p:sp>
      <p:sp>
        <p:nvSpPr>
          <p:cNvPr id="5" name="TextBox 4">
            <a:extLst>
              <a:ext uri="{FF2B5EF4-FFF2-40B4-BE49-F238E27FC236}">
                <a16:creationId xmlns:a16="http://schemas.microsoft.com/office/drawing/2014/main" id="{4C759EBA-6762-08F6-930E-1894809304D1}"/>
              </a:ext>
            </a:extLst>
          </p:cNvPr>
          <p:cNvSpPr txBox="1"/>
          <p:nvPr/>
        </p:nvSpPr>
        <p:spPr>
          <a:xfrm>
            <a:off x="3907498" y="6397983"/>
            <a:ext cx="8111975" cy="307777"/>
          </a:xfrm>
          <a:prstGeom prst="rect">
            <a:avLst/>
          </a:prstGeom>
          <a:noFill/>
        </p:spPr>
        <p:txBody>
          <a:bodyPr wrap="square">
            <a:spAutoFit/>
          </a:bodyPr>
          <a:lstStyle/>
          <a:p>
            <a:pPr algn="r"/>
            <a:r>
              <a:rPr lang="en-US" sz="1400" dirty="0">
                <a:latin typeface="Calibri Light" panose="020F0302020204030204" pitchFamily="34" charset="0"/>
              </a:rPr>
              <a:t>https://haibol2016.github.io/ATACseqQCWorkshop/articles/ATACseqQC_workshop.html</a:t>
            </a:r>
          </a:p>
        </p:txBody>
      </p:sp>
      <p:pic>
        <p:nvPicPr>
          <p:cNvPr id="18434" name="Picture 2" descr="Figure 3. Signal features generated by different methods for profiling chromatin accessibility.">
            <a:extLst>
              <a:ext uri="{FF2B5EF4-FFF2-40B4-BE49-F238E27FC236}">
                <a16:creationId xmlns:a16="http://schemas.microsoft.com/office/drawing/2014/main" id="{B7392E51-10BD-2F79-3C06-31E451F55E2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2411" b="15472"/>
          <a:stretch/>
        </p:blipFill>
        <p:spPr bwMode="auto">
          <a:xfrm>
            <a:off x="1524000" y="851140"/>
            <a:ext cx="9144000" cy="49458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85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60DC6-0BC2-5345-6636-0DA0B349D49D}"/>
              </a:ext>
            </a:extLst>
          </p:cNvPr>
          <p:cNvSpPr>
            <a:spLocks noGrp="1"/>
          </p:cNvSpPr>
          <p:nvPr>
            <p:ph type="title"/>
          </p:nvPr>
        </p:nvSpPr>
        <p:spPr>
          <a:xfrm>
            <a:off x="838199" y="301865"/>
            <a:ext cx="10515600" cy="934588"/>
          </a:xfrm>
        </p:spPr>
        <p:txBody>
          <a:bodyPr>
            <a:noAutofit/>
          </a:bodyPr>
          <a:lstStyle/>
          <a:p>
            <a:pPr algn="ctr"/>
            <a:r>
              <a:rPr lang="en-GB" sz="2800" dirty="0"/>
              <a:t>Population-scale measurements of chromatin accessibility reflect the average accessibility of a heterogeneous collection of single molecules</a:t>
            </a:r>
            <a:endParaRPr lang="en-US" sz="2800" dirty="0"/>
          </a:p>
        </p:txBody>
      </p:sp>
      <p:pic>
        <p:nvPicPr>
          <p:cNvPr id="5" name="Content Placeholder 4">
            <a:extLst>
              <a:ext uri="{FF2B5EF4-FFF2-40B4-BE49-F238E27FC236}">
                <a16:creationId xmlns:a16="http://schemas.microsoft.com/office/drawing/2014/main" id="{AFD17BE4-2526-600E-4A33-6B55C56C6158}"/>
              </a:ext>
            </a:extLst>
          </p:cNvPr>
          <p:cNvPicPr>
            <a:picLocks noGrp="1" noChangeAspect="1"/>
          </p:cNvPicPr>
          <p:nvPr>
            <p:ph idx="1"/>
          </p:nvPr>
        </p:nvPicPr>
        <p:blipFill>
          <a:blip r:embed="rId2"/>
          <a:stretch>
            <a:fillRect/>
          </a:stretch>
        </p:blipFill>
        <p:spPr>
          <a:xfrm>
            <a:off x="1409494" y="1463315"/>
            <a:ext cx="9373011" cy="4948986"/>
          </a:xfrm>
        </p:spPr>
      </p:pic>
      <p:sp>
        <p:nvSpPr>
          <p:cNvPr id="7" name="TextBox 6">
            <a:extLst>
              <a:ext uri="{FF2B5EF4-FFF2-40B4-BE49-F238E27FC236}">
                <a16:creationId xmlns:a16="http://schemas.microsoft.com/office/drawing/2014/main" id="{83DF41B8-229B-74BE-4F83-9808A6F31371}"/>
              </a:ext>
            </a:extLst>
          </p:cNvPr>
          <p:cNvSpPr txBox="1"/>
          <p:nvPr/>
        </p:nvSpPr>
        <p:spPr>
          <a:xfrm>
            <a:off x="1293962" y="6485274"/>
            <a:ext cx="6096000" cy="307777"/>
          </a:xfrm>
          <a:prstGeom prst="rect">
            <a:avLst/>
          </a:prstGeom>
          <a:noFill/>
        </p:spPr>
        <p:txBody>
          <a:bodyPr wrap="square">
            <a:spAutoFit/>
          </a:bodyPr>
          <a:lstStyle/>
          <a:p>
            <a:r>
              <a:rPr lang="en-US" sz="1400" dirty="0">
                <a:latin typeface="Calibri Light" panose="020F0302020204030204" pitchFamily="34" charset="0"/>
              </a:rPr>
              <a:t>https://www.nature.com/articles/s41576-018-0089-8</a:t>
            </a:r>
          </a:p>
        </p:txBody>
      </p:sp>
    </p:spTree>
    <p:extLst>
      <p:ext uri="{BB962C8B-B14F-4D97-AF65-F5344CB8AC3E}">
        <p14:creationId xmlns:p14="http://schemas.microsoft.com/office/powerpoint/2010/main" val="40541001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2635A84-5931-D1B3-DAA6-7EB2A6DD0E54}"/>
              </a:ext>
            </a:extLst>
          </p:cNvPr>
          <p:cNvSpPr txBox="1">
            <a:spLocks/>
          </p:cNvSpPr>
          <p:nvPr/>
        </p:nvSpPr>
        <p:spPr>
          <a:xfrm>
            <a:off x="556592" y="168317"/>
            <a:ext cx="10611492" cy="83616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dirty="0">
                <a:latin typeface="Calibri Light" panose="020F0302020204030204" pitchFamily="34" charset="0"/>
                <a:ea typeface="Calibri Light" panose="020F0302020204030204" pitchFamily="34" charset="0"/>
                <a:cs typeface="Calibri Light" panose="020F0302020204030204" pitchFamily="34" charset="0"/>
              </a:rPr>
              <a:t>Classification of Transcription Factors</a:t>
            </a:r>
          </a:p>
        </p:txBody>
      </p:sp>
      <p:sp>
        <p:nvSpPr>
          <p:cNvPr id="3" name="TextBox 2">
            <a:extLst>
              <a:ext uri="{FF2B5EF4-FFF2-40B4-BE49-F238E27FC236}">
                <a16:creationId xmlns:a16="http://schemas.microsoft.com/office/drawing/2014/main" id="{BD4F4C34-97D3-2899-8411-9E2C7F7D7206}"/>
              </a:ext>
            </a:extLst>
          </p:cNvPr>
          <p:cNvSpPr txBox="1"/>
          <p:nvPr/>
        </p:nvSpPr>
        <p:spPr>
          <a:xfrm>
            <a:off x="1089126" y="1441705"/>
            <a:ext cx="10046751" cy="4494757"/>
          </a:xfrm>
          <a:prstGeom prst="rect">
            <a:avLst/>
          </a:prstGeom>
          <a:noFill/>
        </p:spPr>
        <p:txBody>
          <a:bodyPr wrap="square">
            <a:spAutoFit/>
          </a:bodyPr>
          <a:lstStyle/>
          <a:p>
            <a:pPr marR="0" lvl="0" algn="just" defTabSz="914400" rtl="0" eaLnBrk="0" fontAlgn="base" latinLnBrk="0" hangingPunct="0">
              <a:lnSpc>
                <a:spcPct val="120000"/>
              </a:lnSpc>
              <a:spcBef>
                <a:spcPct val="0"/>
              </a:spcBef>
              <a:spcAft>
                <a:spcPct val="0"/>
              </a:spcAft>
              <a:buClrTx/>
              <a:buSzTx/>
              <a:tabLst/>
            </a:pPr>
            <a:r>
              <a:rPr kumimoji="0" lang="en-US"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TFs are classified by how they are activated:</a:t>
            </a:r>
          </a:p>
          <a:p>
            <a:pPr marL="457200" marR="0" lvl="0" indent="-457200" algn="just" defTabSz="914400" rtl="0" eaLnBrk="0" fontAlgn="base" latinLnBrk="0" hangingPunct="0">
              <a:lnSpc>
                <a:spcPct val="120000"/>
              </a:lnSpc>
              <a:spcBef>
                <a:spcPct val="0"/>
              </a:spcBef>
              <a:spcAft>
                <a:spcPct val="0"/>
              </a:spcAft>
              <a:buClrTx/>
              <a:buSzTx/>
              <a:buFont typeface="+mj-lt"/>
              <a:buAutoNum type="arabicPeriod"/>
              <a:tabLst/>
            </a:pPr>
            <a:r>
              <a:rPr kumimoji="0" lang="en-US"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Constitutive Factors (Always present/active)</a:t>
            </a:r>
          </a:p>
          <a:p>
            <a:pPr marL="914400" lvl="1" indent="-457200" algn="just" eaLnBrk="0" fontAlgn="base" hangingPunct="0">
              <a:lnSpc>
                <a:spcPct val="120000"/>
              </a:lnSpc>
              <a:spcBef>
                <a:spcPct val="0"/>
              </a:spcBef>
              <a:spcAft>
                <a:spcPct val="0"/>
              </a:spcAft>
              <a:buFont typeface="Arial" panose="020B0604020202020204" pitchFamily="34" charset="0"/>
              <a:buChar char="•"/>
            </a:pPr>
            <a:r>
              <a:rPr kumimoji="0" lang="en-US"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Ubiquitous: Present in all cells (e.g., SP1).</a:t>
            </a:r>
          </a:p>
          <a:p>
            <a:pPr marL="914400" lvl="1" indent="-457200" algn="just" eaLnBrk="0" fontAlgn="base" hangingPunct="0">
              <a:lnSpc>
                <a:spcPct val="120000"/>
              </a:lnSpc>
              <a:spcBef>
                <a:spcPct val="0"/>
              </a:spcBef>
              <a:spcAft>
                <a:spcPct val="0"/>
              </a:spcAft>
              <a:buFont typeface="Arial" panose="020B0604020202020204" pitchFamily="34" charset="0"/>
              <a:buChar char="•"/>
            </a:pPr>
            <a:r>
              <a:rPr kumimoji="0" lang="en-US"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Cell-Type Specific: Developmental factors (e.g., MYOD).</a:t>
            </a:r>
          </a:p>
          <a:p>
            <a:pPr marL="457200" marR="0" lvl="0" indent="-457200" algn="just" defTabSz="914400" rtl="0" eaLnBrk="0" fontAlgn="base" latinLnBrk="0" hangingPunct="0">
              <a:lnSpc>
                <a:spcPct val="120000"/>
              </a:lnSpc>
              <a:spcBef>
                <a:spcPct val="0"/>
              </a:spcBef>
              <a:spcAft>
                <a:spcPct val="0"/>
              </a:spcAft>
              <a:buClrTx/>
              <a:buSzTx/>
              <a:buFont typeface="+mj-lt"/>
              <a:buAutoNum type="arabicPeriod"/>
              <a:tabLst/>
            </a:pPr>
            <a:r>
              <a:rPr kumimoji="0" lang="en-US"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Signal-Dependent Factors (Require activation)</a:t>
            </a:r>
          </a:p>
          <a:p>
            <a:pPr marL="914400" lvl="1" indent="-457200" algn="just" eaLnBrk="0" fontAlgn="base" hangingPunct="0">
              <a:lnSpc>
                <a:spcPct val="120000"/>
              </a:lnSpc>
              <a:spcBef>
                <a:spcPct val="0"/>
              </a:spcBef>
              <a:spcAft>
                <a:spcPct val="0"/>
              </a:spcAft>
              <a:buFont typeface="Arial" panose="020B0604020202020204" pitchFamily="34" charset="0"/>
              <a:buChar char="•"/>
            </a:pPr>
            <a:r>
              <a:rPr kumimoji="0" lang="en-US"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Nuclear Receptors: Activated by lipids/hormones.</a:t>
            </a:r>
          </a:p>
          <a:p>
            <a:pPr marL="914400" lvl="1" indent="-457200" algn="just" eaLnBrk="0" fontAlgn="base" hangingPunct="0">
              <a:lnSpc>
                <a:spcPct val="120000"/>
              </a:lnSpc>
              <a:spcBef>
                <a:spcPct val="0"/>
              </a:spcBef>
              <a:spcAft>
                <a:spcPct val="0"/>
              </a:spcAft>
              <a:buFont typeface="Arial" panose="020B0604020202020204" pitchFamily="34" charset="0"/>
              <a:buChar char="•"/>
            </a:pPr>
            <a:r>
              <a:rPr kumimoji="0" lang="en-US"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Internal Signals: Activated by metabolites (e.g., p53, SREBP).</a:t>
            </a:r>
          </a:p>
          <a:p>
            <a:pPr marL="914400" lvl="1" indent="-457200" algn="just" eaLnBrk="0" fontAlgn="base" hangingPunct="0">
              <a:lnSpc>
                <a:spcPct val="120000"/>
              </a:lnSpc>
              <a:spcBef>
                <a:spcPct val="0"/>
              </a:spcBef>
              <a:spcAft>
                <a:spcPct val="0"/>
              </a:spcAft>
              <a:buFont typeface="Arial" panose="020B0604020202020204" pitchFamily="34" charset="0"/>
              <a:buChar char="•"/>
            </a:pPr>
            <a:r>
              <a:rPr kumimoji="0" lang="en-US"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Cell Surface Receptor Dependent:</a:t>
            </a:r>
          </a:p>
          <a:p>
            <a:pPr marL="1371600" lvl="2" indent="-457200" algn="just" eaLnBrk="0" fontAlgn="base" hangingPunct="0">
              <a:lnSpc>
                <a:spcPct val="120000"/>
              </a:lnSpc>
              <a:spcBef>
                <a:spcPct val="0"/>
              </a:spcBef>
              <a:spcAft>
                <a:spcPct val="0"/>
              </a:spcAft>
              <a:buFont typeface="Wingdings" panose="05000000000000000000" pitchFamily="2" charset="2"/>
              <a:buChar char="§"/>
            </a:pPr>
            <a:r>
              <a:rPr kumimoji="0" lang="en-US"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Phosphorylation: MAPK pathway (e.g., CREB).</a:t>
            </a:r>
          </a:p>
          <a:p>
            <a:pPr marL="1371600" lvl="2" indent="-457200" algn="just" eaLnBrk="0" fontAlgn="base" hangingPunct="0">
              <a:lnSpc>
                <a:spcPct val="120000"/>
              </a:lnSpc>
              <a:spcBef>
                <a:spcPct val="0"/>
              </a:spcBef>
              <a:spcAft>
                <a:spcPct val="0"/>
              </a:spcAft>
              <a:buFont typeface="Wingdings" panose="05000000000000000000" pitchFamily="2" charset="2"/>
              <a:buChar char="§"/>
            </a:pPr>
            <a:r>
              <a:rPr kumimoji="0" lang="en-US"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Latent Cytoplasmic: Translocate upon signal (e.g., </a:t>
            </a:r>
            <a:r>
              <a:rPr kumimoji="0" lang="en-US" altLang="en-US" sz="2400" b="1" i="0" u="none" strike="noStrike" cap="none" normalizeH="0" baseline="0" dirty="0" err="1">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NFkB</a:t>
            </a:r>
            <a:r>
              <a:rPr kumimoji="0" lang="en-US" altLang="en-US" sz="24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a:t>
            </a:r>
            <a:endParaRPr kumimoji="0" lang="en-US" altLang="en-US" sz="24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2589348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2635A84-5931-D1B3-DAA6-7EB2A6DD0E54}"/>
              </a:ext>
            </a:extLst>
          </p:cNvPr>
          <p:cNvSpPr txBox="1">
            <a:spLocks/>
          </p:cNvSpPr>
          <p:nvPr/>
        </p:nvSpPr>
        <p:spPr>
          <a:xfrm>
            <a:off x="556592" y="168317"/>
            <a:ext cx="10611492" cy="83616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dirty="0">
                <a:latin typeface="Calibri Light" panose="020F0302020204030204" pitchFamily="34" charset="0"/>
                <a:ea typeface="Calibri Light" panose="020F0302020204030204" pitchFamily="34" charset="0"/>
                <a:cs typeface="Calibri Light" panose="020F0302020204030204" pitchFamily="34" charset="0"/>
              </a:rPr>
              <a:t>Classification of Transcription Factors</a:t>
            </a:r>
          </a:p>
        </p:txBody>
      </p:sp>
      <p:pic>
        <p:nvPicPr>
          <p:cNvPr id="5" name="Picture 4">
            <a:extLst>
              <a:ext uri="{FF2B5EF4-FFF2-40B4-BE49-F238E27FC236}">
                <a16:creationId xmlns:a16="http://schemas.microsoft.com/office/drawing/2014/main" id="{18DC7FA9-EFB1-7F8F-D2A7-B2953B727634}"/>
              </a:ext>
            </a:extLst>
          </p:cNvPr>
          <p:cNvPicPr>
            <a:picLocks noChangeAspect="1"/>
          </p:cNvPicPr>
          <p:nvPr/>
        </p:nvPicPr>
        <p:blipFill>
          <a:blip r:embed="rId3"/>
          <a:stretch>
            <a:fillRect/>
          </a:stretch>
        </p:blipFill>
        <p:spPr>
          <a:xfrm>
            <a:off x="160874" y="1433609"/>
            <a:ext cx="6204980" cy="4612342"/>
          </a:xfrm>
          <a:prstGeom prst="rect">
            <a:avLst/>
          </a:prstGeom>
        </p:spPr>
      </p:pic>
      <p:pic>
        <p:nvPicPr>
          <p:cNvPr id="7" name="Picture 6">
            <a:extLst>
              <a:ext uri="{FF2B5EF4-FFF2-40B4-BE49-F238E27FC236}">
                <a16:creationId xmlns:a16="http://schemas.microsoft.com/office/drawing/2014/main" id="{8620F265-ABD8-60AF-05FB-F335505D4F66}"/>
              </a:ext>
            </a:extLst>
          </p:cNvPr>
          <p:cNvPicPr>
            <a:picLocks noChangeAspect="1"/>
          </p:cNvPicPr>
          <p:nvPr/>
        </p:nvPicPr>
        <p:blipFill>
          <a:blip r:embed="rId4"/>
          <a:stretch>
            <a:fillRect/>
          </a:stretch>
        </p:blipFill>
        <p:spPr>
          <a:xfrm>
            <a:off x="6413224" y="1446500"/>
            <a:ext cx="5571309" cy="4612342"/>
          </a:xfrm>
          <a:prstGeom prst="rect">
            <a:avLst/>
          </a:prstGeom>
        </p:spPr>
      </p:pic>
    </p:spTree>
    <p:extLst>
      <p:ext uri="{BB962C8B-B14F-4D97-AF65-F5344CB8AC3E}">
        <p14:creationId xmlns:p14="http://schemas.microsoft.com/office/powerpoint/2010/main" val="37502345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2635A84-5931-D1B3-DAA6-7EB2A6DD0E54}"/>
              </a:ext>
            </a:extLst>
          </p:cNvPr>
          <p:cNvSpPr txBox="1">
            <a:spLocks/>
          </p:cNvSpPr>
          <p:nvPr/>
        </p:nvSpPr>
        <p:spPr>
          <a:xfrm>
            <a:off x="853626" y="203263"/>
            <a:ext cx="10611492" cy="836165"/>
          </a:xfrm>
          <a:prstGeom prst="rect">
            <a:avLst/>
          </a:prstGeom>
        </p:spPr>
        <p:txBody>
          <a:bodyPr vert="horz" lIns="91440" tIns="45720" rIns="91440" bIns="45720" rtlCol="0" anchor="b">
            <a:normAutofit fontScale="85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dirty="0">
                <a:latin typeface="Calibri Light" panose="020F0302020204030204" pitchFamily="34" charset="0"/>
                <a:ea typeface="Calibri Light" panose="020F0302020204030204" pitchFamily="34" charset="0"/>
                <a:cs typeface="Calibri Light" panose="020F0302020204030204" pitchFamily="34" charset="0"/>
              </a:rPr>
              <a:t>Signal-Dependent Activation Mechanisms (I)</a:t>
            </a:r>
          </a:p>
        </p:txBody>
      </p:sp>
      <p:sp>
        <p:nvSpPr>
          <p:cNvPr id="3" name="TextBox 2">
            <a:extLst>
              <a:ext uri="{FF2B5EF4-FFF2-40B4-BE49-F238E27FC236}">
                <a16:creationId xmlns:a16="http://schemas.microsoft.com/office/drawing/2014/main" id="{BD4F4C34-97D3-2899-8411-9E2C7F7D7206}"/>
              </a:ext>
            </a:extLst>
          </p:cNvPr>
          <p:cNvSpPr txBox="1"/>
          <p:nvPr/>
        </p:nvSpPr>
        <p:spPr>
          <a:xfrm>
            <a:off x="745498" y="1424233"/>
            <a:ext cx="10821371" cy="4494757"/>
          </a:xfrm>
          <a:prstGeom prst="rect">
            <a:avLst/>
          </a:prstGeom>
          <a:noFill/>
        </p:spPr>
        <p:txBody>
          <a:bodyPr wrap="square">
            <a:spAutoFit/>
          </a:bodyPr>
          <a:lstStyle/>
          <a:p>
            <a:pPr marL="457200" marR="0" lvl="0" indent="-457200" algn="just" defTabSz="914400" rtl="0" eaLnBrk="0" fontAlgn="base" latinLnBrk="0" hangingPunct="0">
              <a:lnSpc>
                <a:spcPct val="120000"/>
              </a:lnSpc>
              <a:spcBef>
                <a:spcPct val="0"/>
              </a:spcBef>
              <a:spcAft>
                <a:spcPct val="0"/>
              </a:spcAft>
              <a:buClrTx/>
              <a:buSzTx/>
              <a:buAutoNum type="arabicPeriod"/>
              <a:tabLst/>
            </a:pPr>
            <a:r>
              <a:rPr kumimoji="0" lang="en-US" altLang="en-US" sz="24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Endocrine Nuclear Receptors:</a:t>
            </a:r>
          </a:p>
          <a:p>
            <a:pPr marL="914400" lvl="1" indent="-457200" algn="just" eaLnBrk="0" fontAlgn="base" hangingPunct="0">
              <a:lnSpc>
                <a:spcPct val="120000"/>
              </a:lnSpc>
              <a:spcBef>
                <a:spcPct val="0"/>
              </a:spcBef>
              <a:spcAft>
                <a:spcPct val="0"/>
              </a:spcAft>
              <a:buFont typeface="Arial" panose="020B0604020202020204" pitchFamily="34" charset="0"/>
              <a:buChar char="•"/>
            </a:pPr>
            <a:r>
              <a:rPr kumimoji="0" lang="en-US" altLang="en-US" sz="24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Ligands: Lipophilic hormones (Estrogen, Testosterone, Cortisol, Vitamin D).</a:t>
            </a:r>
          </a:p>
          <a:p>
            <a:pPr marL="914400" lvl="1" indent="-457200" algn="just" eaLnBrk="0" fontAlgn="base" hangingPunct="0">
              <a:lnSpc>
                <a:spcPct val="120000"/>
              </a:lnSpc>
              <a:spcBef>
                <a:spcPct val="0"/>
              </a:spcBef>
              <a:spcAft>
                <a:spcPct val="0"/>
              </a:spcAft>
              <a:buFont typeface="Arial" panose="020B0604020202020204" pitchFamily="34" charset="0"/>
              <a:buChar char="•"/>
            </a:pPr>
            <a:r>
              <a:rPr kumimoji="0" lang="en-US" altLang="en-US" sz="24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Mechanism: Ligand diffuses through membrane </a:t>
            </a:r>
            <a:r>
              <a:rPr kumimoji="0" lang="en-US" altLang="en-US" sz="24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sym typeface="Wingdings" panose="05000000000000000000" pitchFamily="2" charset="2"/>
              </a:rPr>
              <a:t></a:t>
            </a:r>
            <a:r>
              <a:rPr kumimoji="0" lang="en-US" altLang="en-US" sz="24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Binds Receptor </a:t>
            </a:r>
            <a:r>
              <a:rPr kumimoji="0" lang="en-US" altLang="en-US" sz="24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sym typeface="Wingdings" panose="05000000000000000000" pitchFamily="2" charset="2"/>
              </a:rPr>
              <a:t></a:t>
            </a:r>
            <a:r>
              <a:rPr kumimoji="0" lang="en-US" altLang="en-US" sz="24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Receptor binds DNA.</a:t>
            </a:r>
          </a:p>
          <a:p>
            <a:pPr marL="914400" lvl="1" indent="-457200" algn="just" eaLnBrk="0" fontAlgn="base" hangingPunct="0">
              <a:lnSpc>
                <a:spcPct val="120000"/>
              </a:lnSpc>
              <a:spcBef>
                <a:spcPct val="0"/>
              </a:spcBef>
              <a:spcAft>
                <a:spcPct val="0"/>
              </a:spcAft>
              <a:buFont typeface="Arial" panose="020B0604020202020204" pitchFamily="34" charset="0"/>
              <a:buChar char="•"/>
            </a:pPr>
            <a:r>
              <a:rPr kumimoji="0" lang="en-US" altLang="en-US" sz="24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Example: Estrogen Receptor (ESR1).</a:t>
            </a:r>
          </a:p>
          <a:p>
            <a:pPr marL="457200" marR="0" lvl="0" indent="-457200" algn="just" defTabSz="914400" rtl="0" eaLnBrk="0" fontAlgn="base" latinLnBrk="0" hangingPunct="0">
              <a:lnSpc>
                <a:spcPct val="120000"/>
              </a:lnSpc>
              <a:spcBef>
                <a:spcPct val="0"/>
              </a:spcBef>
              <a:spcAft>
                <a:spcPct val="0"/>
              </a:spcAft>
              <a:buClrTx/>
              <a:buSzTx/>
              <a:buAutoNum type="arabicPeriod"/>
              <a:tabLst/>
            </a:pPr>
            <a:r>
              <a:rPr kumimoji="0" lang="en-US" altLang="en-US" sz="24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Kinase Signaling Cascades (Phosphorylation):</a:t>
            </a:r>
          </a:p>
          <a:p>
            <a:pPr marL="914400" lvl="1" indent="-457200" algn="just" eaLnBrk="0" fontAlgn="base" hangingPunct="0">
              <a:lnSpc>
                <a:spcPct val="120000"/>
              </a:lnSpc>
              <a:spcBef>
                <a:spcPct val="0"/>
              </a:spcBef>
              <a:spcAft>
                <a:spcPct val="0"/>
              </a:spcAft>
              <a:buFont typeface="Arial" panose="020B0604020202020204" pitchFamily="34" charset="0"/>
              <a:buChar char="•"/>
            </a:pPr>
            <a:r>
              <a:rPr kumimoji="0" lang="en-US" altLang="en-US" sz="24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Trigger: Hydrophilic signals (Peptides, Growth Factors) bind membrane receptors (GPCRs, RTKs).</a:t>
            </a:r>
          </a:p>
          <a:p>
            <a:pPr marL="914400" lvl="1" indent="-457200" algn="just" eaLnBrk="0" fontAlgn="base" hangingPunct="0">
              <a:lnSpc>
                <a:spcPct val="120000"/>
              </a:lnSpc>
              <a:spcBef>
                <a:spcPct val="0"/>
              </a:spcBef>
              <a:spcAft>
                <a:spcPct val="0"/>
              </a:spcAft>
              <a:buFont typeface="Arial" panose="020B0604020202020204" pitchFamily="34" charset="0"/>
              <a:buChar char="•"/>
            </a:pPr>
            <a:r>
              <a:rPr kumimoji="0" lang="en-US" altLang="en-US" sz="24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Mechanism: Phosphorylation cascade (e.g., MAPK) targets resident nuclear TFs.</a:t>
            </a:r>
          </a:p>
          <a:p>
            <a:pPr marL="914400" lvl="1" indent="-457200" algn="just" eaLnBrk="0" fontAlgn="base" hangingPunct="0">
              <a:lnSpc>
                <a:spcPct val="120000"/>
              </a:lnSpc>
              <a:spcBef>
                <a:spcPct val="0"/>
              </a:spcBef>
              <a:spcAft>
                <a:spcPct val="0"/>
              </a:spcAft>
              <a:buFont typeface="Arial" panose="020B0604020202020204" pitchFamily="34" charset="0"/>
              <a:buChar char="•"/>
            </a:pPr>
            <a:r>
              <a:rPr kumimoji="0" lang="en-US" altLang="en-US" sz="24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Example: CREB1 (cAMP response), ELK1, AP1.</a:t>
            </a:r>
          </a:p>
        </p:txBody>
      </p:sp>
    </p:spTree>
    <p:extLst>
      <p:ext uri="{BB962C8B-B14F-4D97-AF65-F5344CB8AC3E}">
        <p14:creationId xmlns:p14="http://schemas.microsoft.com/office/powerpoint/2010/main" val="42676894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2635A84-5931-D1B3-DAA6-7EB2A6DD0E54}"/>
              </a:ext>
            </a:extLst>
          </p:cNvPr>
          <p:cNvSpPr txBox="1">
            <a:spLocks/>
          </p:cNvSpPr>
          <p:nvPr/>
        </p:nvSpPr>
        <p:spPr>
          <a:xfrm>
            <a:off x="853626" y="203263"/>
            <a:ext cx="10611492" cy="836165"/>
          </a:xfrm>
          <a:prstGeom prst="rect">
            <a:avLst/>
          </a:prstGeom>
        </p:spPr>
        <p:txBody>
          <a:bodyPr vert="horz" lIns="91440" tIns="45720" rIns="91440" bIns="45720" rtlCol="0" anchor="b">
            <a:normAutofit fontScale="85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dirty="0">
                <a:latin typeface="Calibri Light" panose="020F0302020204030204" pitchFamily="34" charset="0"/>
                <a:ea typeface="Calibri Light" panose="020F0302020204030204" pitchFamily="34" charset="0"/>
                <a:cs typeface="Calibri Light" panose="020F0302020204030204" pitchFamily="34" charset="0"/>
              </a:rPr>
              <a:t>Signal-Dependent Activation Mechanisms (II)</a:t>
            </a:r>
          </a:p>
        </p:txBody>
      </p:sp>
      <p:sp>
        <p:nvSpPr>
          <p:cNvPr id="3" name="TextBox 2">
            <a:extLst>
              <a:ext uri="{FF2B5EF4-FFF2-40B4-BE49-F238E27FC236}">
                <a16:creationId xmlns:a16="http://schemas.microsoft.com/office/drawing/2014/main" id="{BD4F4C34-97D3-2899-8411-9E2C7F7D7206}"/>
              </a:ext>
            </a:extLst>
          </p:cNvPr>
          <p:cNvSpPr txBox="1"/>
          <p:nvPr/>
        </p:nvSpPr>
        <p:spPr>
          <a:xfrm>
            <a:off x="745498" y="1424233"/>
            <a:ext cx="10821371" cy="3901324"/>
          </a:xfrm>
          <a:prstGeom prst="rect">
            <a:avLst/>
          </a:prstGeom>
          <a:noFill/>
        </p:spPr>
        <p:txBody>
          <a:bodyPr wrap="square">
            <a:spAutoFit/>
          </a:bodyPr>
          <a:lstStyle/>
          <a:p>
            <a:pPr marR="0" lvl="0" algn="just" defTabSz="914400" rtl="0" eaLnBrk="0" fontAlgn="base" latinLnBrk="0" hangingPunct="0">
              <a:lnSpc>
                <a:spcPct val="120000"/>
              </a:lnSpc>
              <a:spcBef>
                <a:spcPct val="0"/>
              </a:spcBef>
              <a:spcAft>
                <a:spcPct val="0"/>
              </a:spcAft>
              <a:buClrTx/>
              <a:buSzTx/>
              <a:tabLst/>
            </a:pPr>
            <a:r>
              <a:rPr kumimoji="0" lang="en-US" altLang="en-US" sz="26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3. Latent Cytoplasmic Factors:</a:t>
            </a:r>
          </a:p>
          <a:p>
            <a:pPr marL="800100" lvl="1" indent="-342900" algn="just" eaLnBrk="0" fontAlgn="base" hangingPunct="0">
              <a:lnSpc>
                <a:spcPct val="120000"/>
              </a:lnSpc>
              <a:spcBef>
                <a:spcPct val="0"/>
              </a:spcBef>
              <a:spcAft>
                <a:spcPct val="0"/>
              </a:spcAft>
              <a:buFont typeface="Arial" panose="020B0604020202020204" pitchFamily="34" charset="0"/>
              <a:buChar char="•"/>
            </a:pPr>
            <a:r>
              <a:rPr kumimoji="0" lang="en-US" altLang="en-US" sz="26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State: Inactive in the cytoplasm (often held by an inhibitor or membrane).</a:t>
            </a:r>
          </a:p>
          <a:p>
            <a:pPr marL="800100" lvl="1" indent="-342900" algn="just" eaLnBrk="0" fontAlgn="base" hangingPunct="0">
              <a:lnSpc>
                <a:spcPct val="120000"/>
              </a:lnSpc>
              <a:spcBef>
                <a:spcPct val="0"/>
              </a:spcBef>
              <a:spcAft>
                <a:spcPct val="0"/>
              </a:spcAft>
              <a:buFont typeface="Arial" panose="020B0604020202020204" pitchFamily="34" charset="0"/>
              <a:buChar char="•"/>
            </a:pPr>
            <a:r>
              <a:rPr kumimoji="0" lang="en-US" altLang="en-US" sz="26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Activation: Signal causes release/cleavage </a:t>
            </a:r>
            <a:r>
              <a:rPr kumimoji="0" lang="en-US" altLang="en-US" sz="26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sym typeface="Wingdings" panose="05000000000000000000" pitchFamily="2" charset="2"/>
              </a:rPr>
              <a:t></a:t>
            </a:r>
            <a:r>
              <a:rPr kumimoji="0" lang="en-US" altLang="en-US" sz="26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Translocation to Nucleus.</a:t>
            </a:r>
          </a:p>
          <a:p>
            <a:pPr marL="800100" lvl="1" indent="-342900" algn="just" eaLnBrk="0" fontAlgn="base" hangingPunct="0">
              <a:lnSpc>
                <a:spcPct val="120000"/>
              </a:lnSpc>
              <a:spcBef>
                <a:spcPct val="0"/>
              </a:spcBef>
              <a:spcAft>
                <a:spcPct val="0"/>
              </a:spcAft>
              <a:buFont typeface="Arial" panose="020B0604020202020204" pitchFamily="34" charset="0"/>
              <a:buChar char="•"/>
            </a:pPr>
            <a:r>
              <a:rPr kumimoji="0" lang="en-US" altLang="en-US" sz="26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Key Pathways:</a:t>
            </a:r>
          </a:p>
          <a:p>
            <a:pPr marL="1257300" lvl="2" indent="-342900" algn="just" eaLnBrk="0" fontAlgn="base" hangingPunct="0">
              <a:lnSpc>
                <a:spcPct val="120000"/>
              </a:lnSpc>
              <a:spcBef>
                <a:spcPct val="0"/>
              </a:spcBef>
              <a:spcAft>
                <a:spcPct val="0"/>
              </a:spcAft>
              <a:buFont typeface="Wingdings" panose="05000000000000000000" pitchFamily="2" charset="2"/>
              <a:buChar char="§"/>
            </a:pPr>
            <a:r>
              <a:rPr kumimoji="0" lang="en-US" altLang="en-US" sz="26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NF–kappa</a:t>
            </a:r>
            <a:r>
              <a:rPr lang="en-US" altLang="en-US" sz="2600" dirty="0">
                <a:latin typeface="Calibri Light" panose="020F0302020204030204" pitchFamily="34" charset="0"/>
                <a:ea typeface="Calibri Light" panose="020F0302020204030204" pitchFamily="34" charset="0"/>
                <a:cs typeface="Calibri Light" panose="020F0302020204030204" pitchFamily="34" charset="0"/>
              </a:rPr>
              <a:t> </a:t>
            </a:r>
            <a:r>
              <a:rPr kumimoji="0" lang="en-US" altLang="en-US" sz="26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B: Inflammation.</a:t>
            </a:r>
          </a:p>
          <a:p>
            <a:pPr marL="1257300" lvl="2" indent="-342900" algn="just" eaLnBrk="0" fontAlgn="base" hangingPunct="0">
              <a:lnSpc>
                <a:spcPct val="120000"/>
              </a:lnSpc>
              <a:spcBef>
                <a:spcPct val="0"/>
              </a:spcBef>
              <a:spcAft>
                <a:spcPct val="0"/>
              </a:spcAft>
              <a:buFont typeface="Wingdings" panose="05000000000000000000" pitchFamily="2" charset="2"/>
              <a:buChar char="§"/>
            </a:pPr>
            <a:r>
              <a:rPr kumimoji="0" lang="en-US" altLang="en-US" sz="26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STAT: Cytokine signaling.</a:t>
            </a:r>
          </a:p>
          <a:p>
            <a:pPr marL="1257300" lvl="2" indent="-342900" algn="just" eaLnBrk="0" fontAlgn="base" hangingPunct="0">
              <a:lnSpc>
                <a:spcPct val="120000"/>
              </a:lnSpc>
              <a:spcBef>
                <a:spcPct val="0"/>
              </a:spcBef>
              <a:spcAft>
                <a:spcPct val="0"/>
              </a:spcAft>
              <a:buFont typeface="Wingdings" panose="05000000000000000000" pitchFamily="2" charset="2"/>
              <a:buChar char="§"/>
            </a:pPr>
            <a:r>
              <a:rPr kumimoji="0" lang="en-US" altLang="en-US" sz="26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SMAD: TGF-beta signaling.</a:t>
            </a:r>
          </a:p>
          <a:p>
            <a:pPr marL="1257300" lvl="2" indent="-342900" algn="just" eaLnBrk="0" fontAlgn="base" hangingPunct="0">
              <a:lnSpc>
                <a:spcPct val="120000"/>
              </a:lnSpc>
              <a:spcBef>
                <a:spcPct val="0"/>
              </a:spcBef>
              <a:spcAft>
                <a:spcPct val="0"/>
              </a:spcAft>
              <a:buFont typeface="Wingdings" panose="05000000000000000000" pitchFamily="2" charset="2"/>
              <a:buChar char="§"/>
            </a:pPr>
            <a:r>
              <a:rPr kumimoji="0" lang="en-US" altLang="en-US" sz="26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NOTCH: Developmental signaling.</a:t>
            </a:r>
          </a:p>
        </p:txBody>
      </p:sp>
    </p:spTree>
    <p:extLst>
      <p:ext uri="{BB962C8B-B14F-4D97-AF65-F5344CB8AC3E}">
        <p14:creationId xmlns:p14="http://schemas.microsoft.com/office/powerpoint/2010/main" val="40819218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2635A84-5931-D1B3-DAA6-7EB2A6DD0E54}"/>
              </a:ext>
            </a:extLst>
          </p:cNvPr>
          <p:cNvSpPr txBox="1">
            <a:spLocks/>
          </p:cNvSpPr>
          <p:nvPr/>
        </p:nvSpPr>
        <p:spPr>
          <a:xfrm>
            <a:off x="853626" y="203263"/>
            <a:ext cx="10611492" cy="83616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5400" b="1" dirty="0">
                <a:latin typeface="Calibri Light" panose="020F0302020204030204" pitchFamily="34" charset="0"/>
                <a:ea typeface="Calibri Light" panose="020F0302020204030204" pitchFamily="34" charset="0"/>
                <a:cs typeface="Calibri Light" panose="020F0302020204030204" pitchFamily="34" charset="0"/>
              </a:rPr>
              <a:t>Specific Pathways: SMAD and STAT</a:t>
            </a:r>
            <a:endParaRPr lang="en-US" sz="54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TextBox 2">
            <a:extLst>
              <a:ext uri="{FF2B5EF4-FFF2-40B4-BE49-F238E27FC236}">
                <a16:creationId xmlns:a16="http://schemas.microsoft.com/office/drawing/2014/main" id="{BD4F4C34-97D3-2899-8411-9E2C7F7D7206}"/>
              </a:ext>
            </a:extLst>
          </p:cNvPr>
          <p:cNvSpPr txBox="1"/>
          <p:nvPr/>
        </p:nvSpPr>
        <p:spPr>
          <a:xfrm>
            <a:off x="745498" y="1424233"/>
            <a:ext cx="10821371" cy="4494757"/>
          </a:xfrm>
          <a:prstGeom prst="rect">
            <a:avLst/>
          </a:prstGeom>
          <a:noFill/>
        </p:spPr>
        <p:txBody>
          <a:bodyPr wrap="square">
            <a:spAutoFit/>
          </a:bodyPr>
          <a:lstStyle/>
          <a:p>
            <a:pPr marL="342900" marR="0" lvl="0" indent="-342900" algn="just" defTabSz="914400" rtl="0" eaLnBrk="0" fontAlgn="base" latinLnBrk="0" hangingPunct="0">
              <a:lnSpc>
                <a:spcPct val="120000"/>
              </a:lnSpc>
              <a:spcBef>
                <a:spcPct val="0"/>
              </a:spcBef>
              <a:spcAft>
                <a:spcPct val="0"/>
              </a:spcAft>
              <a:buClrTx/>
              <a:buSzTx/>
              <a:buFont typeface="Arial" panose="020B0604020202020204" pitchFamily="34" charset="0"/>
              <a:buChar char="•"/>
              <a:tabLst/>
            </a:pPr>
            <a:r>
              <a:rPr kumimoji="0" lang="en-US" altLang="en-US" sz="24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SMAD Pathway (TGF-beta Family):</a:t>
            </a:r>
          </a:p>
          <a:p>
            <a:pPr marL="800100" lvl="1" indent="-342900" algn="just" eaLnBrk="0" fontAlgn="base" hangingPunct="0">
              <a:lnSpc>
                <a:spcPct val="120000"/>
              </a:lnSpc>
              <a:spcBef>
                <a:spcPct val="0"/>
              </a:spcBef>
              <a:spcAft>
                <a:spcPct val="0"/>
              </a:spcAft>
              <a:buFont typeface="Wingdings" panose="05000000000000000000" pitchFamily="2" charset="2"/>
              <a:buChar char="§"/>
            </a:pPr>
            <a:r>
              <a:rPr kumimoji="0" lang="en-US" altLang="en-US" sz="24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Signal: TGF-beta, BMPs, Activins.</a:t>
            </a:r>
          </a:p>
          <a:p>
            <a:pPr marL="800100" lvl="1" indent="-342900" algn="just" eaLnBrk="0" fontAlgn="base" hangingPunct="0">
              <a:lnSpc>
                <a:spcPct val="120000"/>
              </a:lnSpc>
              <a:spcBef>
                <a:spcPct val="0"/>
              </a:spcBef>
              <a:spcAft>
                <a:spcPct val="0"/>
              </a:spcAft>
              <a:buFont typeface="Wingdings" panose="05000000000000000000" pitchFamily="2" charset="2"/>
              <a:buChar char="§"/>
            </a:pPr>
            <a:r>
              <a:rPr kumimoji="0" lang="en-US" altLang="en-US" sz="24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Mechanism: Receptor phosphorylates R-SMADs (SMAD 2/3).</a:t>
            </a:r>
          </a:p>
          <a:p>
            <a:pPr marL="800100" lvl="1" indent="-342900" algn="just" eaLnBrk="0" fontAlgn="base" hangingPunct="0">
              <a:lnSpc>
                <a:spcPct val="120000"/>
              </a:lnSpc>
              <a:spcBef>
                <a:spcPct val="0"/>
              </a:spcBef>
              <a:spcAft>
                <a:spcPct val="0"/>
              </a:spcAft>
              <a:buFont typeface="Wingdings" panose="05000000000000000000" pitchFamily="2" charset="2"/>
              <a:buChar char="§"/>
            </a:pPr>
            <a:r>
              <a:rPr kumimoji="0" lang="en-US" altLang="en-US" sz="24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Complex: R-SMADs dimerize with SMAD4 (Co-SMAD).</a:t>
            </a:r>
          </a:p>
          <a:p>
            <a:pPr marL="800100" lvl="1" indent="-342900" algn="just" eaLnBrk="0" fontAlgn="base" hangingPunct="0">
              <a:lnSpc>
                <a:spcPct val="120000"/>
              </a:lnSpc>
              <a:spcBef>
                <a:spcPct val="0"/>
              </a:spcBef>
              <a:spcAft>
                <a:spcPct val="0"/>
              </a:spcAft>
              <a:buFont typeface="Wingdings" panose="05000000000000000000" pitchFamily="2" charset="2"/>
              <a:buChar char="§"/>
            </a:pPr>
            <a:r>
              <a:rPr kumimoji="0" lang="en-US" altLang="en-US" sz="24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Action: Translocate to nucleus </a:t>
            </a:r>
            <a:r>
              <a:rPr kumimoji="0" lang="en-US" altLang="en-US" sz="24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sym typeface="Wingdings" panose="05000000000000000000" pitchFamily="2" charset="2"/>
              </a:rPr>
              <a:t></a:t>
            </a:r>
            <a:r>
              <a:rPr kumimoji="0" lang="en-US" altLang="en-US" sz="24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Regulate growth/differentiation.</a:t>
            </a:r>
          </a:p>
          <a:p>
            <a:pPr marL="342900" marR="0" lvl="0" indent="-342900" algn="just" defTabSz="914400" rtl="0" eaLnBrk="0" fontAlgn="base" latinLnBrk="0" hangingPunct="0">
              <a:lnSpc>
                <a:spcPct val="120000"/>
              </a:lnSpc>
              <a:spcBef>
                <a:spcPct val="0"/>
              </a:spcBef>
              <a:spcAft>
                <a:spcPct val="0"/>
              </a:spcAft>
              <a:buClrTx/>
              <a:buSzTx/>
              <a:buFont typeface="Arial" panose="020B0604020202020204" pitchFamily="34" charset="0"/>
              <a:buChar char="•"/>
              <a:tabLst/>
            </a:pPr>
            <a:r>
              <a:rPr kumimoji="0" lang="en-US" altLang="en-US" sz="24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STAT Pathway (JAK-STAT):</a:t>
            </a:r>
          </a:p>
          <a:p>
            <a:pPr marL="800100" lvl="1" indent="-342900" algn="just" eaLnBrk="0" fontAlgn="base" hangingPunct="0">
              <a:lnSpc>
                <a:spcPct val="120000"/>
              </a:lnSpc>
              <a:spcBef>
                <a:spcPct val="0"/>
              </a:spcBef>
              <a:spcAft>
                <a:spcPct val="0"/>
              </a:spcAft>
              <a:buFont typeface="Wingdings" panose="05000000000000000000" pitchFamily="2" charset="2"/>
              <a:buChar char="§"/>
            </a:pPr>
            <a:r>
              <a:rPr kumimoji="0" lang="en-US" altLang="en-US" sz="24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Signal: Cytokines (Interleukins, Interferons).</a:t>
            </a:r>
          </a:p>
          <a:p>
            <a:pPr marL="800100" lvl="1" indent="-342900" algn="just" eaLnBrk="0" fontAlgn="base" hangingPunct="0">
              <a:lnSpc>
                <a:spcPct val="120000"/>
              </a:lnSpc>
              <a:spcBef>
                <a:spcPct val="0"/>
              </a:spcBef>
              <a:spcAft>
                <a:spcPct val="0"/>
              </a:spcAft>
              <a:buFont typeface="Wingdings" panose="05000000000000000000" pitchFamily="2" charset="2"/>
              <a:buChar char="§"/>
            </a:pPr>
            <a:r>
              <a:rPr kumimoji="0" lang="en-US" altLang="en-US" sz="24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Mechanism: Cytokine binds receptor </a:t>
            </a:r>
            <a:r>
              <a:rPr kumimoji="0" lang="en-US" altLang="en-US" sz="24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sym typeface="Wingdings" panose="05000000000000000000" pitchFamily="2" charset="2"/>
              </a:rPr>
              <a:t></a:t>
            </a:r>
            <a:r>
              <a:rPr kumimoji="0" lang="en-US" altLang="en-US" sz="24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JAK kinase phosphorylates STAT.</a:t>
            </a:r>
          </a:p>
          <a:p>
            <a:pPr marL="800100" lvl="1" indent="-342900" algn="just" eaLnBrk="0" fontAlgn="base" hangingPunct="0">
              <a:lnSpc>
                <a:spcPct val="120000"/>
              </a:lnSpc>
              <a:spcBef>
                <a:spcPct val="0"/>
              </a:spcBef>
              <a:spcAft>
                <a:spcPct val="0"/>
              </a:spcAft>
              <a:buFont typeface="Wingdings" panose="05000000000000000000" pitchFamily="2" charset="2"/>
              <a:buChar char="§"/>
            </a:pPr>
            <a:r>
              <a:rPr kumimoji="0" lang="en-US" altLang="en-US" sz="24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Action: Phosphorylated STATs dimerize </a:t>
            </a:r>
            <a:r>
              <a:rPr kumimoji="0" lang="en-US" altLang="en-US" sz="24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sym typeface="Wingdings" panose="05000000000000000000" pitchFamily="2" charset="2"/>
              </a:rPr>
              <a:t></a:t>
            </a:r>
            <a:r>
              <a:rPr kumimoji="0" lang="en-US" altLang="en-US" sz="24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Translocate to nucleus.</a:t>
            </a:r>
          </a:p>
          <a:p>
            <a:pPr marL="800100" lvl="1" indent="-342900" algn="just" eaLnBrk="0" fontAlgn="base" hangingPunct="0">
              <a:lnSpc>
                <a:spcPct val="120000"/>
              </a:lnSpc>
              <a:spcBef>
                <a:spcPct val="0"/>
              </a:spcBef>
              <a:spcAft>
                <a:spcPct val="0"/>
              </a:spcAft>
              <a:buFont typeface="Wingdings" panose="05000000000000000000" pitchFamily="2" charset="2"/>
              <a:buChar char="§"/>
            </a:pPr>
            <a:r>
              <a:rPr kumimoji="0" lang="en-US" altLang="en-US" sz="24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Relevance: Vital for immune cell regulation.</a:t>
            </a:r>
          </a:p>
        </p:txBody>
      </p:sp>
    </p:spTree>
    <p:extLst>
      <p:ext uri="{BB962C8B-B14F-4D97-AF65-F5344CB8AC3E}">
        <p14:creationId xmlns:p14="http://schemas.microsoft.com/office/powerpoint/2010/main" val="6107271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2635A84-5931-D1B3-DAA6-7EB2A6DD0E54}"/>
              </a:ext>
            </a:extLst>
          </p:cNvPr>
          <p:cNvSpPr txBox="1">
            <a:spLocks/>
          </p:cNvSpPr>
          <p:nvPr/>
        </p:nvSpPr>
        <p:spPr>
          <a:xfrm>
            <a:off x="598040" y="203263"/>
            <a:ext cx="10611492" cy="836165"/>
          </a:xfrm>
          <a:prstGeom prst="rect">
            <a:avLst/>
          </a:prstGeom>
        </p:spPr>
        <p:txBody>
          <a:bodyPr vert="horz" lIns="91440" tIns="45720" rIns="91440" bIns="45720" rtlCol="0" anchor="b">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5400" b="1" dirty="0">
                <a:latin typeface="Calibri Light" panose="020F0302020204030204" pitchFamily="34" charset="0"/>
                <a:ea typeface="Calibri Light" panose="020F0302020204030204" pitchFamily="34" charset="0"/>
                <a:cs typeface="Calibri Light" panose="020F0302020204030204" pitchFamily="34" charset="0"/>
              </a:rPr>
              <a:t>Specific Pathways: NF-kappa B and WNT</a:t>
            </a:r>
            <a:endParaRPr lang="en-US" sz="54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TextBox 2">
            <a:extLst>
              <a:ext uri="{FF2B5EF4-FFF2-40B4-BE49-F238E27FC236}">
                <a16:creationId xmlns:a16="http://schemas.microsoft.com/office/drawing/2014/main" id="{BD4F4C34-97D3-2899-8411-9E2C7F7D7206}"/>
              </a:ext>
            </a:extLst>
          </p:cNvPr>
          <p:cNvSpPr txBox="1"/>
          <p:nvPr/>
        </p:nvSpPr>
        <p:spPr>
          <a:xfrm>
            <a:off x="745498" y="1452630"/>
            <a:ext cx="10821371" cy="4127925"/>
          </a:xfrm>
          <a:prstGeom prst="rect">
            <a:avLst/>
          </a:prstGeom>
          <a:noFill/>
        </p:spPr>
        <p:txBody>
          <a:bodyPr wrap="square">
            <a:spAutoFit/>
          </a:bodyPr>
          <a:lstStyle/>
          <a:p>
            <a:pPr marL="342900" marR="0" lvl="0" indent="-342900" algn="just" defTabSz="914400" rtl="0" eaLnBrk="0" fontAlgn="base" latinLnBrk="0" hangingPunct="0">
              <a:lnSpc>
                <a:spcPct val="120000"/>
              </a:lnSpc>
              <a:spcBef>
                <a:spcPct val="0"/>
              </a:spcBef>
              <a:spcAft>
                <a:spcPct val="0"/>
              </a:spcAft>
              <a:buClrTx/>
              <a:buSzTx/>
              <a:buFont typeface="Arial" panose="020B0604020202020204" pitchFamily="34" charset="0"/>
              <a:buChar char="•"/>
              <a:tabLst/>
            </a:pPr>
            <a:r>
              <a:rPr kumimoji="0" lang="en-US" altLang="en-US" sz="22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NF-kappa</a:t>
            </a:r>
            <a:r>
              <a:rPr lang="en-US" altLang="en-US" sz="2200" dirty="0">
                <a:latin typeface="Calibri Light" panose="020F0302020204030204" pitchFamily="34" charset="0"/>
                <a:ea typeface="Calibri Light" panose="020F0302020204030204" pitchFamily="34" charset="0"/>
                <a:cs typeface="Calibri Light" panose="020F0302020204030204" pitchFamily="34" charset="0"/>
              </a:rPr>
              <a:t> </a:t>
            </a:r>
            <a:r>
              <a:rPr kumimoji="0" lang="en-US" altLang="en-US" sz="22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B Pathway (Inflammation):</a:t>
            </a:r>
          </a:p>
          <a:p>
            <a:pPr marL="800100" lvl="1" indent="-342900" algn="just" eaLnBrk="0" fontAlgn="base" hangingPunct="0">
              <a:lnSpc>
                <a:spcPct val="120000"/>
              </a:lnSpc>
              <a:spcBef>
                <a:spcPct val="0"/>
              </a:spcBef>
              <a:spcAft>
                <a:spcPct val="0"/>
              </a:spcAft>
              <a:buFont typeface="Wingdings" panose="05000000000000000000" pitchFamily="2" charset="2"/>
              <a:buChar char="§"/>
            </a:pPr>
            <a:r>
              <a:rPr kumimoji="0" lang="en-US" altLang="en-US" sz="22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Resting State: NF-kappa</a:t>
            </a:r>
            <a:r>
              <a:rPr lang="en-US" altLang="en-US" sz="2200" dirty="0">
                <a:latin typeface="Calibri Light" panose="020F0302020204030204" pitchFamily="34" charset="0"/>
                <a:ea typeface="Calibri Light" panose="020F0302020204030204" pitchFamily="34" charset="0"/>
                <a:cs typeface="Calibri Light" panose="020F0302020204030204" pitchFamily="34" charset="0"/>
              </a:rPr>
              <a:t> </a:t>
            </a:r>
            <a:r>
              <a:rPr kumimoji="0" lang="en-US" altLang="en-US" sz="22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B held in cytoplasm by inhibitor I-kappa</a:t>
            </a:r>
            <a:r>
              <a:rPr lang="en-US" altLang="en-US" sz="2200" dirty="0">
                <a:latin typeface="Calibri Light" panose="020F0302020204030204" pitchFamily="34" charset="0"/>
                <a:ea typeface="Calibri Light" panose="020F0302020204030204" pitchFamily="34" charset="0"/>
                <a:cs typeface="Calibri Light" panose="020F0302020204030204" pitchFamily="34" charset="0"/>
              </a:rPr>
              <a:t> </a:t>
            </a:r>
            <a:r>
              <a:rPr kumimoji="0" lang="en-US" altLang="en-US" sz="22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B.</a:t>
            </a:r>
          </a:p>
          <a:p>
            <a:pPr marL="800100" lvl="1" indent="-342900" algn="just" eaLnBrk="0" fontAlgn="base" hangingPunct="0">
              <a:lnSpc>
                <a:spcPct val="120000"/>
              </a:lnSpc>
              <a:spcBef>
                <a:spcPct val="0"/>
              </a:spcBef>
              <a:spcAft>
                <a:spcPct val="0"/>
              </a:spcAft>
              <a:buFont typeface="Wingdings" panose="05000000000000000000" pitchFamily="2" charset="2"/>
              <a:buChar char="§"/>
            </a:pPr>
            <a:r>
              <a:rPr kumimoji="0" lang="en-US" altLang="en-US" sz="22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Signal: TNF, IL1 beta, Bacterial LPS.</a:t>
            </a:r>
          </a:p>
          <a:p>
            <a:pPr marL="800100" lvl="1" indent="-342900" algn="just" eaLnBrk="0" fontAlgn="base" hangingPunct="0">
              <a:lnSpc>
                <a:spcPct val="120000"/>
              </a:lnSpc>
              <a:spcBef>
                <a:spcPct val="0"/>
              </a:spcBef>
              <a:spcAft>
                <a:spcPct val="0"/>
              </a:spcAft>
              <a:buFont typeface="Wingdings" panose="05000000000000000000" pitchFamily="2" charset="2"/>
              <a:buChar char="§"/>
            </a:pPr>
            <a:r>
              <a:rPr kumimoji="0" lang="en-US" altLang="en-US" sz="22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Activation: IKK kinase phosphorylates I-kappa</a:t>
            </a:r>
            <a:r>
              <a:rPr lang="en-US" altLang="en-US" sz="2200" dirty="0">
                <a:latin typeface="Calibri Light" panose="020F0302020204030204" pitchFamily="34" charset="0"/>
                <a:ea typeface="Calibri Light" panose="020F0302020204030204" pitchFamily="34" charset="0"/>
                <a:cs typeface="Calibri Light" panose="020F0302020204030204" pitchFamily="34" charset="0"/>
              </a:rPr>
              <a:t> </a:t>
            </a:r>
            <a:r>
              <a:rPr kumimoji="0" lang="en-US" altLang="en-US" sz="22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B </a:t>
            </a:r>
            <a:r>
              <a:rPr kumimoji="0" lang="en-US" altLang="en-US" sz="22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sym typeface="Wingdings" panose="05000000000000000000" pitchFamily="2" charset="2"/>
              </a:rPr>
              <a:t></a:t>
            </a:r>
            <a:r>
              <a:rPr kumimoji="0" lang="en-US" altLang="en-US" sz="22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I-kappa</a:t>
            </a:r>
            <a:r>
              <a:rPr lang="en-US" altLang="en-US" sz="2200" dirty="0">
                <a:latin typeface="Calibri Light" panose="020F0302020204030204" pitchFamily="34" charset="0"/>
                <a:ea typeface="Calibri Light" panose="020F0302020204030204" pitchFamily="34" charset="0"/>
                <a:cs typeface="Calibri Light" panose="020F0302020204030204" pitchFamily="34" charset="0"/>
              </a:rPr>
              <a:t> </a:t>
            </a:r>
            <a:r>
              <a:rPr kumimoji="0" lang="en-US" altLang="en-US" sz="22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B degraded.</a:t>
            </a:r>
          </a:p>
          <a:p>
            <a:pPr marL="800100" lvl="1" indent="-342900" algn="just" eaLnBrk="0" fontAlgn="base" hangingPunct="0">
              <a:lnSpc>
                <a:spcPct val="120000"/>
              </a:lnSpc>
              <a:spcBef>
                <a:spcPct val="0"/>
              </a:spcBef>
              <a:spcAft>
                <a:spcPct val="0"/>
              </a:spcAft>
              <a:buFont typeface="Wingdings" panose="05000000000000000000" pitchFamily="2" charset="2"/>
              <a:buChar char="§"/>
            </a:pPr>
            <a:r>
              <a:rPr kumimoji="0" lang="en-US" altLang="en-US" sz="22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Result: NF-kappa</a:t>
            </a:r>
            <a:r>
              <a:rPr lang="en-US" altLang="en-US" sz="2200" dirty="0">
                <a:latin typeface="Calibri Light" panose="020F0302020204030204" pitchFamily="34" charset="0"/>
                <a:ea typeface="Calibri Light" panose="020F0302020204030204" pitchFamily="34" charset="0"/>
                <a:cs typeface="Calibri Light" panose="020F0302020204030204" pitchFamily="34" charset="0"/>
              </a:rPr>
              <a:t> </a:t>
            </a:r>
            <a:r>
              <a:rPr kumimoji="0" lang="en-US" altLang="en-US" sz="22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B (p50/p65) is free to enter nucleus.</a:t>
            </a:r>
          </a:p>
          <a:p>
            <a:pPr marL="342900" marR="0" lvl="0" indent="-342900" algn="just" defTabSz="914400" rtl="0" eaLnBrk="0" fontAlgn="base" latinLnBrk="0" hangingPunct="0">
              <a:lnSpc>
                <a:spcPct val="120000"/>
              </a:lnSpc>
              <a:spcBef>
                <a:spcPct val="0"/>
              </a:spcBef>
              <a:spcAft>
                <a:spcPct val="0"/>
              </a:spcAft>
              <a:buClrTx/>
              <a:buSzTx/>
              <a:buFont typeface="Arial" panose="020B0604020202020204" pitchFamily="34" charset="0"/>
              <a:buChar char="•"/>
              <a:tabLst/>
            </a:pPr>
            <a:r>
              <a:rPr kumimoji="0" lang="en-US" altLang="en-US" sz="22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WNT Pathway:</a:t>
            </a:r>
          </a:p>
          <a:p>
            <a:pPr marL="800100" lvl="1" indent="-342900" algn="just" eaLnBrk="0" fontAlgn="base" hangingPunct="0">
              <a:lnSpc>
                <a:spcPct val="120000"/>
              </a:lnSpc>
              <a:spcBef>
                <a:spcPct val="0"/>
              </a:spcBef>
              <a:spcAft>
                <a:spcPct val="0"/>
              </a:spcAft>
              <a:buFont typeface="Wingdings" panose="05000000000000000000" pitchFamily="2" charset="2"/>
              <a:buChar char="§"/>
            </a:pPr>
            <a:r>
              <a:rPr kumimoji="0" lang="en-US" altLang="en-US" sz="22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Resting State: beta-catenin is degraded by GSK3 complex.</a:t>
            </a:r>
          </a:p>
          <a:p>
            <a:pPr marL="800100" lvl="1" indent="-342900" algn="just" eaLnBrk="0" fontAlgn="base" hangingPunct="0">
              <a:lnSpc>
                <a:spcPct val="120000"/>
              </a:lnSpc>
              <a:spcBef>
                <a:spcPct val="0"/>
              </a:spcBef>
              <a:spcAft>
                <a:spcPct val="0"/>
              </a:spcAft>
              <a:buFont typeface="Wingdings" panose="05000000000000000000" pitchFamily="2" charset="2"/>
              <a:buChar char="§"/>
            </a:pPr>
            <a:r>
              <a:rPr kumimoji="0" lang="en-US" altLang="en-US" sz="22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Signal: WNT binds Frizzled receptor.</a:t>
            </a:r>
          </a:p>
          <a:p>
            <a:pPr marL="800100" lvl="1" indent="-342900" algn="just" eaLnBrk="0" fontAlgn="base" hangingPunct="0">
              <a:lnSpc>
                <a:spcPct val="120000"/>
              </a:lnSpc>
              <a:spcBef>
                <a:spcPct val="0"/>
              </a:spcBef>
              <a:spcAft>
                <a:spcPct val="0"/>
              </a:spcAft>
              <a:buFont typeface="Wingdings" panose="05000000000000000000" pitchFamily="2" charset="2"/>
              <a:buChar char="§"/>
            </a:pPr>
            <a:r>
              <a:rPr kumimoji="0" lang="en-US" altLang="en-US" sz="22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Activation: </a:t>
            </a:r>
            <a:r>
              <a:rPr kumimoji="0" lang="en-US" altLang="en-US" sz="2200" i="0" u="none" strike="noStrike" cap="none" normalizeH="0" baseline="0" dirty="0" err="1">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Dishevelled</a:t>
            </a:r>
            <a:r>
              <a:rPr kumimoji="0" lang="en-US" altLang="en-US" sz="22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(DVL) blocks GSK3 </a:t>
            </a:r>
            <a:r>
              <a:rPr kumimoji="0" lang="en-US" altLang="en-US" sz="22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sym typeface="Wingdings" panose="05000000000000000000" pitchFamily="2" charset="2"/>
              </a:rPr>
              <a:t></a:t>
            </a:r>
            <a:r>
              <a:rPr kumimoji="0" lang="en-US" altLang="en-US" sz="22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beta-catenin accumulates.</a:t>
            </a:r>
          </a:p>
          <a:p>
            <a:pPr marL="800100" lvl="1" indent="-342900" algn="just" eaLnBrk="0" fontAlgn="base" hangingPunct="0">
              <a:lnSpc>
                <a:spcPct val="120000"/>
              </a:lnSpc>
              <a:spcBef>
                <a:spcPct val="0"/>
              </a:spcBef>
              <a:spcAft>
                <a:spcPct val="0"/>
              </a:spcAft>
              <a:buFont typeface="Wingdings" panose="05000000000000000000" pitchFamily="2" charset="2"/>
              <a:buChar char="§"/>
            </a:pPr>
            <a:r>
              <a:rPr kumimoji="0" lang="en-US" altLang="en-US" sz="22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Result: beta-catenin enters nucleus </a:t>
            </a:r>
            <a:r>
              <a:rPr kumimoji="0" lang="en-US" altLang="en-US" sz="22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sym typeface="Wingdings" panose="05000000000000000000" pitchFamily="2" charset="2"/>
              </a:rPr>
              <a:t></a:t>
            </a:r>
            <a:r>
              <a:rPr kumimoji="0" lang="en-US" altLang="en-US" sz="22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Activates TCF7L2 transcription factor.</a:t>
            </a:r>
          </a:p>
        </p:txBody>
      </p:sp>
    </p:spTree>
    <p:extLst>
      <p:ext uri="{BB962C8B-B14F-4D97-AF65-F5344CB8AC3E}">
        <p14:creationId xmlns:p14="http://schemas.microsoft.com/office/powerpoint/2010/main" val="283861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2635A84-5931-D1B3-DAA6-7EB2A6DD0E54}"/>
              </a:ext>
            </a:extLst>
          </p:cNvPr>
          <p:cNvSpPr txBox="1">
            <a:spLocks/>
          </p:cNvSpPr>
          <p:nvPr/>
        </p:nvSpPr>
        <p:spPr>
          <a:xfrm>
            <a:off x="598040" y="203263"/>
            <a:ext cx="10611492" cy="836165"/>
          </a:xfrm>
          <a:prstGeom prst="rect">
            <a:avLst/>
          </a:prstGeom>
        </p:spPr>
        <p:txBody>
          <a:bodyPr vert="horz" lIns="91440" tIns="45720" rIns="91440" bIns="45720" rtlCol="0" anchor="b">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5400" b="1" dirty="0">
                <a:latin typeface="Calibri Light" panose="020F0302020204030204" pitchFamily="34" charset="0"/>
                <a:ea typeface="Calibri Light" panose="020F0302020204030204" pitchFamily="34" charset="0"/>
                <a:cs typeface="Calibri Light" panose="020F0302020204030204" pitchFamily="34" charset="0"/>
              </a:rPr>
              <a:t>Specific Pathways: NF-kappa B and WNT</a:t>
            </a:r>
            <a:endParaRPr lang="en-US" sz="54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TextBox 2">
            <a:extLst>
              <a:ext uri="{FF2B5EF4-FFF2-40B4-BE49-F238E27FC236}">
                <a16:creationId xmlns:a16="http://schemas.microsoft.com/office/drawing/2014/main" id="{BD4F4C34-97D3-2899-8411-9E2C7F7D7206}"/>
              </a:ext>
            </a:extLst>
          </p:cNvPr>
          <p:cNvSpPr txBox="1"/>
          <p:nvPr/>
        </p:nvSpPr>
        <p:spPr>
          <a:xfrm>
            <a:off x="745498" y="1452630"/>
            <a:ext cx="10821371" cy="4127925"/>
          </a:xfrm>
          <a:prstGeom prst="rect">
            <a:avLst/>
          </a:prstGeom>
          <a:noFill/>
        </p:spPr>
        <p:txBody>
          <a:bodyPr wrap="square">
            <a:spAutoFit/>
          </a:bodyPr>
          <a:lstStyle/>
          <a:p>
            <a:pPr marL="342900" marR="0" lvl="0" indent="-342900" algn="just" defTabSz="914400" rtl="0" eaLnBrk="0" fontAlgn="base" latinLnBrk="0" hangingPunct="0">
              <a:lnSpc>
                <a:spcPct val="120000"/>
              </a:lnSpc>
              <a:spcBef>
                <a:spcPct val="0"/>
              </a:spcBef>
              <a:spcAft>
                <a:spcPct val="0"/>
              </a:spcAft>
              <a:buClrTx/>
              <a:buSzTx/>
              <a:buFont typeface="Arial" panose="020B0604020202020204" pitchFamily="34" charset="0"/>
              <a:buChar char="•"/>
              <a:tabLst/>
            </a:pPr>
            <a:r>
              <a:rPr kumimoji="0" lang="en-US" altLang="en-US" sz="22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NF-kappa</a:t>
            </a:r>
            <a:r>
              <a:rPr lang="en-US" altLang="en-US" sz="2200" dirty="0">
                <a:latin typeface="Calibri Light" panose="020F0302020204030204" pitchFamily="34" charset="0"/>
                <a:ea typeface="Calibri Light" panose="020F0302020204030204" pitchFamily="34" charset="0"/>
                <a:cs typeface="Calibri Light" panose="020F0302020204030204" pitchFamily="34" charset="0"/>
              </a:rPr>
              <a:t> </a:t>
            </a:r>
            <a:r>
              <a:rPr kumimoji="0" lang="en-US" altLang="en-US" sz="22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B Pathway (Inflammation):</a:t>
            </a:r>
          </a:p>
          <a:p>
            <a:pPr marL="800100" lvl="1" indent="-342900" algn="just" eaLnBrk="0" fontAlgn="base" hangingPunct="0">
              <a:lnSpc>
                <a:spcPct val="120000"/>
              </a:lnSpc>
              <a:spcBef>
                <a:spcPct val="0"/>
              </a:spcBef>
              <a:spcAft>
                <a:spcPct val="0"/>
              </a:spcAft>
              <a:buFont typeface="Wingdings" panose="05000000000000000000" pitchFamily="2" charset="2"/>
              <a:buChar char="§"/>
            </a:pPr>
            <a:r>
              <a:rPr kumimoji="0" lang="en-US" altLang="en-US" sz="22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Resting State: NF-kappa</a:t>
            </a:r>
            <a:r>
              <a:rPr lang="en-US" altLang="en-US" sz="2200" dirty="0">
                <a:latin typeface="Calibri Light" panose="020F0302020204030204" pitchFamily="34" charset="0"/>
                <a:ea typeface="Calibri Light" panose="020F0302020204030204" pitchFamily="34" charset="0"/>
                <a:cs typeface="Calibri Light" panose="020F0302020204030204" pitchFamily="34" charset="0"/>
              </a:rPr>
              <a:t> </a:t>
            </a:r>
            <a:r>
              <a:rPr kumimoji="0" lang="en-US" altLang="en-US" sz="22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B held in cytoplasm by inhibitor I-kappa</a:t>
            </a:r>
            <a:r>
              <a:rPr lang="en-US" altLang="en-US" sz="2200" dirty="0">
                <a:latin typeface="Calibri Light" panose="020F0302020204030204" pitchFamily="34" charset="0"/>
                <a:ea typeface="Calibri Light" panose="020F0302020204030204" pitchFamily="34" charset="0"/>
                <a:cs typeface="Calibri Light" panose="020F0302020204030204" pitchFamily="34" charset="0"/>
              </a:rPr>
              <a:t> </a:t>
            </a:r>
            <a:r>
              <a:rPr kumimoji="0" lang="en-US" altLang="en-US" sz="22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B.</a:t>
            </a:r>
          </a:p>
          <a:p>
            <a:pPr marL="800100" lvl="1" indent="-342900" algn="just" eaLnBrk="0" fontAlgn="base" hangingPunct="0">
              <a:lnSpc>
                <a:spcPct val="120000"/>
              </a:lnSpc>
              <a:spcBef>
                <a:spcPct val="0"/>
              </a:spcBef>
              <a:spcAft>
                <a:spcPct val="0"/>
              </a:spcAft>
              <a:buFont typeface="Wingdings" panose="05000000000000000000" pitchFamily="2" charset="2"/>
              <a:buChar char="§"/>
            </a:pPr>
            <a:r>
              <a:rPr kumimoji="0" lang="en-US" altLang="en-US" sz="22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Signal: TNF, IL1 beta, Bacterial LPS.</a:t>
            </a:r>
          </a:p>
          <a:p>
            <a:pPr marL="800100" lvl="1" indent="-342900" algn="just" eaLnBrk="0" fontAlgn="base" hangingPunct="0">
              <a:lnSpc>
                <a:spcPct val="120000"/>
              </a:lnSpc>
              <a:spcBef>
                <a:spcPct val="0"/>
              </a:spcBef>
              <a:spcAft>
                <a:spcPct val="0"/>
              </a:spcAft>
              <a:buFont typeface="Wingdings" panose="05000000000000000000" pitchFamily="2" charset="2"/>
              <a:buChar char="§"/>
            </a:pPr>
            <a:r>
              <a:rPr kumimoji="0" lang="en-US" altLang="en-US" sz="22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Activation: IKK kinase phosphorylates I-kappa</a:t>
            </a:r>
            <a:r>
              <a:rPr lang="en-US" altLang="en-US" sz="2200" dirty="0">
                <a:latin typeface="Calibri Light" panose="020F0302020204030204" pitchFamily="34" charset="0"/>
                <a:ea typeface="Calibri Light" panose="020F0302020204030204" pitchFamily="34" charset="0"/>
                <a:cs typeface="Calibri Light" panose="020F0302020204030204" pitchFamily="34" charset="0"/>
              </a:rPr>
              <a:t> </a:t>
            </a:r>
            <a:r>
              <a:rPr kumimoji="0" lang="en-US" altLang="en-US" sz="22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B </a:t>
            </a:r>
            <a:r>
              <a:rPr kumimoji="0" lang="en-US" altLang="en-US" sz="22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sym typeface="Wingdings" panose="05000000000000000000" pitchFamily="2" charset="2"/>
              </a:rPr>
              <a:t></a:t>
            </a:r>
            <a:r>
              <a:rPr kumimoji="0" lang="en-US" altLang="en-US" sz="22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I-kappa</a:t>
            </a:r>
            <a:r>
              <a:rPr lang="en-US" altLang="en-US" sz="2200" dirty="0">
                <a:latin typeface="Calibri Light" panose="020F0302020204030204" pitchFamily="34" charset="0"/>
                <a:ea typeface="Calibri Light" panose="020F0302020204030204" pitchFamily="34" charset="0"/>
                <a:cs typeface="Calibri Light" panose="020F0302020204030204" pitchFamily="34" charset="0"/>
              </a:rPr>
              <a:t> </a:t>
            </a:r>
            <a:r>
              <a:rPr kumimoji="0" lang="en-US" altLang="en-US" sz="22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B degraded.</a:t>
            </a:r>
          </a:p>
          <a:p>
            <a:pPr marL="800100" lvl="1" indent="-342900" algn="just" eaLnBrk="0" fontAlgn="base" hangingPunct="0">
              <a:lnSpc>
                <a:spcPct val="120000"/>
              </a:lnSpc>
              <a:spcBef>
                <a:spcPct val="0"/>
              </a:spcBef>
              <a:spcAft>
                <a:spcPct val="0"/>
              </a:spcAft>
              <a:buFont typeface="Wingdings" panose="05000000000000000000" pitchFamily="2" charset="2"/>
              <a:buChar char="§"/>
            </a:pPr>
            <a:r>
              <a:rPr kumimoji="0" lang="en-US" altLang="en-US" sz="22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Result: NF-kappa</a:t>
            </a:r>
            <a:r>
              <a:rPr lang="en-US" altLang="en-US" sz="2200" dirty="0">
                <a:latin typeface="Calibri Light" panose="020F0302020204030204" pitchFamily="34" charset="0"/>
                <a:ea typeface="Calibri Light" panose="020F0302020204030204" pitchFamily="34" charset="0"/>
                <a:cs typeface="Calibri Light" panose="020F0302020204030204" pitchFamily="34" charset="0"/>
              </a:rPr>
              <a:t> </a:t>
            </a:r>
            <a:r>
              <a:rPr kumimoji="0" lang="en-US" altLang="en-US" sz="22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B (p50/p65) is free to enter nucleus.</a:t>
            </a:r>
          </a:p>
          <a:p>
            <a:pPr marL="342900" marR="0" lvl="0" indent="-342900" algn="just" defTabSz="914400" rtl="0" eaLnBrk="0" fontAlgn="base" latinLnBrk="0" hangingPunct="0">
              <a:lnSpc>
                <a:spcPct val="120000"/>
              </a:lnSpc>
              <a:spcBef>
                <a:spcPct val="0"/>
              </a:spcBef>
              <a:spcAft>
                <a:spcPct val="0"/>
              </a:spcAft>
              <a:buClrTx/>
              <a:buSzTx/>
              <a:buFont typeface="Arial" panose="020B0604020202020204" pitchFamily="34" charset="0"/>
              <a:buChar char="•"/>
              <a:tabLst/>
            </a:pPr>
            <a:r>
              <a:rPr kumimoji="0" lang="en-US" altLang="en-US" sz="22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WNT Pathway:</a:t>
            </a:r>
          </a:p>
          <a:p>
            <a:pPr marL="800100" lvl="1" indent="-342900" algn="just" eaLnBrk="0" fontAlgn="base" hangingPunct="0">
              <a:lnSpc>
                <a:spcPct val="120000"/>
              </a:lnSpc>
              <a:spcBef>
                <a:spcPct val="0"/>
              </a:spcBef>
              <a:spcAft>
                <a:spcPct val="0"/>
              </a:spcAft>
              <a:buFont typeface="Wingdings" panose="05000000000000000000" pitchFamily="2" charset="2"/>
              <a:buChar char="§"/>
            </a:pPr>
            <a:r>
              <a:rPr kumimoji="0" lang="en-US" altLang="en-US" sz="22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Resting State: beta-catenin is degraded by GSK3 complex.</a:t>
            </a:r>
          </a:p>
          <a:p>
            <a:pPr marL="800100" lvl="1" indent="-342900" algn="just" eaLnBrk="0" fontAlgn="base" hangingPunct="0">
              <a:lnSpc>
                <a:spcPct val="120000"/>
              </a:lnSpc>
              <a:spcBef>
                <a:spcPct val="0"/>
              </a:spcBef>
              <a:spcAft>
                <a:spcPct val="0"/>
              </a:spcAft>
              <a:buFont typeface="Wingdings" panose="05000000000000000000" pitchFamily="2" charset="2"/>
              <a:buChar char="§"/>
            </a:pPr>
            <a:r>
              <a:rPr kumimoji="0" lang="en-US" altLang="en-US" sz="22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Signal: WNT binds Frizzled receptor.</a:t>
            </a:r>
          </a:p>
          <a:p>
            <a:pPr marL="800100" lvl="1" indent="-342900" algn="just" eaLnBrk="0" fontAlgn="base" hangingPunct="0">
              <a:lnSpc>
                <a:spcPct val="120000"/>
              </a:lnSpc>
              <a:spcBef>
                <a:spcPct val="0"/>
              </a:spcBef>
              <a:spcAft>
                <a:spcPct val="0"/>
              </a:spcAft>
              <a:buFont typeface="Wingdings" panose="05000000000000000000" pitchFamily="2" charset="2"/>
              <a:buChar char="§"/>
            </a:pPr>
            <a:r>
              <a:rPr kumimoji="0" lang="en-US" altLang="en-US" sz="22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Activation: </a:t>
            </a:r>
            <a:r>
              <a:rPr kumimoji="0" lang="en-US" altLang="en-US" sz="2200" i="0" u="none" strike="noStrike" cap="none" normalizeH="0" baseline="0" dirty="0" err="1">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Dishevelled</a:t>
            </a:r>
            <a:r>
              <a:rPr kumimoji="0" lang="en-US" altLang="en-US" sz="22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(DVL) blocks GSK3 </a:t>
            </a:r>
            <a:r>
              <a:rPr kumimoji="0" lang="en-US" altLang="en-US" sz="22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sym typeface="Wingdings" panose="05000000000000000000" pitchFamily="2" charset="2"/>
              </a:rPr>
              <a:t></a:t>
            </a:r>
            <a:r>
              <a:rPr kumimoji="0" lang="en-US" altLang="en-US" sz="22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beta-catenin accumulates.</a:t>
            </a:r>
          </a:p>
          <a:p>
            <a:pPr marL="800100" lvl="1" indent="-342900" algn="just" eaLnBrk="0" fontAlgn="base" hangingPunct="0">
              <a:lnSpc>
                <a:spcPct val="120000"/>
              </a:lnSpc>
              <a:spcBef>
                <a:spcPct val="0"/>
              </a:spcBef>
              <a:spcAft>
                <a:spcPct val="0"/>
              </a:spcAft>
              <a:buFont typeface="Wingdings" panose="05000000000000000000" pitchFamily="2" charset="2"/>
              <a:buChar char="§"/>
            </a:pPr>
            <a:r>
              <a:rPr kumimoji="0" lang="en-US" altLang="en-US" sz="22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Result: beta-catenin enters nucleus </a:t>
            </a:r>
            <a:r>
              <a:rPr kumimoji="0" lang="en-US" altLang="en-US" sz="22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sym typeface="Wingdings" panose="05000000000000000000" pitchFamily="2" charset="2"/>
              </a:rPr>
              <a:t></a:t>
            </a:r>
            <a:r>
              <a:rPr kumimoji="0" lang="en-US" altLang="en-US" sz="22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Activates TCF7L2 transcription factor.</a:t>
            </a:r>
          </a:p>
        </p:txBody>
      </p:sp>
    </p:spTree>
    <p:extLst>
      <p:ext uri="{BB962C8B-B14F-4D97-AF65-F5344CB8AC3E}">
        <p14:creationId xmlns:p14="http://schemas.microsoft.com/office/powerpoint/2010/main" val="40480636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2635A84-5931-D1B3-DAA6-7EB2A6DD0E54}"/>
              </a:ext>
            </a:extLst>
          </p:cNvPr>
          <p:cNvSpPr txBox="1">
            <a:spLocks/>
          </p:cNvSpPr>
          <p:nvPr/>
        </p:nvSpPr>
        <p:spPr>
          <a:xfrm>
            <a:off x="598040" y="203263"/>
            <a:ext cx="10611492" cy="836165"/>
          </a:xfrm>
          <a:prstGeom prst="rect">
            <a:avLst/>
          </a:prstGeom>
        </p:spPr>
        <p:txBody>
          <a:bodyPr vert="horz" lIns="91440" tIns="45720" rIns="91440" bIns="45720" rtlCol="0" anchor="b">
            <a:normAutofit fontScale="85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5400" b="1" dirty="0">
                <a:latin typeface="Calibri Light" panose="020F0302020204030204" pitchFamily="34" charset="0"/>
                <a:ea typeface="Calibri Light" panose="020F0302020204030204" pitchFamily="34" charset="0"/>
                <a:cs typeface="Calibri Light" panose="020F0302020204030204" pitchFamily="34" charset="0"/>
              </a:rPr>
              <a:t>Specific Pathways: Hedgehog, NOTCH, NFAT</a:t>
            </a:r>
            <a:endParaRPr lang="en-US" sz="54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TextBox 2">
            <a:extLst>
              <a:ext uri="{FF2B5EF4-FFF2-40B4-BE49-F238E27FC236}">
                <a16:creationId xmlns:a16="http://schemas.microsoft.com/office/drawing/2014/main" id="{BD4F4C34-97D3-2899-8411-9E2C7F7D7206}"/>
              </a:ext>
            </a:extLst>
          </p:cNvPr>
          <p:cNvSpPr txBox="1"/>
          <p:nvPr/>
        </p:nvSpPr>
        <p:spPr>
          <a:xfrm>
            <a:off x="745498" y="1367434"/>
            <a:ext cx="10821371" cy="4940455"/>
          </a:xfrm>
          <a:prstGeom prst="rect">
            <a:avLst/>
          </a:prstGeom>
          <a:noFill/>
        </p:spPr>
        <p:txBody>
          <a:bodyPr wrap="square">
            <a:spAutoFit/>
          </a:bodyPr>
          <a:lstStyle/>
          <a:p>
            <a:pPr marL="342900" marR="0" lvl="0" indent="-342900" algn="just" defTabSz="914400" rtl="0" eaLnBrk="0" fontAlgn="base" latinLnBrk="0" hangingPunct="0">
              <a:lnSpc>
                <a:spcPct val="120000"/>
              </a:lnSpc>
              <a:spcBef>
                <a:spcPct val="0"/>
              </a:spcBef>
              <a:spcAft>
                <a:spcPct val="0"/>
              </a:spcAft>
              <a:buClrTx/>
              <a:buSzTx/>
              <a:buFont typeface="Arial" panose="020B0604020202020204" pitchFamily="34" charset="0"/>
              <a:buChar char="•"/>
              <a:tabLst/>
            </a:pPr>
            <a:r>
              <a:rPr kumimoji="0" lang="en-US" altLang="en-US" sz="22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Hedgehog (</a:t>
            </a:r>
            <a:r>
              <a:rPr kumimoji="0" lang="en-US" altLang="en-US" sz="2200" i="0" u="none" strike="noStrike" cap="none" normalizeH="0" baseline="0" dirty="0" err="1">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Hh</a:t>
            </a:r>
            <a:r>
              <a:rPr kumimoji="0" lang="en-US" altLang="en-US" sz="22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a:t>
            </a:r>
          </a:p>
          <a:p>
            <a:pPr marL="800100" lvl="1" indent="-342900" algn="just" eaLnBrk="0" fontAlgn="base" hangingPunct="0">
              <a:lnSpc>
                <a:spcPct val="120000"/>
              </a:lnSpc>
              <a:spcBef>
                <a:spcPct val="0"/>
              </a:spcBef>
              <a:spcAft>
                <a:spcPct val="0"/>
              </a:spcAft>
              <a:buFont typeface="Wingdings" panose="05000000000000000000" pitchFamily="2" charset="2"/>
              <a:buChar char="§"/>
            </a:pPr>
            <a:r>
              <a:rPr kumimoji="0" lang="en-US" altLang="en-US" sz="22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Ligand (</a:t>
            </a:r>
            <a:r>
              <a:rPr kumimoji="0" lang="en-US" altLang="en-US" sz="2200" i="0" u="none" strike="noStrike" cap="none" normalizeH="0" baseline="0" dirty="0" err="1">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Hh</a:t>
            </a:r>
            <a:r>
              <a:rPr kumimoji="0" lang="en-US" altLang="en-US" sz="22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relieves repression of Smoothened receptor.</a:t>
            </a:r>
          </a:p>
          <a:p>
            <a:pPr marL="800100" lvl="1" indent="-342900" algn="just" eaLnBrk="0" fontAlgn="base" hangingPunct="0">
              <a:lnSpc>
                <a:spcPct val="120000"/>
              </a:lnSpc>
              <a:spcBef>
                <a:spcPct val="0"/>
              </a:spcBef>
              <a:spcAft>
                <a:spcPct val="0"/>
              </a:spcAft>
              <a:buFont typeface="Wingdings" panose="05000000000000000000" pitchFamily="2" charset="2"/>
              <a:buChar char="§"/>
            </a:pPr>
            <a:r>
              <a:rPr kumimoji="0" lang="en-US" altLang="en-US" sz="22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Activates GLI transcription factors.</a:t>
            </a:r>
          </a:p>
          <a:p>
            <a:pPr marL="800100" lvl="1" indent="-342900" algn="just" eaLnBrk="0" fontAlgn="base" hangingPunct="0">
              <a:lnSpc>
                <a:spcPct val="120000"/>
              </a:lnSpc>
              <a:spcBef>
                <a:spcPct val="0"/>
              </a:spcBef>
              <a:spcAft>
                <a:spcPct val="0"/>
              </a:spcAft>
              <a:buFont typeface="Wingdings" panose="05000000000000000000" pitchFamily="2" charset="2"/>
              <a:buChar char="§"/>
            </a:pPr>
            <a:r>
              <a:rPr kumimoji="0" lang="en-US" altLang="en-US" sz="22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Crucial for embryogenesis.</a:t>
            </a:r>
          </a:p>
          <a:p>
            <a:pPr marL="342900" marR="0" lvl="0" indent="-342900" algn="just" defTabSz="914400" rtl="0" eaLnBrk="0" fontAlgn="base" latinLnBrk="0" hangingPunct="0">
              <a:lnSpc>
                <a:spcPct val="120000"/>
              </a:lnSpc>
              <a:spcBef>
                <a:spcPct val="0"/>
              </a:spcBef>
              <a:spcAft>
                <a:spcPct val="0"/>
              </a:spcAft>
              <a:buClrTx/>
              <a:buSzTx/>
              <a:buFont typeface="Arial" panose="020B0604020202020204" pitchFamily="34" charset="0"/>
              <a:buChar char="•"/>
              <a:tabLst/>
            </a:pPr>
            <a:r>
              <a:rPr kumimoji="0" lang="en-US" altLang="en-US" sz="22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NOTCH:</a:t>
            </a:r>
          </a:p>
          <a:p>
            <a:pPr marL="800100" lvl="1" indent="-342900" algn="just" eaLnBrk="0" fontAlgn="base" hangingPunct="0">
              <a:lnSpc>
                <a:spcPct val="120000"/>
              </a:lnSpc>
              <a:spcBef>
                <a:spcPct val="0"/>
              </a:spcBef>
              <a:spcAft>
                <a:spcPct val="0"/>
              </a:spcAft>
              <a:buFont typeface="Wingdings" panose="05000000000000000000" pitchFamily="2" charset="2"/>
              <a:buChar char="§"/>
            </a:pPr>
            <a:r>
              <a:rPr kumimoji="0" lang="en-US" altLang="en-US" sz="22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Contact-dependent signaling (Delta/Jagged ligands).</a:t>
            </a:r>
          </a:p>
          <a:p>
            <a:pPr marL="800100" lvl="1" indent="-342900" algn="just" eaLnBrk="0" fontAlgn="base" hangingPunct="0">
              <a:lnSpc>
                <a:spcPct val="120000"/>
              </a:lnSpc>
              <a:spcBef>
                <a:spcPct val="0"/>
              </a:spcBef>
              <a:spcAft>
                <a:spcPct val="0"/>
              </a:spcAft>
              <a:buFont typeface="Wingdings" panose="05000000000000000000" pitchFamily="2" charset="2"/>
              <a:buChar char="§"/>
            </a:pPr>
            <a:r>
              <a:rPr kumimoji="0" lang="en-US" altLang="en-US" sz="22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Mechanism: Proteolytic cleavage of NOTCH receptor.</a:t>
            </a:r>
          </a:p>
          <a:p>
            <a:pPr marL="800100" lvl="1" indent="-342900" algn="just" eaLnBrk="0" fontAlgn="base" hangingPunct="0">
              <a:lnSpc>
                <a:spcPct val="120000"/>
              </a:lnSpc>
              <a:spcBef>
                <a:spcPct val="0"/>
              </a:spcBef>
              <a:spcAft>
                <a:spcPct val="0"/>
              </a:spcAft>
              <a:buFont typeface="Wingdings" panose="05000000000000000000" pitchFamily="2" charset="2"/>
              <a:buChar char="§"/>
            </a:pPr>
            <a:r>
              <a:rPr kumimoji="0" lang="en-US" altLang="en-US" sz="22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Result: Intracellular Domain (NICD) travels to nucleus </a:t>
            </a:r>
            <a:r>
              <a:rPr kumimoji="0" lang="en-US" altLang="en-US" sz="22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sym typeface="Wingdings" panose="05000000000000000000" pitchFamily="2" charset="2"/>
              </a:rPr>
              <a:t></a:t>
            </a:r>
            <a:r>
              <a:rPr kumimoji="0" lang="en-US" altLang="en-US" sz="22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Binds RBPJ.</a:t>
            </a:r>
          </a:p>
          <a:p>
            <a:pPr marL="342900" marR="0" lvl="0" indent="-342900" algn="just" defTabSz="914400" rtl="0" eaLnBrk="0" fontAlgn="base" latinLnBrk="0" hangingPunct="0">
              <a:lnSpc>
                <a:spcPct val="120000"/>
              </a:lnSpc>
              <a:spcBef>
                <a:spcPct val="0"/>
              </a:spcBef>
              <a:spcAft>
                <a:spcPct val="0"/>
              </a:spcAft>
              <a:buClrTx/>
              <a:buSzTx/>
              <a:buFont typeface="Arial" panose="020B0604020202020204" pitchFamily="34" charset="0"/>
              <a:buChar char="•"/>
              <a:tabLst/>
            </a:pPr>
            <a:r>
              <a:rPr kumimoji="0" lang="en-US" altLang="en-US" sz="22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NFAT (Ca</a:t>
            </a:r>
            <a:r>
              <a:rPr kumimoji="0" lang="en-US" altLang="en-US" sz="2200" i="0" u="none" strike="noStrike" cap="none" normalizeH="0" baseline="3000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2+</a:t>
            </a:r>
            <a:r>
              <a:rPr kumimoji="0" lang="en-US" altLang="en-US" sz="22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Signaling):</a:t>
            </a:r>
          </a:p>
          <a:p>
            <a:pPr marL="800100" lvl="1" indent="-342900" algn="just" eaLnBrk="0" fontAlgn="base" hangingPunct="0">
              <a:lnSpc>
                <a:spcPct val="120000"/>
              </a:lnSpc>
              <a:spcBef>
                <a:spcPct val="0"/>
              </a:spcBef>
              <a:spcAft>
                <a:spcPct val="0"/>
              </a:spcAft>
              <a:buFont typeface="Wingdings" panose="05000000000000000000" pitchFamily="2" charset="2"/>
              <a:buChar char="§"/>
            </a:pPr>
            <a:r>
              <a:rPr kumimoji="0" lang="en-US" altLang="en-US" sz="22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Signal: Calcium influx (e.g., in T-cells).</a:t>
            </a:r>
          </a:p>
          <a:p>
            <a:pPr marL="800100" lvl="1" indent="-342900" algn="just" eaLnBrk="0" fontAlgn="base" hangingPunct="0">
              <a:lnSpc>
                <a:spcPct val="120000"/>
              </a:lnSpc>
              <a:spcBef>
                <a:spcPct val="0"/>
              </a:spcBef>
              <a:spcAft>
                <a:spcPct val="0"/>
              </a:spcAft>
              <a:buFont typeface="Wingdings" panose="05000000000000000000" pitchFamily="2" charset="2"/>
              <a:buChar char="§"/>
            </a:pPr>
            <a:r>
              <a:rPr kumimoji="0" lang="en-US" altLang="en-US" sz="22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Mechanism: Calcineurin (phosphatase) dephosphorylates NFAT.</a:t>
            </a:r>
          </a:p>
          <a:p>
            <a:pPr marL="800100" lvl="1" indent="-342900" algn="just" eaLnBrk="0" fontAlgn="base" hangingPunct="0">
              <a:lnSpc>
                <a:spcPct val="120000"/>
              </a:lnSpc>
              <a:spcBef>
                <a:spcPct val="0"/>
              </a:spcBef>
              <a:spcAft>
                <a:spcPct val="0"/>
              </a:spcAft>
              <a:buFont typeface="Wingdings" panose="05000000000000000000" pitchFamily="2" charset="2"/>
              <a:buChar char="§"/>
            </a:pPr>
            <a:r>
              <a:rPr kumimoji="0" lang="en-US" altLang="en-US" sz="22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Result: Nuclear translocation.</a:t>
            </a:r>
          </a:p>
        </p:txBody>
      </p:sp>
    </p:spTree>
    <p:extLst>
      <p:ext uri="{BB962C8B-B14F-4D97-AF65-F5344CB8AC3E}">
        <p14:creationId xmlns:p14="http://schemas.microsoft.com/office/powerpoint/2010/main" val="102776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2635A84-5931-D1B3-DAA6-7EB2A6DD0E54}"/>
              </a:ext>
            </a:extLst>
          </p:cNvPr>
          <p:cNvSpPr txBox="1">
            <a:spLocks/>
          </p:cNvSpPr>
          <p:nvPr/>
        </p:nvSpPr>
        <p:spPr>
          <a:xfrm>
            <a:off x="598040" y="203263"/>
            <a:ext cx="10611492" cy="83616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5400" b="1" dirty="0">
                <a:latin typeface="Calibri Light" panose="020F0302020204030204" pitchFamily="34" charset="0"/>
                <a:ea typeface="Calibri Light" panose="020F0302020204030204" pitchFamily="34" charset="0"/>
                <a:cs typeface="Calibri Light" panose="020F0302020204030204" pitchFamily="34" charset="0"/>
              </a:rPr>
              <a:t>Clinical Relevance</a:t>
            </a:r>
            <a:endParaRPr lang="en-US" sz="54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TextBox 2">
            <a:extLst>
              <a:ext uri="{FF2B5EF4-FFF2-40B4-BE49-F238E27FC236}">
                <a16:creationId xmlns:a16="http://schemas.microsoft.com/office/drawing/2014/main" id="{BD4F4C34-97D3-2899-8411-9E2C7F7D7206}"/>
              </a:ext>
            </a:extLst>
          </p:cNvPr>
          <p:cNvSpPr txBox="1"/>
          <p:nvPr/>
        </p:nvSpPr>
        <p:spPr>
          <a:xfrm>
            <a:off x="745498" y="1367434"/>
            <a:ext cx="10821371" cy="4549835"/>
          </a:xfrm>
          <a:prstGeom prst="rect">
            <a:avLst/>
          </a:prstGeom>
          <a:noFill/>
        </p:spPr>
        <p:txBody>
          <a:bodyPr wrap="square">
            <a:spAutoFit/>
          </a:bodyPr>
          <a:lstStyle/>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Diseases:</a:t>
            </a:r>
          </a:p>
          <a:p>
            <a:pPr marL="914400" lvl="1" indent="-457200" algn="just" eaLnBrk="0" fontAlgn="base" hangingPunct="0">
              <a:lnSpc>
                <a:spcPct val="150000"/>
              </a:lnSpc>
              <a:spcBef>
                <a:spcPct val="0"/>
              </a:spcBef>
              <a:spcAft>
                <a:spcPct val="0"/>
              </a:spcAft>
              <a:buFont typeface="Wingdings" panose="05000000000000000000" pitchFamily="2" charset="2"/>
              <a:buChar char="§"/>
            </a:pPr>
            <a:r>
              <a:rPr kumimoji="0" lang="en-US" altLang="en-US" sz="28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Cancer: Mutations in p53 (Guardian of the genome) or overexpression of MYC.</a:t>
            </a:r>
          </a:p>
          <a:p>
            <a:pPr marL="914400" lvl="1" indent="-457200" algn="just" eaLnBrk="0" fontAlgn="base" hangingPunct="0">
              <a:lnSpc>
                <a:spcPct val="150000"/>
              </a:lnSpc>
              <a:spcBef>
                <a:spcPct val="0"/>
              </a:spcBef>
              <a:spcAft>
                <a:spcPct val="0"/>
              </a:spcAft>
              <a:buFont typeface="Wingdings" panose="05000000000000000000" pitchFamily="2" charset="2"/>
              <a:buChar char="§"/>
            </a:pPr>
            <a:r>
              <a:rPr kumimoji="0" lang="en-US" altLang="en-US" sz="28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Developmental Disorders: Mutations in HOX or PAX genes.</a:t>
            </a:r>
          </a:p>
          <a:p>
            <a:pPr marL="914400" lvl="1" indent="-457200" algn="just" eaLnBrk="0" fontAlgn="base" hangingPunct="0">
              <a:lnSpc>
                <a:spcPct val="150000"/>
              </a:lnSpc>
              <a:spcBef>
                <a:spcPct val="0"/>
              </a:spcBef>
              <a:spcAft>
                <a:spcPct val="0"/>
              </a:spcAft>
              <a:buFont typeface="Wingdings" panose="05000000000000000000" pitchFamily="2" charset="2"/>
              <a:buChar char="§"/>
            </a:pPr>
            <a:r>
              <a:rPr kumimoji="0" lang="en-US" altLang="en-US" sz="28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Immune Disorders: Dysregulation of NF-kappa</a:t>
            </a:r>
            <a:r>
              <a:rPr lang="en-US" altLang="en-US" sz="2800" dirty="0">
                <a:latin typeface="Calibri Light" panose="020F0302020204030204" pitchFamily="34" charset="0"/>
                <a:ea typeface="Calibri Light" panose="020F0302020204030204" pitchFamily="34" charset="0"/>
                <a:cs typeface="Calibri Light" panose="020F0302020204030204" pitchFamily="34" charset="0"/>
              </a:rPr>
              <a:t> </a:t>
            </a:r>
            <a:r>
              <a:rPr kumimoji="0" lang="en-US" altLang="en-US" sz="28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B or STAT.</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Therapy: TFs are major drug targets (e.g., Tamoxifen targets Estrogen Receptor).</a:t>
            </a:r>
          </a:p>
        </p:txBody>
      </p:sp>
    </p:spTree>
    <p:extLst>
      <p:ext uri="{BB962C8B-B14F-4D97-AF65-F5344CB8AC3E}">
        <p14:creationId xmlns:p14="http://schemas.microsoft.com/office/powerpoint/2010/main" val="36895986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2635A84-5931-D1B3-DAA6-7EB2A6DD0E54}"/>
              </a:ext>
            </a:extLst>
          </p:cNvPr>
          <p:cNvSpPr txBox="1">
            <a:spLocks/>
          </p:cNvSpPr>
          <p:nvPr/>
        </p:nvSpPr>
        <p:spPr>
          <a:xfrm>
            <a:off x="598040" y="203263"/>
            <a:ext cx="10611492" cy="83616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5400" b="1" dirty="0">
                <a:latin typeface="Calibri Light" panose="020F0302020204030204" pitchFamily="34" charset="0"/>
                <a:ea typeface="Calibri Light" panose="020F0302020204030204" pitchFamily="34" charset="0"/>
                <a:cs typeface="Calibri Light" panose="020F0302020204030204" pitchFamily="34" charset="0"/>
              </a:rPr>
              <a:t>Summary</a:t>
            </a:r>
            <a:endParaRPr lang="en-US" sz="54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TextBox 2">
            <a:extLst>
              <a:ext uri="{FF2B5EF4-FFF2-40B4-BE49-F238E27FC236}">
                <a16:creationId xmlns:a16="http://schemas.microsoft.com/office/drawing/2014/main" id="{BD4F4C34-97D3-2899-8411-9E2C7F7D7206}"/>
              </a:ext>
            </a:extLst>
          </p:cNvPr>
          <p:cNvSpPr txBox="1"/>
          <p:nvPr/>
        </p:nvSpPr>
        <p:spPr>
          <a:xfrm>
            <a:off x="745498" y="1367434"/>
            <a:ext cx="10821371" cy="3257174"/>
          </a:xfrm>
          <a:prstGeom prst="rect">
            <a:avLst/>
          </a:prstGeom>
          <a:noFill/>
        </p:spPr>
        <p:txBody>
          <a:bodyPr wrap="square">
            <a:spAutoFit/>
          </a:bodyPr>
          <a:lstStyle/>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TFs convert environmental/internal signals into gene expression changes.</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Classified by structure (Zinc Finger, HTH) and activation mode (Constitutive vs. Inducible).</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Operate in complex networks involving homo/heterodimerization.</a:t>
            </a:r>
          </a:p>
        </p:txBody>
      </p:sp>
    </p:spTree>
    <p:extLst>
      <p:ext uri="{BB962C8B-B14F-4D97-AF65-F5344CB8AC3E}">
        <p14:creationId xmlns:p14="http://schemas.microsoft.com/office/powerpoint/2010/main" val="690876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A2FDC-DBEB-99F5-E8DD-22AC2DE42B71}"/>
              </a:ext>
            </a:extLst>
          </p:cNvPr>
          <p:cNvSpPr>
            <a:spLocks noGrp="1"/>
          </p:cNvSpPr>
          <p:nvPr>
            <p:ph type="ctrTitle"/>
          </p:nvPr>
        </p:nvSpPr>
        <p:spPr>
          <a:xfrm>
            <a:off x="1524000" y="868362"/>
            <a:ext cx="9144000" cy="2387600"/>
          </a:xfrm>
        </p:spPr>
        <p:txBody>
          <a:bodyPr>
            <a:normAutofit/>
          </a:bodyPr>
          <a:lstStyle/>
          <a:p>
            <a:r>
              <a:rPr lang="vi-VN" sz="7200" b="1" i="0" dirty="0">
                <a:solidFill>
                  <a:schemeClr val="tx1"/>
                </a:solidFill>
                <a:effectLst/>
                <a:latin typeface="Calibri Light" panose="020F0302020204030204" pitchFamily="34" charset="0"/>
              </a:rPr>
              <a:t>Xin chân thành cảm ơn!</a:t>
            </a:r>
            <a:endParaRPr lang="en-US" sz="7200" dirty="0">
              <a:solidFill>
                <a:schemeClr val="tx1"/>
              </a:solidFill>
            </a:endParaRPr>
          </a:p>
        </p:txBody>
      </p:sp>
      <p:sp>
        <p:nvSpPr>
          <p:cNvPr id="3" name="Subtitle 2">
            <a:extLst>
              <a:ext uri="{FF2B5EF4-FFF2-40B4-BE49-F238E27FC236}">
                <a16:creationId xmlns:a16="http://schemas.microsoft.com/office/drawing/2014/main" id="{528AAA23-BC4D-773B-8E37-395D5A12E168}"/>
              </a:ext>
            </a:extLst>
          </p:cNvPr>
          <p:cNvSpPr>
            <a:spLocks noGrp="1"/>
          </p:cNvSpPr>
          <p:nvPr>
            <p:ph type="subTitle" idx="1"/>
          </p:nvPr>
        </p:nvSpPr>
        <p:spPr/>
        <p:txBody>
          <a:bodyPr>
            <a:noAutofit/>
          </a:bodyPr>
          <a:lstStyle/>
          <a:p>
            <a:r>
              <a:rPr lang="en-US" dirty="0">
                <a:solidFill>
                  <a:schemeClr val="tx1"/>
                </a:solidFill>
              </a:rPr>
              <a:t>Luu Phuc Loi, PhD</a:t>
            </a:r>
          </a:p>
          <a:p>
            <a:r>
              <a:rPr lang="en-US" dirty="0" err="1">
                <a:solidFill>
                  <a:schemeClr val="tx1"/>
                </a:solidFill>
              </a:rPr>
              <a:t>Zalo</a:t>
            </a:r>
            <a:r>
              <a:rPr lang="en-US" dirty="0">
                <a:solidFill>
                  <a:schemeClr val="tx1"/>
                </a:solidFill>
              </a:rPr>
              <a:t>: 0901802182</a:t>
            </a:r>
          </a:p>
          <a:p>
            <a:r>
              <a:rPr lang="en-US" dirty="0">
                <a:solidFill>
                  <a:schemeClr val="tx1"/>
                </a:solidFill>
              </a:rPr>
              <a:t>luu.p.loi@googlemail.com</a:t>
            </a:r>
          </a:p>
        </p:txBody>
      </p:sp>
    </p:spTree>
    <p:extLst>
      <p:ext uri="{BB962C8B-B14F-4D97-AF65-F5344CB8AC3E}">
        <p14:creationId xmlns:p14="http://schemas.microsoft.com/office/powerpoint/2010/main" val="322110310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EC76B5"/>
      </a:hlink>
      <a:folHlink>
        <a:srgbClr val="E8ACCD"/>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A207AED3-9ABC-4A18-9978-A59B65688B1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12164</TotalTime>
  <Words>3177</Words>
  <Application>Microsoft Office PowerPoint</Application>
  <PresentationFormat>Widescreen</PresentationFormat>
  <Paragraphs>227</Paragraphs>
  <Slides>38</Slides>
  <Notes>19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Arial</vt:lpstr>
      <vt:lpstr>Calibri Light</vt:lpstr>
      <vt:lpstr>Courier New</vt:lpstr>
      <vt:lpstr>Wingdings</vt:lpstr>
      <vt:lpstr>Wingdings 3</vt:lpstr>
      <vt:lpstr>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ChIP-seq for Histone modifications, TFBSs and DNAaseI Hypersensitivity</vt:lpstr>
      <vt:lpstr>PowerPoint Presentation</vt:lpstr>
      <vt:lpstr>PowerPoint Presentation</vt:lpstr>
      <vt:lpstr>PowerPoint Presentation</vt:lpstr>
      <vt:lpstr>PowerPoint Presentation</vt:lpstr>
      <vt:lpstr>PowerPoint Presentation</vt:lpstr>
      <vt:lpstr>ChIP profiles: Examples of the profiles generated by chromatin immunoprecipitation</vt:lpstr>
      <vt:lpstr>ChIP profiles: Examples of different types of ChIP–seq tag density profiles in human T cells</vt:lpstr>
      <vt:lpstr>Types of ChIP-seq</vt:lpstr>
      <vt:lpstr>Peak types and locations of histone methylation </vt:lpstr>
      <vt:lpstr>Peak types and locations of histone modifications </vt:lpstr>
      <vt:lpstr>PowerPoint Presentation</vt:lpstr>
      <vt:lpstr>ATAC-seq</vt:lpstr>
      <vt:lpstr>ATAC-seq</vt:lpstr>
      <vt:lpstr>Population-scale measurements of chromatin accessibility reflect the average accessibility of a heterogeneous collection of single molecules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Xin chân thành cảm ơn!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Luu Loi</dc:creator>
  <cp:lastModifiedBy>Luu Loi</cp:lastModifiedBy>
  <cp:revision>538</cp:revision>
  <dcterms:created xsi:type="dcterms:W3CDTF">2024-11-15T02:34:27Z</dcterms:created>
  <dcterms:modified xsi:type="dcterms:W3CDTF">2025-11-30T14:11:35Z</dcterms:modified>
</cp:coreProperties>
</file>