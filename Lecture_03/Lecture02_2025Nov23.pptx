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0" r:id="rId1"/>
  </p:sldMasterIdLst>
  <p:notesMasterIdLst>
    <p:notesMasterId r:id="rId34"/>
  </p:notesMasterIdLst>
  <p:sldIdLst>
    <p:sldId id="257" r:id="rId2"/>
    <p:sldId id="340" r:id="rId3"/>
    <p:sldId id="4792" r:id="rId4"/>
    <p:sldId id="4810" r:id="rId5"/>
    <p:sldId id="4785" r:id="rId6"/>
    <p:sldId id="4783" r:id="rId7"/>
    <p:sldId id="4784" r:id="rId8"/>
    <p:sldId id="4787" r:id="rId9"/>
    <p:sldId id="4786" r:id="rId10"/>
    <p:sldId id="4788" r:id="rId11"/>
    <p:sldId id="4752" r:id="rId12"/>
    <p:sldId id="4789" r:id="rId13"/>
    <p:sldId id="4791" r:id="rId14"/>
    <p:sldId id="4807" r:id="rId15"/>
    <p:sldId id="4808" r:id="rId16"/>
    <p:sldId id="4790" r:id="rId17"/>
    <p:sldId id="4793" r:id="rId18"/>
    <p:sldId id="4794" r:id="rId19"/>
    <p:sldId id="4795" r:id="rId20"/>
    <p:sldId id="4809" r:id="rId21"/>
    <p:sldId id="4796" r:id="rId22"/>
    <p:sldId id="4797" r:id="rId23"/>
    <p:sldId id="4798" r:id="rId24"/>
    <p:sldId id="4799" r:id="rId25"/>
    <p:sldId id="4800" r:id="rId26"/>
    <p:sldId id="4801" r:id="rId27"/>
    <p:sldId id="4802" r:id="rId28"/>
    <p:sldId id="4803" r:id="rId29"/>
    <p:sldId id="4804" r:id="rId30"/>
    <p:sldId id="4805" r:id="rId31"/>
    <p:sldId id="4806" r:id="rId32"/>
    <p:sldId id="273"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6" autoAdjust="0"/>
    <p:restoredTop sz="91372" autoAdjust="0"/>
  </p:normalViewPr>
  <p:slideViewPr>
    <p:cSldViewPr snapToGrid="0">
      <p:cViewPr>
        <p:scale>
          <a:sx n="70" d="100"/>
          <a:sy n="70" d="100"/>
        </p:scale>
        <p:origin x="669" y="35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Calibri Light" panose="020F030202020403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Calibri Light" panose="020F0302020204030204" pitchFamily="34" charset="0"/>
              </a:defRPr>
            </a:lvl1pPr>
          </a:lstStyle>
          <a:p>
            <a:fld id="{5CDF7F7E-F815-4845-9F25-6AA55375E7FC}" type="datetimeFigureOut">
              <a:rPr lang="en-US" smtClean="0"/>
              <a:pPr/>
              <a:t>11/23/2025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Calibri Light" panose="020F030202020403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Calibri Light" panose="020F0302020204030204" pitchFamily="34" charset="0"/>
              </a:defRPr>
            </a:lvl1pPr>
          </a:lstStyle>
          <a:p>
            <a:fld id="{BD503204-0D85-4D43-9361-EE939A533DBE}" type="slidenum">
              <a:rPr lang="en-US" smtClean="0"/>
              <a:pPr/>
              <a:t>‹#›</a:t>
            </a:fld>
            <a:endParaRPr lang="en-US" dirty="0"/>
          </a:p>
        </p:txBody>
      </p:sp>
    </p:spTree>
    <p:extLst>
      <p:ext uri="{BB962C8B-B14F-4D97-AF65-F5344CB8AC3E}">
        <p14:creationId xmlns:p14="http://schemas.microsoft.com/office/powerpoint/2010/main" val="2549709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Calibri Light" panose="020F0302020204030204" pitchFamily="34" charset="0"/>
        <a:ea typeface="+mn-ea"/>
        <a:cs typeface="+mn-cs"/>
      </a:defRPr>
    </a:lvl1pPr>
    <a:lvl2pPr marL="457200" algn="l" defTabSz="914400" rtl="0" eaLnBrk="1" latinLnBrk="0" hangingPunct="1">
      <a:defRPr sz="1200" kern="1200">
        <a:solidFill>
          <a:schemeClr val="tx1"/>
        </a:solidFill>
        <a:latin typeface="Calibri Light" panose="020F0302020204030204" pitchFamily="34" charset="0"/>
        <a:ea typeface="+mn-ea"/>
        <a:cs typeface="+mn-cs"/>
      </a:defRPr>
    </a:lvl2pPr>
    <a:lvl3pPr marL="914400" algn="l" defTabSz="914400" rtl="0" eaLnBrk="1" latinLnBrk="0" hangingPunct="1">
      <a:defRPr sz="1200" kern="1200">
        <a:solidFill>
          <a:schemeClr val="tx1"/>
        </a:solidFill>
        <a:latin typeface="Calibri Light" panose="020F0302020204030204" pitchFamily="34" charset="0"/>
        <a:ea typeface="+mn-ea"/>
        <a:cs typeface="+mn-cs"/>
      </a:defRPr>
    </a:lvl3pPr>
    <a:lvl4pPr marL="1371600" algn="l" defTabSz="914400" rtl="0" eaLnBrk="1" latinLnBrk="0" hangingPunct="1">
      <a:defRPr sz="1200" kern="1200">
        <a:solidFill>
          <a:schemeClr val="tx1"/>
        </a:solidFill>
        <a:latin typeface="Calibri Light" panose="020F0302020204030204" pitchFamily="34" charset="0"/>
        <a:ea typeface="+mn-ea"/>
        <a:cs typeface="+mn-cs"/>
      </a:defRPr>
    </a:lvl4pPr>
    <a:lvl5pPr marL="1828800" algn="l" defTabSz="914400" rtl="0" eaLnBrk="1" latinLnBrk="0" hangingPunct="1">
      <a:defRPr sz="1200" kern="1200">
        <a:solidFill>
          <a:schemeClr val="tx1"/>
        </a:solidFill>
        <a:latin typeface="Calibri Light" panose="020F030202020403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2" name="Google Shape;6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503204-0D85-4D43-9361-EE939A533DBE}" type="slidenum">
              <a:rPr lang="en-US" smtClean="0"/>
              <a:pPr/>
              <a:t>11</a:t>
            </a:fld>
            <a:endParaRPr lang="en-US" dirty="0"/>
          </a:p>
        </p:txBody>
      </p:sp>
    </p:spTree>
    <p:extLst>
      <p:ext uri="{BB962C8B-B14F-4D97-AF65-F5344CB8AC3E}">
        <p14:creationId xmlns:p14="http://schemas.microsoft.com/office/powerpoint/2010/main" val="27827459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503204-0D85-4D43-9361-EE939A533DBE}" type="slidenum">
              <a:rPr lang="en-US" smtClean="0"/>
              <a:pPr/>
              <a:t>16</a:t>
            </a:fld>
            <a:endParaRPr lang="en-US" dirty="0"/>
          </a:p>
        </p:txBody>
      </p:sp>
    </p:spTree>
    <p:extLst>
      <p:ext uri="{BB962C8B-B14F-4D97-AF65-F5344CB8AC3E}">
        <p14:creationId xmlns:p14="http://schemas.microsoft.com/office/powerpoint/2010/main" val="9985286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503204-0D85-4D43-9361-EE939A533DBE}" type="slidenum">
              <a:rPr lang="en-US" smtClean="0"/>
              <a:pPr/>
              <a:t>18</a:t>
            </a:fld>
            <a:endParaRPr lang="en-US" dirty="0"/>
          </a:p>
        </p:txBody>
      </p:sp>
    </p:spTree>
    <p:extLst>
      <p:ext uri="{BB962C8B-B14F-4D97-AF65-F5344CB8AC3E}">
        <p14:creationId xmlns:p14="http://schemas.microsoft.com/office/powerpoint/2010/main" val="25460932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503204-0D85-4D43-9361-EE939A533DBE}" type="slidenum">
              <a:rPr lang="en-US" smtClean="0"/>
              <a:pPr/>
              <a:t>20</a:t>
            </a:fld>
            <a:endParaRPr lang="en-US" dirty="0"/>
          </a:p>
        </p:txBody>
      </p:sp>
    </p:spTree>
    <p:extLst>
      <p:ext uri="{BB962C8B-B14F-4D97-AF65-F5344CB8AC3E}">
        <p14:creationId xmlns:p14="http://schemas.microsoft.com/office/powerpoint/2010/main" val="5742542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2BE7BA9-91CD-41CC-B7FA-68F96BC9FFCB}" type="datetimeFigureOut">
              <a:rPr lang="en-US" smtClean="0"/>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8FF577-10E9-484E-8F87-B30A3AFE558A}" type="slidenum">
              <a:rPr lang="en-US" smtClean="0"/>
              <a:t>‹#›</a:t>
            </a:fld>
            <a:endParaRPr lang="en-US"/>
          </a:p>
        </p:txBody>
      </p:sp>
    </p:spTree>
    <p:extLst>
      <p:ext uri="{BB962C8B-B14F-4D97-AF65-F5344CB8AC3E}">
        <p14:creationId xmlns:p14="http://schemas.microsoft.com/office/powerpoint/2010/main" val="29686083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2BE7BA9-91CD-41CC-B7FA-68F96BC9FFCB}" type="datetimeFigureOut">
              <a:rPr lang="en-US" smtClean="0"/>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8FF577-10E9-484E-8F87-B30A3AFE558A}" type="slidenum">
              <a:rPr lang="en-US" smtClean="0"/>
              <a:t>‹#›</a:t>
            </a:fld>
            <a:endParaRPr lang="en-US"/>
          </a:p>
        </p:txBody>
      </p:sp>
    </p:spTree>
    <p:extLst>
      <p:ext uri="{BB962C8B-B14F-4D97-AF65-F5344CB8AC3E}">
        <p14:creationId xmlns:p14="http://schemas.microsoft.com/office/powerpoint/2010/main" val="2222281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2BE7BA9-91CD-41CC-B7FA-68F96BC9FFCB}" type="datetimeFigureOut">
              <a:rPr lang="en-US" smtClean="0"/>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8FF577-10E9-484E-8F87-B30A3AFE558A}" type="slidenum">
              <a:rPr lang="en-US" smtClean="0"/>
              <a:t>‹#›</a:t>
            </a:fld>
            <a:endParaRPr lang="en-US"/>
          </a:p>
        </p:txBody>
      </p:sp>
    </p:spTree>
    <p:extLst>
      <p:ext uri="{BB962C8B-B14F-4D97-AF65-F5344CB8AC3E}">
        <p14:creationId xmlns:p14="http://schemas.microsoft.com/office/powerpoint/2010/main" val="32203906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2BE7BA9-91CD-41CC-B7FA-68F96BC9FFCB}" type="datetimeFigureOut">
              <a:rPr lang="en-US" smtClean="0"/>
              <a:t>11/23/2025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8FF577-10E9-484E-8F87-B30A3AFE558A}" type="slidenum">
              <a:rPr lang="en-US" smtClean="0"/>
              <a:t>‹#›</a:t>
            </a:fld>
            <a:endParaRPr lang="en-US"/>
          </a:p>
        </p:txBody>
      </p:sp>
    </p:spTree>
    <p:extLst>
      <p:ext uri="{BB962C8B-B14F-4D97-AF65-F5344CB8AC3E}">
        <p14:creationId xmlns:p14="http://schemas.microsoft.com/office/powerpoint/2010/main" val="13342352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2BE7BA9-91CD-41CC-B7FA-68F96BC9FFCB}" type="datetimeFigureOut">
              <a:rPr lang="en-US" smtClean="0"/>
              <a:t>11/23/2025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28FF577-10E9-484E-8F87-B30A3AFE558A}" type="slidenum">
              <a:rPr lang="en-US" smtClean="0"/>
              <a:t>‹#›</a:t>
            </a:fld>
            <a:endParaRPr lang="en-US"/>
          </a:p>
        </p:txBody>
      </p:sp>
    </p:spTree>
    <p:extLst>
      <p:ext uri="{BB962C8B-B14F-4D97-AF65-F5344CB8AC3E}">
        <p14:creationId xmlns:p14="http://schemas.microsoft.com/office/powerpoint/2010/main" val="5496319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D2BE7BA9-91CD-41CC-B7FA-68F96BC9FFCB}" type="datetimeFigureOut">
              <a:rPr lang="en-US" smtClean="0"/>
              <a:t>11/23/2025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028FF577-10E9-484E-8F87-B30A3AFE558A}" type="slidenum">
              <a:rPr lang="en-US" smtClean="0"/>
              <a:t>‹#›</a:t>
            </a:fld>
            <a:endParaRPr lang="en-US"/>
          </a:p>
        </p:txBody>
      </p:sp>
    </p:spTree>
    <p:extLst>
      <p:ext uri="{BB962C8B-B14F-4D97-AF65-F5344CB8AC3E}">
        <p14:creationId xmlns:p14="http://schemas.microsoft.com/office/powerpoint/2010/main" val="2289358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D2BE7BA9-91CD-41CC-B7FA-68F96BC9FFCB}" type="datetimeFigureOut">
              <a:rPr lang="en-US" smtClean="0"/>
              <a:t>11/23/2025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028FF577-10E9-484E-8F87-B30A3AFE558A}" type="slidenum">
              <a:rPr lang="en-US" smtClean="0"/>
              <a:t>‹#›</a:t>
            </a:fld>
            <a:endParaRPr lang="en-US"/>
          </a:p>
        </p:txBody>
      </p:sp>
    </p:spTree>
    <p:extLst>
      <p:ext uri="{BB962C8B-B14F-4D97-AF65-F5344CB8AC3E}">
        <p14:creationId xmlns:p14="http://schemas.microsoft.com/office/powerpoint/2010/main" val="6598913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3"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5" y="3129280"/>
            <a:ext cx="34010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D2BE7BA9-91CD-41CC-B7FA-68F96BC9FFCB}" type="datetimeFigureOut">
              <a:rPr lang="en-US" smtClean="0"/>
              <a:t>11/23/2025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028FF577-10E9-484E-8F87-B30A3AFE558A}" type="slidenum">
              <a:rPr lang="en-US" smtClean="0"/>
              <a:t>‹#›</a:t>
            </a:fld>
            <a:endParaRPr lang="en-US"/>
          </a:p>
        </p:txBody>
      </p:sp>
    </p:spTree>
    <p:extLst>
      <p:ext uri="{BB962C8B-B14F-4D97-AF65-F5344CB8AC3E}">
        <p14:creationId xmlns:p14="http://schemas.microsoft.com/office/powerpoint/2010/main" val="5263926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2BE7BA9-91CD-41CC-B7FA-68F96BC9FFCB}" type="datetimeFigureOut">
              <a:rPr lang="en-US" smtClean="0"/>
              <a:t>11/23/2025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8FF577-10E9-484E-8F87-B30A3AFE558A}" type="slidenum">
              <a:rPr lang="en-US" smtClean="0"/>
              <a:t>‹#›</a:t>
            </a:fld>
            <a:endParaRPr lang="en-US"/>
          </a:p>
        </p:txBody>
      </p:sp>
    </p:spTree>
    <p:extLst>
      <p:ext uri="{BB962C8B-B14F-4D97-AF65-F5344CB8AC3E}">
        <p14:creationId xmlns:p14="http://schemas.microsoft.com/office/powerpoint/2010/main" val="13741002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799"/>
            <a:ext cx="8825658" cy="3640667"/>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2BE7BA9-91CD-41CC-B7FA-68F96BC9FFCB}" type="datetimeFigureOut">
              <a:rPr lang="en-US" smtClean="0"/>
              <a:t>11/23/2025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8FF577-10E9-484E-8F87-B30A3AFE558A}" type="slidenum">
              <a:rPr lang="en-US" smtClean="0"/>
              <a:t>‹#›</a:t>
            </a:fld>
            <a:endParaRPr lang="en-US"/>
          </a:p>
        </p:txBody>
      </p:sp>
    </p:spTree>
    <p:extLst>
      <p:ext uri="{BB962C8B-B14F-4D97-AF65-F5344CB8AC3E}">
        <p14:creationId xmlns:p14="http://schemas.microsoft.com/office/powerpoint/2010/main" val="33347369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D2BE7BA9-91CD-41CC-B7FA-68F96BC9FFCB}" type="datetimeFigureOut">
              <a:rPr lang="en-US" smtClean="0"/>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8FF577-10E9-484E-8F87-B30A3AFE558A}" type="slidenum">
              <a:rPr lang="en-US" smtClean="0"/>
              <a:t>‹#›</a:t>
            </a:fld>
            <a:endParaRPr lang="en-US"/>
          </a:p>
        </p:txBody>
      </p:sp>
    </p:spTree>
    <p:extLst>
      <p:ext uri="{BB962C8B-B14F-4D97-AF65-F5344CB8AC3E}">
        <p14:creationId xmlns:p14="http://schemas.microsoft.com/office/powerpoint/2010/main" val="20937091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0" y="1447800"/>
            <a:ext cx="7999315" cy="2323374"/>
          </a:xfrm>
        </p:spPr>
        <p:txBody>
          <a:bodyPr/>
          <a:lstStyle>
            <a:lvl1pPr>
              <a:defRPr sz="4800"/>
            </a:lvl1pPr>
          </a:lstStyle>
          <a:p>
            <a:r>
              <a:rPr lang="en-US"/>
              <a:t>Click to edit Master title style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lumMod val="60000"/>
                    <a:lumOff val="40000"/>
                  </a:schemeClr>
                </a:solidFill>
                <a:latin typeface="Calibri Light" panose="020F0302020204030204" pitchFamily="34" charset="0"/>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D2BE7BA9-91CD-41CC-B7FA-68F96BC9FFCB}" type="datetimeFigureOut">
              <a:rPr lang="en-US" smtClean="0"/>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8FF577-10E9-484E-8F87-B30A3AFE558A}"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p>
            <a:pPr algn="r"/>
            <a:r>
              <a:rPr lang="en-US" sz="12200" b="0" i="0" dirty="0">
                <a:solidFill>
                  <a:schemeClr val="accent1">
                    <a:lumMod val="60000"/>
                    <a:lumOff val="40000"/>
                  </a:schemeClr>
                </a:solidFill>
                <a:latin typeface="Calibri Light" panose="020F0302020204030204" pitchFamily="34" charset="0"/>
                <a:ea typeface="+mj-ea"/>
                <a:cs typeface="+mj-cs"/>
              </a:rPr>
              <a:t>“</a:t>
            </a:r>
          </a:p>
        </p:txBody>
      </p:sp>
      <p:sp>
        <p:nvSpPr>
          <p:cNvPr id="11" name="TextBox 10"/>
          <p:cNvSpPr txBox="1"/>
          <p:nvPr/>
        </p:nvSpPr>
        <p:spPr>
          <a:xfrm>
            <a:off x="9330490" y="2613787"/>
            <a:ext cx="801912" cy="1969770"/>
          </a:xfrm>
          <a:prstGeom prst="rect">
            <a:avLst/>
          </a:prstGeom>
          <a:noFill/>
        </p:spPr>
        <p:txBody>
          <a:bodyPr wrap="square" rtlCol="0">
            <a:spAutoFit/>
          </a:bodyPr>
          <a:lstStyle/>
          <a:p>
            <a:pPr algn="r"/>
            <a:r>
              <a:rPr lang="en-US" sz="12200" b="0" i="0" dirty="0">
                <a:solidFill>
                  <a:schemeClr val="accent1">
                    <a:lumMod val="60000"/>
                    <a:lumOff val="40000"/>
                  </a:schemeClr>
                </a:solidFill>
                <a:latin typeface="Calibri Light" panose="020F0302020204030204" pitchFamily="34" charset="0"/>
                <a:ea typeface="+mj-ea"/>
                <a:cs typeface="+mj-cs"/>
              </a:rPr>
              <a:t>”</a:t>
            </a:r>
          </a:p>
        </p:txBody>
      </p:sp>
    </p:spTree>
    <p:extLst>
      <p:ext uri="{BB962C8B-B14F-4D97-AF65-F5344CB8AC3E}">
        <p14:creationId xmlns:p14="http://schemas.microsoft.com/office/powerpoint/2010/main" val="1709405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59"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2BE7BA9-91CD-41CC-B7FA-68F96BC9FFCB}" type="datetimeFigureOut">
              <a:rPr lang="en-US" smtClean="0"/>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8FF577-10E9-484E-8F87-B30A3AFE558A}" type="slidenum">
              <a:rPr lang="en-US" smtClean="0"/>
              <a:t>‹#›</a:t>
            </a:fld>
            <a:endParaRPr lang="en-US"/>
          </a:p>
        </p:txBody>
      </p:sp>
    </p:spTree>
    <p:extLst>
      <p:ext uri="{BB962C8B-B14F-4D97-AF65-F5344CB8AC3E}">
        <p14:creationId xmlns:p14="http://schemas.microsoft.com/office/powerpoint/2010/main" val="38924558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D2BE7BA9-91CD-41CC-B7FA-68F96BC9FFCB}" type="datetimeFigureOut">
              <a:rPr lang="en-US" smtClean="0"/>
              <a:t>11/23/2025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8FF577-10E9-484E-8F87-B30A3AFE558A}" type="slidenum">
              <a:rPr lang="en-US" smtClean="0"/>
              <a:t>‹#›</a:t>
            </a:fld>
            <a:endParaRPr lang="en-US"/>
          </a:p>
        </p:txBody>
      </p:sp>
    </p:spTree>
    <p:extLst>
      <p:ext uri="{BB962C8B-B14F-4D97-AF65-F5344CB8AC3E}">
        <p14:creationId xmlns:p14="http://schemas.microsoft.com/office/powerpoint/2010/main" val="11224605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D2BE7BA9-91CD-41CC-B7FA-68F96BC9FFCB}" type="datetimeFigureOut">
              <a:rPr lang="en-US" smtClean="0"/>
              <a:t>11/23/2025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8FF577-10E9-484E-8F87-B30A3AFE558A}" type="slidenum">
              <a:rPr lang="en-US" smtClean="0"/>
              <a:t>‹#›</a:t>
            </a:fld>
            <a:endParaRPr lang="en-US"/>
          </a:p>
        </p:txBody>
      </p:sp>
    </p:spTree>
    <p:extLst>
      <p:ext uri="{BB962C8B-B14F-4D97-AF65-F5344CB8AC3E}">
        <p14:creationId xmlns:p14="http://schemas.microsoft.com/office/powerpoint/2010/main" val="14414142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2BE7BA9-91CD-41CC-B7FA-68F96BC9FFCB}" type="datetimeFigureOut">
              <a:rPr lang="en-US" smtClean="0"/>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8FF577-10E9-484E-8F87-B30A3AFE558A}" type="slidenum">
              <a:rPr lang="en-US" smtClean="0"/>
              <a:t>‹#›</a:t>
            </a:fld>
            <a:endParaRPr lang="en-US"/>
          </a:p>
        </p:txBody>
      </p:sp>
    </p:spTree>
    <p:extLst>
      <p:ext uri="{BB962C8B-B14F-4D97-AF65-F5344CB8AC3E}">
        <p14:creationId xmlns:p14="http://schemas.microsoft.com/office/powerpoint/2010/main" val="3786557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2BE7BA9-91CD-41CC-B7FA-68F96BC9FFCB}" type="datetimeFigureOut">
              <a:rPr lang="en-US" smtClean="0"/>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8FF577-10E9-484E-8F87-B30A3AFE558A}" type="slidenum">
              <a:rPr lang="en-US" smtClean="0"/>
              <a:t>‹#›</a:t>
            </a:fld>
            <a:endParaRPr lang="en-US"/>
          </a:p>
        </p:txBody>
      </p:sp>
    </p:spTree>
    <p:extLst>
      <p:ext uri="{BB962C8B-B14F-4D97-AF65-F5344CB8AC3E}">
        <p14:creationId xmlns:p14="http://schemas.microsoft.com/office/powerpoint/2010/main" val="15563558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p:cSld name="1_Blank">
    <p:spTree>
      <p:nvGrpSpPr>
        <p:cNvPr id="1" name="Shape 16"/>
        <p:cNvGrpSpPr/>
        <p:nvPr/>
      </p:nvGrpSpPr>
      <p:grpSpPr>
        <a:xfrm>
          <a:off x="0" y="0"/>
          <a:ext cx="0" cy="0"/>
          <a:chOff x="0" y="0"/>
          <a:chExt cx="0" cy="0"/>
        </a:xfrm>
      </p:grpSpPr>
      <p:sp>
        <p:nvSpPr>
          <p:cNvPr id="17" name="Google Shape;17;p6"/>
          <p:cNvSpPr txBox="1">
            <a:spLocks noGrp="1"/>
          </p:cNvSpPr>
          <p:nvPr>
            <p:ph type="title"/>
          </p:nvPr>
        </p:nvSpPr>
        <p:spPr>
          <a:xfrm>
            <a:off x="304800" y="183092"/>
            <a:ext cx="5486400" cy="762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atin typeface="Calibri Light" panose="020F0302020204030204" pitchFamily="34" charset="0"/>
                <a:cs typeface="Calibri Light" panose="020F0302020204030204" pitchFamily="34" charset="0"/>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32945049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5.png"/><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0">
            <a:extLst>
              <a:ext uri="{28A0092B-C50C-407E-A947-70E740481C1C}">
                <a14:useLocalDpi xmlns:a14="http://schemas.microsoft.com/office/drawing/2010/main" val="0"/>
              </a:ext>
            </a:extLst>
          </a:blip>
          <a:srcRect l="3644"/>
          <a:stretch/>
        </p:blipFill>
        <p:spPr>
          <a:xfrm>
            <a:off x="0" y="2669685"/>
            <a:ext cx="4035669" cy="4188315"/>
          </a:xfrm>
          <a:prstGeom prst="rect">
            <a:avLst/>
          </a:prstGeom>
        </p:spPr>
      </p:pic>
      <p:pic>
        <p:nvPicPr>
          <p:cNvPr id="7" name="Picture 6"/>
          <p:cNvPicPr>
            <a:picLocks noChangeAspect="1"/>
          </p:cNvPicPr>
          <p:nvPr/>
        </p:nvPicPr>
        <p:blipFill rotWithShape="1">
          <a:blip r:embed="rId21">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2">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3">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latin typeface="Calibri Light" panose="020F0302020204030204" pitchFamily="34" charset="0"/>
              </a:defRPr>
            </a:lvl1pPr>
          </a:lstStyle>
          <a:p>
            <a:fld id="{D2BE7BA9-91CD-41CC-B7FA-68F96BC9FFCB}" type="datetimeFigureOut">
              <a:rPr lang="en-US" smtClean="0"/>
              <a:pPr/>
              <a:t>11/23/2025</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latin typeface="Calibri Light" panose="020F0302020204030204" pitchFamily="34" charset="0"/>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latin typeface="Calibri Light" panose="020F0302020204030204" pitchFamily="34" charset="0"/>
              </a:defRPr>
            </a:lvl1pPr>
          </a:lstStyle>
          <a:p>
            <a:fld id="{028FF577-10E9-484E-8F87-B30A3AFE558A}" type="slidenum">
              <a:rPr lang="en-US" smtClean="0"/>
              <a:pPr/>
              <a:t>‹#›</a:t>
            </a:fld>
            <a:endParaRPr lang="en-US" dirty="0"/>
          </a:p>
        </p:txBody>
      </p:sp>
    </p:spTree>
    <p:extLst>
      <p:ext uri="{BB962C8B-B14F-4D97-AF65-F5344CB8AC3E}">
        <p14:creationId xmlns:p14="http://schemas.microsoft.com/office/powerpoint/2010/main" val="2926321463"/>
      </p:ext>
    </p:extLst>
  </p:cSld>
  <p:clrMap bg1="dk1" tx1="lt1" bg2="dk2" tx2="lt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 id="2147483694" r:id="rId14"/>
    <p:sldLayoutId id="2147483695" r:id="rId15"/>
    <p:sldLayoutId id="2147483696" r:id="rId16"/>
    <p:sldLayoutId id="2147483697" r:id="rId17"/>
    <p:sldLayoutId id="2147483698" r:id="rId18"/>
  </p:sldLayoutIdLst>
  <p:txStyles>
    <p:titleStyle>
      <a:lvl1pPr algn="l" defTabSz="457200" rtl="0" eaLnBrk="1" latinLnBrk="0" hangingPunct="1">
        <a:spcBef>
          <a:spcPct val="0"/>
        </a:spcBef>
        <a:buNone/>
        <a:defRPr sz="4200" b="0" i="0" kern="1200">
          <a:solidFill>
            <a:schemeClr val="tx2"/>
          </a:solidFill>
          <a:latin typeface="Calibri Light" panose="020F0302020204030204" pitchFamily="34"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2000" b="0" i="0" kern="1200">
          <a:solidFill>
            <a:schemeClr val="tx1"/>
          </a:solidFill>
          <a:latin typeface="Calibri Light" panose="020F0302020204030204" pitchFamily="34" charset="0"/>
          <a:ea typeface="+mj-ea"/>
          <a:cs typeface="+mj-cs"/>
        </a:defRPr>
      </a:lvl1pPr>
      <a:lvl2pPr marL="742950" indent="-28575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800" b="0" i="0" kern="1200">
          <a:solidFill>
            <a:schemeClr val="tx1"/>
          </a:solidFill>
          <a:latin typeface="Calibri Light" panose="020F0302020204030204" pitchFamily="34" charset="0"/>
          <a:ea typeface="+mj-ea"/>
          <a:cs typeface="+mj-cs"/>
        </a:defRPr>
      </a:lvl2pPr>
      <a:lvl3pPr marL="1143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600" b="0" i="0" kern="1200">
          <a:solidFill>
            <a:schemeClr val="tx1"/>
          </a:solidFill>
          <a:latin typeface="Calibri Light" panose="020F0302020204030204" pitchFamily="34" charset="0"/>
          <a:ea typeface="+mj-ea"/>
          <a:cs typeface="+mj-cs"/>
        </a:defRPr>
      </a:lvl3pPr>
      <a:lvl4pPr marL="1600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Calibri Light" panose="020F0302020204030204" pitchFamily="34" charset="0"/>
          <a:ea typeface="+mj-ea"/>
          <a:cs typeface="+mj-cs"/>
        </a:defRPr>
      </a:lvl4pPr>
      <a:lvl5pPr marL="20574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Calibri Light" panose="020F0302020204030204" pitchFamily="34" charset="0"/>
          <a:ea typeface="+mj-ea"/>
          <a:cs typeface="+mj-cs"/>
        </a:defRPr>
      </a:lvl5pPr>
      <a:lvl6pPr marL="25146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Luu.p.loi@googlemail.com" TargetMode="External"/><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6" name="Google Shape;66;p1"/>
          <p:cNvSpPr txBox="1"/>
          <p:nvPr/>
        </p:nvSpPr>
        <p:spPr>
          <a:xfrm>
            <a:off x="1036320" y="918143"/>
            <a:ext cx="10226040" cy="1342917"/>
          </a:xfrm>
          <a:prstGeom prst="rect">
            <a:avLst/>
          </a:prstGeom>
          <a:noFill/>
          <a:ln>
            <a:noFill/>
          </a:ln>
        </p:spPr>
        <p:txBody>
          <a:bodyPr spcFirstLastPara="1" wrap="square" lIns="28400" tIns="28400" rIns="28400" bIns="28400" anchor="ctr" anchorCtr="0">
            <a:noAutofit/>
          </a:bodyPr>
          <a:lstStyle/>
          <a:p>
            <a:pPr algn="ctr">
              <a:spcBef>
                <a:spcPts val="133"/>
              </a:spcBef>
              <a:buClr>
                <a:schemeClr val="dk1"/>
              </a:buClr>
              <a:buSzPts val="1100"/>
            </a:pPr>
            <a:r>
              <a:rPr lang="en-GB" sz="5400" b="1" dirty="0">
                <a:solidFill>
                  <a:srgbClr val="FFFFFF"/>
                </a:solidFill>
                <a:latin typeface="Calibri Light" panose="020F0302020204030204" pitchFamily="34" charset="0"/>
                <a:ea typeface="Calibri Light" panose="020F0302020204030204" pitchFamily="34" charset="0"/>
                <a:cs typeface="Calibri Light" panose="020F0302020204030204" pitchFamily="34" charset="0"/>
                <a:sym typeface="Times New Roman"/>
              </a:rPr>
              <a:t>The Basal Transcriptional Machinery</a:t>
            </a:r>
            <a:endParaRPr lang="vi-VN" sz="5400" b="1" dirty="0">
              <a:latin typeface="Calibri Light" panose="020F0302020204030204" pitchFamily="34" charset="0"/>
              <a:cs typeface="Calibri Light" panose="020F0302020204030204" pitchFamily="34" charset="0"/>
            </a:endParaRPr>
          </a:p>
        </p:txBody>
      </p:sp>
      <p:sp>
        <p:nvSpPr>
          <p:cNvPr id="67" name="Google Shape;67;p1"/>
          <p:cNvSpPr txBox="1"/>
          <p:nvPr/>
        </p:nvSpPr>
        <p:spPr>
          <a:xfrm>
            <a:off x="5437414" y="4457608"/>
            <a:ext cx="5459186" cy="1538857"/>
          </a:xfrm>
          <a:prstGeom prst="rect">
            <a:avLst/>
          </a:prstGeom>
          <a:noFill/>
          <a:ln>
            <a:noFill/>
          </a:ln>
        </p:spPr>
        <p:txBody>
          <a:bodyPr spcFirstLastPara="1" wrap="square" lIns="60950" tIns="30467" rIns="60950" bIns="30467" anchor="t" anchorCtr="0">
            <a:spAutoFit/>
          </a:bodyPr>
          <a:lstStyle/>
          <a:p>
            <a:pPr algn="r"/>
            <a:r>
              <a:rPr lang="en-US" sz="2400" b="1" dirty="0">
                <a:solidFill>
                  <a:schemeClr val="lt1"/>
                </a:solidFill>
                <a:latin typeface="Calibri Light" panose="020F0302020204030204" pitchFamily="34" charset="0"/>
                <a:ea typeface="Calibri Light" panose="020F0302020204030204" pitchFamily="34" charset="0"/>
                <a:cs typeface="Calibri Light" panose="020F0302020204030204" pitchFamily="34" charset="0"/>
                <a:sym typeface="Calibri"/>
              </a:rPr>
              <a:t>Nov 23 2025</a:t>
            </a:r>
          </a:p>
          <a:p>
            <a:pPr algn="r"/>
            <a:r>
              <a:rPr lang="en-US" sz="2400" b="1" dirty="0" err="1">
                <a:solidFill>
                  <a:schemeClr val="lt1"/>
                </a:solidFill>
                <a:latin typeface="Calibri Light" panose="020F0302020204030204" pitchFamily="34" charset="0"/>
                <a:ea typeface="Calibri Light" panose="020F0302020204030204" pitchFamily="34" charset="0"/>
                <a:cs typeface="Calibri Light" panose="020F0302020204030204" pitchFamily="34" charset="0"/>
                <a:sym typeface="Calibri"/>
              </a:rPr>
              <a:t>Giảng</a:t>
            </a:r>
            <a:r>
              <a:rPr lang="en-US" sz="2400" b="1" dirty="0">
                <a:solidFill>
                  <a:schemeClr val="lt1"/>
                </a:solidFill>
                <a:latin typeface="Calibri Light" panose="020F0302020204030204" pitchFamily="34" charset="0"/>
                <a:ea typeface="Calibri Light" panose="020F0302020204030204" pitchFamily="34" charset="0"/>
                <a:cs typeface="Calibri Light" panose="020F0302020204030204" pitchFamily="34" charset="0"/>
                <a:sym typeface="Calibri"/>
              </a:rPr>
              <a:t> </a:t>
            </a:r>
            <a:r>
              <a:rPr lang="en-US" sz="2400" b="1" dirty="0" err="1">
                <a:solidFill>
                  <a:schemeClr val="lt1"/>
                </a:solidFill>
                <a:latin typeface="Calibri Light" panose="020F0302020204030204" pitchFamily="34" charset="0"/>
                <a:ea typeface="Calibri Light" panose="020F0302020204030204" pitchFamily="34" charset="0"/>
                <a:cs typeface="Calibri Light" panose="020F0302020204030204" pitchFamily="34" charset="0"/>
                <a:sym typeface="Calibri"/>
              </a:rPr>
              <a:t>viên</a:t>
            </a:r>
            <a:r>
              <a:rPr lang="en-US" sz="2400" b="1" dirty="0">
                <a:solidFill>
                  <a:schemeClr val="lt1"/>
                </a:solidFill>
                <a:latin typeface="Calibri Light" panose="020F0302020204030204" pitchFamily="34" charset="0"/>
                <a:ea typeface="Calibri Light" panose="020F0302020204030204" pitchFamily="34" charset="0"/>
                <a:cs typeface="Calibri Light" panose="020F0302020204030204" pitchFamily="34" charset="0"/>
                <a:sym typeface="Calibri"/>
              </a:rPr>
              <a:t>: TS. Lưu Phúc Lợi</a:t>
            </a:r>
          </a:p>
          <a:p>
            <a:pPr algn="r"/>
            <a:r>
              <a:rPr lang="en-US" sz="2400" b="1" dirty="0">
                <a:solidFill>
                  <a:schemeClr val="lt1"/>
                </a:solidFill>
                <a:latin typeface="Calibri Light" panose="020F0302020204030204" pitchFamily="34" charset="0"/>
                <a:cs typeface="Calibri Light" panose="020F0302020204030204" pitchFamily="34" charset="0"/>
                <a:sym typeface="Calibri"/>
              </a:rPr>
              <a:t>Email: </a:t>
            </a:r>
            <a:r>
              <a:rPr lang="en-US" sz="2400" b="1" dirty="0">
                <a:solidFill>
                  <a:schemeClr val="lt1"/>
                </a:solidFill>
                <a:latin typeface="Calibri Light" panose="020F0302020204030204" pitchFamily="34" charset="0"/>
                <a:cs typeface="Calibri Light" panose="020F0302020204030204" pitchFamily="34" charset="0"/>
                <a:sym typeface="Calibri"/>
                <a:hlinkClick r:id="rId3"/>
              </a:rPr>
              <a:t>Luu.p.loi@googlemail.com</a:t>
            </a:r>
            <a:endParaRPr lang="en-US" sz="2400" b="1" dirty="0">
              <a:solidFill>
                <a:schemeClr val="lt1"/>
              </a:solidFill>
              <a:latin typeface="Calibri Light" panose="020F0302020204030204" pitchFamily="34" charset="0"/>
              <a:cs typeface="Calibri Light" panose="020F0302020204030204" pitchFamily="34" charset="0"/>
              <a:sym typeface="Calibri"/>
            </a:endParaRPr>
          </a:p>
          <a:p>
            <a:pPr algn="r"/>
            <a:r>
              <a:rPr lang="en-US" sz="2400" b="1" dirty="0" err="1">
                <a:solidFill>
                  <a:schemeClr val="lt1"/>
                </a:solidFill>
                <a:latin typeface="Calibri Light" panose="020F0302020204030204" pitchFamily="34" charset="0"/>
                <a:cs typeface="Calibri Light" panose="020F0302020204030204" pitchFamily="34" charset="0"/>
                <a:sym typeface="Calibri"/>
              </a:rPr>
              <a:t>Zalo</a:t>
            </a:r>
            <a:r>
              <a:rPr lang="en-US" sz="2400" b="1" dirty="0">
                <a:solidFill>
                  <a:schemeClr val="lt1"/>
                </a:solidFill>
                <a:latin typeface="Calibri Light" panose="020F0302020204030204" pitchFamily="34" charset="0"/>
                <a:cs typeface="Calibri Light" panose="020F0302020204030204" pitchFamily="34" charset="0"/>
                <a:sym typeface="Calibri"/>
              </a:rPr>
              <a:t>: 0901802182</a:t>
            </a:r>
            <a:endParaRPr sz="1200" dirty="0">
              <a:latin typeface="Calibri Light" panose="020F0302020204030204" pitchFamily="34" charset="0"/>
              <a:cs typeface="Calibri Light" panose="020F0302020204030204" pitchFamily="34" charset="0"/>
            </a:endParaRPr>
          </a:p>
        </p:txBody>
      </p:sp>
      <p:sp>
        <p:nvSpPr>
          <p:cNvPr id="3" name="TextBox 2">
            <a:extLst>
              <a:ext uri="{FF2B5EF4-FFF2-40B4-BE49-F238E27FC236}">
                <a16:creationId xmlns:a16="http://schemas.microsoft.com/office/drawing/2014/main" id="{4220E326-3A6B-097D-A13C-0C8E1DDAD160}"/>
              </a:ext>
            </a:extLst>
          </p:cNvPr>
          <p:cNvSpPr txBox="1"/>
          <p:nvPr/>
        </p:nvSpPr>
        <p:spPr>
          <a:xfrm>
            <a:off x="1561863" y="2897669"/>
            <a:ext cx="8612279" cy="923330"/>
          </a:xfrm>
          <a:prstGeom prst="rect">
            <a:avLst/>
          </a:prstGeom>
          <a:noFill/>
        </p:spPr>
        <p:txBody>
          <a:bodyPr wrap="square">
            <a:spAutoFit/>
          </a:bodyPr>
          <a:lstStyle/>
          <a:p>
            <a:pPr algn="ctr"/>
            <a:r>
              <a:rPr lang="en-GB" b="1" dirty="0">
                <a:latin typeface="Calibri Light" panose="020F0302020204030204" pitchFamily="34" charset="0"/>
              </a:rPr>
              <a:t>Focus:</a:t>
            </a:r>
            <a:r>
              <a:rPr lang="en-GB" dirty="0">
                <a:latin typeface="Calibri Light" panose="020F0302020204030204" pitchFamily="34" charset="0"/>
              </a:rPr>
              <a:t> The Core Engine of Gene Expression. </a:t>
            </a:r>
          </a:p>
          <a:p>
            <a:pPr algn="ctr"/>
            <a:r>
              <a:rPr lang="en-GB" b="1" dirty="0">
                <a:latin typeface="Calibri Light" panose="020F0302020204030204" pitchFamily="34" charset="0"/>
              </a:rPr>
              <a:t>Goal:</a:t>
            </a:r>
            <a:r>
              <a:rPr lang="en-GB" dirty="0">
                <a:latin typeface="Calibri Light" panose="020F0302020204030204" pitchFamily="34" charset="0"/>
              </a:rPr>
              <a:t> Understanding the minimum requirements to transcribe DNA into RNA in eukaryotes.</a:t>
            </a:r>
          </a:p>
          <a:p>
            <a:pPr algn="ctr"/>
            <a:r>
              <a:rPr lang="en-GB" b="1" dirty="0">
                <a:latin typeface="Calibri Light" panose="020F0302020204030204" pitchFamily="34" charset="0"/>
              </a:rPr>
              <a:t>Chapter 3</a:t>
            </a:r>
            <a:r>
              <a:rPr lang="en-GB" dirty="0">
                <a:latin typeface="Calibri Light" panose="020F0302020204030204" pitchFamily="34" charset="0"/>
              </a:rPr>
              <a:t> of Gene Regulation and Epigenetics, Carsten Carlberg (2024)</a:t>
            </a:r>
            <a:endParaRPr lang="en-US" dirty="0">
              <a:latin typeface="Calibri Light" panose="020F030202020403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2635A84-5931-D1B3-DAA6-7EB2A6DD0E54}"/>
              </a:ext>
            </a:extLst>
          </p:cNvPr>
          <p:cNvSpPr txBox="1">
            <a:spLocks/>
          </p:cNvSpPr>
          <p:nvPr/>
        </p:nvSpPr>
        <p:spPr>
          <a:xfrm>
            <a:off x="819396" y="168317"/>
            <a:ext cx="10348687" cy="83616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dirty="0">
                <a:latin typeface="Calibri Light" panose="020F0302020204030204" pitchFamily="34" charset="0"/>
                <a:ea typeface="Calibri Light" panose="020F0302020204030204" pitchFamily="34" charset="0"/>
                <a:cs typeface="Calibri Light" panose="020F0302020204030204" pitchFamily="34" charset="0"/>
              </a:rPr>
              <a:t>Content</a:t>
            </a:r>
          </a:p>
        </p:txBody>
      </p:sp>
      <p:sp>
        <p:nvSpPr>
          <p:cNvPr id="3" name="TextBox 2">
            <a:extLst>
              <a:ext uri="{FF2B5EF4-FFF2-40B4-BE49-F238E27FC236}">
                <a16:creationId xmlns:a16="http://schemas.microsoft.com/office/drawing/2014/main" id="{BD4F4C34-97D3-2899-8411-9E2C7F7D7206}"/>
              </a:ext>
            </a:extLst>
          </p:cNvPr>
          <p:cNvSpPr txBox="1"/>
          <p:nvPr/>
        </p:nvSpPr>
        <p:spPr>
          <a:xfrm>
            <a:off x="300248" y="1397466"/>
            <a:ext cx="5336275" cy="4154984"/>
          </a:xfrm>
          <a:prstGeom prst="rect">
            <a:avLst/>
          </a:prstGeom>
          <a:noFill/>
        </p:spPr>
        <p:txBody>
          <a:bodyPr wrap="square">
            <a:spAutoFit/>
          </a:bodyPr>
          <a:lstStyle/>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GB" altLang="en-US" sz="24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Basal Transcription</a:t>
            </a:r>
            <a:endParaRPr kumimoji="0" lang="en-GB" altLang="en-US" sz="24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GB" altLang="en-US" sz="24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RNAPII Needs Help</a:t>
            </a:r>
            <a:r>
              <a:rPr lang="en-GB" altLang="en-US" sz="2400" b="1" dirty="0">
                <a:latin typeface="Calibri Light" panose="020F0302020204030204" pitchFamily="34" charset="0"/>
                <a:ea typeface="Calibri Light" panose="020F0302020204030204" pitchFamily="34" charset="0"/>
                <a:cs typeface="Calibri Light" panose="020F0302020204030204" pitchFamily="34" charset="0"/>
              </a:rPr>
              <a:t> of </a:t>
            </a:r>
            <a:r>
              <a:rPr kumimoji="0" lang="en-GB" altLang="en-US" sz="24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General Transcription Factors</a:t>
            </a:r>
            <a:r>
              <a:rPr kumimoji="0" lang="en-GB" altLang="en-US" sz="24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(GTFs).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GB" altLang="en-US" sz="24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PIC Assembly</a:t>
            </a:r>
            <a:r>
              <a:rPr kumimoji="0" lang="en-GB" altLang="en-US" sz="24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a:t>
            </a:r>
          </a:p>
          <a:p>
            <a:pPr marL="914400" lvl="1" indent="-457200" algn="just" eaLnBrk="0" fontAlgn="base" hangingPunct="0">
              <a:spcBef>
                <a:spcPct val="0"/>
              </a:spcBef>
              <a:spcAft>
                <a:spcPct val="0"/>
              </a:spcAft>
              <a:buFont typeface="+mj-lt"/>
              <a:buAutoNum type="arabicPeriod"/>
            </a:pPr>
            <a:r>
              <a:rPr kumimoji="0" lang="en-GB" altLang="en-US" sz="24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TFIID/TBP (recognition)</a:t>
            </a:r>
          </a:p>
          <a:p>
            <a:pPr marL="914400" lvl="1" indent="-457200" algn="just" eaLnBrk="0" fontAlgn="base" hangingPunct="0">
              <a:spcBef>
                <a:spcPct val="0"/>
              </a:spcBef>
              <a:spcAft>
                <a:spcPct val="0"/>
              </a:spcAft>
              <a:buFont typeface="+mj-lt"/>
              <a:buAutoNum type="arabicPeriod"/>
            </a:pPr>
            <a:r>
              <a:rPr kumimoji="0" lang="en-GB" altLang="en-US" sz="24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TFIIA/B (stabilization/orientation) </a:t>
            </a:r>
            <a:endParaRPr lang="en-GB" altLang="en-US" sz="2400" dirty="0">
              <a:latin typeface="Calibri Light" panose="020F0302020204030204" pitchFamily="34" charset="0"/>
              <a:ea typeface="Calibri Light" panose="020F0302020204030204" pitchFamily="34" charset="0"/>
              <a:cs typeface="Calibri Light" panose="020F0302020204030204" pitchFamily="34" charset="0"/>
            </a:endParaRPr>
          </a:p>
          <a:p>
            <a:pPr marL="914400" lvl="1" indent="-457200" algn="just" eaLnBrk="0" fontAlgn="base" hangingPunct="0">
              <a:spcBef>
                <a:spcPct val="0"/>
              </a:spcBef>
              <a:spcAft>
                <a:spcPct val="0"/>
              </a:spcAft>
              <a:buFont typeface="+mj-lt"/>
              <a:buAutoNum type="arabicPeriod"/>
            </a:pPr>
            <a:r>
              <a:rPr kumimoji="0" lang="en-GB" altLang="en-US" sz="24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RNAPII/TFIIF (recruitment)</a:t>
            </a:r>
          </a:p>
          <a:p>
            <a:pPr marL="914400" lvl="1" indent="-457200" algn="just" eaLnBrk="0" fontAlgn="base" hangingPunct="0">
              <a:spcBef>
                <a:spcPct val="0"/>
              </a:spcBef>
              <a:spcAft>
                <a:spcPct val="0"/>
              </a:spcAft>
              <a:buFont typeface="+mj-lt"/>
              <a:buAutoNum type="arabicPeriod"/>
            </a:pPr>
            <a:r>
              <a:rPr kumimoji="0" lang="en-GB" altLang="en-US" sz="24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TFIIE/H (activation)</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GB" altLang="en-US" sz="24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TFIIH is Critical</a:t>
            </a:r>
            <a:endParaRPr lang="en-GB" altLang="en-US" sz="2400" b="1" dirty="0">
              <a:latin typeface="Calibri Light" panose="020F0302020204030204" pitchFamily="34" charset="0"/>
              <a:ea typeface="Calibri Light" panose="020F0302020204030204" pitchFamily="34" charset="0"/>
              <a:cs typeface="Calibri Light" panose="020F030202020403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GB" altLang="en-US" sz="24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CTD Code</a:t>
            </a:r>
            <a:endParaRPr lang="en-GB" altLang="en-US" sz="2400" b="1" dirty="0">
              <a:latin typeface="Calibri Light" panose="020F0302020204030204" pitchFamily="34" charset="0"/>
              <a:ea typeface="Calibri Light" panose="020F0302020204030204" pitchFamily="34" charset="0"/>
              <a:cs typeface="Calibri Light" panose="020F030202020403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GB" altLang="en-US" sz="24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Mediator</a:t>
            </a:r>
            <a:endParaRPr kumimoji="0" lang="en-US" altLang="en-US" sz="24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endParaRPr>
          </a:p>
        </p:txBody>
      </p:sp>
      <p:pic>
        <p:nvPicPr>
          <p:cNvPr id="6" name="Picture 5">
            <a:extLst>
              <a:ext uri="{FF2B5EF4-FFF2-40B4-BE49-F238E27FC236}">
                <a16:creationId xmlns:a16="http://schemas.microsoft.com/office/drawing/2014/main" id="{2C0ABAC6-FBB2-A01B-8499-BFD04C411163}"/>
              </a:ext>
            </a:extLst>
          </p:cNvPr>
          <p:cNvPicPr>
            <a:picLocks noChangeAspect="1"/>
          </p:cNvPicPr>
          <p:nvPr/>
        </p:nvPicPr>
        <p:blipFill>
          <a:blip r:embed="rId2"/>
          <a:stretch>
            <a:fillRect/>
          </a:stretch>
        </p:blipFill>
        <p:spPr>
          <a:xfrm>
            <a:off x="5896142" y="1479372"/>
            <a:ext cx="6166206" cy="3731860"/>
          </a:xfrm>
          <a:prstGeom prst="rect">
            <a:avLst/>
          </a:prstGeom>
        </p:spPr>
      </p:pic>
    </p:spTree>
    <p:extLst>
      <p:ext uri="{BB962C8B-B14F-4D97-AF65-F5344CB8AC3E}">
        <p14:creationId xmlns:p14="http://schemas.microsoft.com/office/powerpoint/2010/main" val="8694384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EA01A-480A-9405-4CA2-9A2D7CB07A41}"/>
              </a:ext>
            </a:extLst>
          </p:cNvPr>
          <p:cNvSpPr>
            <a:spLocks noGrp="1"/>
          </p:cNvSpPr>
          <p:nvPr>
            <p:ph type="title"/>
          </p:nvPr>
        </p:nvSpPr>
        <p:spPr>
          <a:xfrm>
            <a:off x="1286303" y="191379"/>
            <a:ext cx="9404723" cy="836603"/>
          </a:xfrm>
        </p:spPr>
        <p:txBody>
          <a:bodyPr/>
          <a:lstStyle/>
          <a:p>
            <a:pPr algn="ctr"/>
            <a:r>
              <a:rPr lang="en-GB" sz="4400" b="1" dirty="0"/>
              <a:t>The Challenge of Eukaryotic Transcription</a:t>
            </a:r>
            <a:endParaRPr lang="en-US" sz="4400" b="1" dirty="0"/>
          </a:p>
        </p:txBody>
      </p:sp>
      <p:pic>
        <p:nvPicPr>
          <p:cNvPr id="3074" name="Picture 2" descr="Overview of protein synthesis in prokaryotes and eukaryotes.">
            <a:extLst>
              <a:ext uri="{FF2B5EF4-FFF2-40B4-BE49-F238E27FC236}">
                <a16:creationId xmlns:a16="http://schemas.microsoft.com/office/drawing/2014/main" id="{B654C1A6-23A2-3FFF-1F9C-50DC070501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8263" y="1249483"/>
            <a:ext cx="9515475" cy="459105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3B1B8C7-7A7E-4DC5-5F4D-BD3A9F0D7EC9}"/>
              </a:ext>
            </a:extLst>
          </p:cNvPr>
          <p:cNvSpPr txBox="1"/>
          <p:nvPr/>
        </p:nvSpPr>
        <p:spPr>
          <a:xfrm>
            <a:off x="975815" y="6278942"/>
            <a:ext cx="10312588" cy="338554"/>
          </a:xfrm>
          <a:prstGeom prst="rect">
            <a:avLst/>
          </a:prstGeom>
          <a:noFill/>
        </p:spPr>
        <p:txBody>
          <a:bodyPr wrap="square">
            <a:spAutoFit/>
          </a:bodyPr>
          <a:lstStyle/>
          <a:p>
            <a:pPr algn="ctr"/>
            <a:r>
              <a:rPr lang="en-US" sz="1600" dirty="0"/>
              <a:t>https://www.creative-biostructure.com/protein-synthesis-in-prokaryotes-vs-eukaryotes.htm</a:t>
            </a:r>
          </a:p>
        </p:txBody>
      </p:sp>
    </p:spTree>
    <p:extLst>
      <p:ext uri="{BB962C8B-B14F-4D97-AF65-F5344CB8AC3E}">
        <p14:creationId xmlns:p14="http://schemas.microsoft.com/office/powerpoint/2010/main" val="22722239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EA01A-480A-9405-4CA2-9A2D7CB07A41}"/>
              </a:ext>
            </a:extLst>
          </p:cNvPr>
          <p:cNvSpPr>
            <a:spLocks noGrp="1"/>
          </p:cNvSpPr>
          <p:nvPr>
            <p:ph type="title"/>
          </p:nvPr>
        </p:nvSpPr>
        <p:spPr>
          <a:xfrm>
            <a:off x="1286303" y="191379"/>
            <a:ext cx="9404723" cy="836603"/>
          </a:xfrm>
        </p:spPr>
        <p:txBody>
          <a:bodyPr/>
          <a:lstStyle/>
          <a:p>
            <a:pPr algn="ctr"/>
            <a:r>
              <a:rPr lang="en-GB" sz="4400" b="1" dirty="0"/>
              <a:t>The Challenge of Eukaryotic Transcription</a:t>
            </a:r>
            <a:endParaRPr lang="en-US" sz="4400" b="1" dirty="0"/>
          </a:p>
        </p:txBody>
      </p:sp>
      <p:sp>
        <p:nvSpPr>
          <p:cNvPr id="5" name="TextBox 4">
            <a:extLst>
              <a:ext uri="{FF2B5EF4-FFF2-40B4-BE49-F238E27FC236}">
                <a16:creationId xmlns:a16="http://schemas.microsoft.com/office/drawing/2014/main" id="{A3B1B8C7-7A7E-4DC5-5F4D-BD3A9F0D7EC9}"/>
              </a:ext>
            </a:extLst>
          </p:cNvPr>
          <p:cNvSpPr txBox="1"/>
          <p:nvPr/>
        </p:nvSpPr>
        <p:spPr>
          <a:xfrm>
            <a:off x="975815" y="6278942"/>
            <a:ext cx="10312588" cy="338554"/>
          </a:xfrm>
          <a:prstGeom prst="rect">
            <a:avLst/>
          </a:prstGeom>
          <a:noFill/>
        </p:spPr>
        <p:txBody>
          <a:bodyPr wrap="square">
            <a:spAutoFit/>
          </a:bodyPr>
          <a:lstStyle/>
          <a:p>
            <a:pPr algn="ctr"/>
            <a:r>
              <a:rPr lang="en-US" sz="1600" dirty="0"/>
              <a:t>https://www.ncbi.nlm.nih.gov/books/NBK27041/figure/thechromatinsignature.F1/</a:t>
            </a:r>
          </a:p>
        </p:txBody>
      </p:sp>
      <p:pic>
        <p:nvPicPr>
          <p:cNvPr id="4098" name="Picture 2" descr="Figure 1. The basic unit of chromatin organization is the nucleosome, which comprises 147 bp of DNA wrapped around a core of histone proteins.">
            <a:extLst>
              <a:ext uri="{FF2B5EF4-FFF2-40B4-BE49-F238E27FC236}">
                <a16:creationId xmlns:a16="http://schemas.microsoft.com/office/drawing/2014/main" id="{086F2097-0BA3-7335-2D62-20C48316CE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1164" y="1027982"/>
            <a:ext cx="5715000" cy="5038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08545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EA01A-480A-9405-4CA2-9A2D7CB07A41}"/>
              </a:ext>
            </a:extLst>
          </p:cNvPr>
          <p:cNvSpPr>
            <a:spLocks noGrp="1"/>
          </p:cNvSpPr>
          <p:nvPr>
            <p:ph type="title"/>
          </p:nvPr>
        </p:nvSpPr>
        <p:spPr>
          <a:xfrm>
            <a:off x="1286303" y="191379"/>
            <a:ext cx="9404723" cy="836603"/>
          </a:xfrm>
        </p:spPr>
        <p:txBody>
          <a:bodyPr/>
          <a:lstStyle/>
          <a:p>
            <a:pPr algn="ctr"/>
            <a:r>
              <a:rPr lang="en-GB" sz="4400" b="1" dirty="0"/>
              <a:t>Eukaryotic vs. Prokaryotic Context</a:t>
            </a:r>
            <a:endParaRPr lang="en-US" sz="4400" b="1" dirty="0"/>
          </a:p>
        </p:txBody>
      </p:sp>
      <p:sp>
        <p:nvSpPr>
          <p:cNvPr id="3" name="Rectangle 1">
            <a:extLst>
              <a:ext uri="{FF2B5EF4-FFF2-40B4-BE49-F238E27FC236}">
                <a16:creationId xmlns:a16="http://schemas.microsoft.com/office/drawing/2014/main" id="{72601CF6-0A79-1F51-BDB7-C1C4A0498D26}"/>
              </a:ext>
            </a:extLst>
          </p:cNvPr>
          <p:cNvSpPr>
            <a:spLocks noChangeArrowheads="1"/>
          </p:cNvSpPr>
          <p:nvPr/>
        </p:nvSpPr>
        <p:spPr bwMode="auto">
          <a:xfrm>
            <a:off x="640634" y="1579085"/>
            <a:ext cx="10696060"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6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Prokaryotes </a:t>
            </a:r>
            <a:r>
              <a:rPr kumimoji="0" lang="en-US" altLang="en-US" sz="26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(e.g., E. coli): The RNA Polymerase holoenzyme (core enzyme + sigma factor) can directly recognize and bind to promoter sequences (-10 and -35 regions) </a:t>
            </a:r>
            <a:r>
              <a:rPr kumimoji="0" lang="en-US" altLang="en-US" sz="26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sym typeface="Wingdings" panose="05000000000000000000" pitchFamily="2" charset="2"/>
              </a:rPr>
              <a:t> </a:t>
            </a:r>
            <a:r>
              <a:rPr kumimoji="0" lang="en-US" altLang="en-US" sz="26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Relatively simple recruitment.</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6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Eukaryotes </a:t>
            </a:r>
            <a:r>
              <a:rPr kumimoji="0" lang="en-US" altLang="en-US" sz="26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(e.g., Humans): DNA is wrapped in chromatin (nucleosomes), creating a physical barrier.</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6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Crucial difference</a:t>
            </a:r>
            <a:r>
              <a:rPr kumimoji="0" lang="en-US" altLang="en-US" sz="26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Eukaryotic RNA Polymerases act "blindly." They cannot recognize promoter sequences on their own.</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6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The Solution</a:t>
            </a:r>
            <a:r>
              <a:rPr kumimoji="0" lang="en-US" altLang="en-US" sz="26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Eukaryotes require auxiliary proteins called </a:t>
            </a:r>
            <a:r>
              <a:rPr kumimoji="0" lang="en-US" altLang="en-US" sz="26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General Transcription Factors </a:t>
            </a:r>
            <a:r>
              <a:rPr kumimoji="0" lang="en-US" altLang="en-US" sz="26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(GTFs) to locate promoters and load the polymerase onto the DNA.</a:t>
            </a:r>
          </a:p>
        </p:txBody>
      </p:sp>
    </p:spTree>
    <p:extLst>
      <p:ext uri="{BB962C8B-B14F-4D97-AF65-F5344CB8AC3E}">
        <p14:creationId xmlns:p14="http://schemas.microsoft.com/office/powerpoint/2010/main" val="21310626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EA01A-480A-9405-4CA2-9A2D7CB07A41}"/>
              </a:ext>
            </a:extLst>
          </p:cNvPr>
          <p:cNvSpPr>
            <a:spLocks noGrp="1"/>
          </p:cNvSpPr>
          <p:nvPr>
            <p:ph type="title"/>
          </p:nvPr>
        </p:nvSpPr>
        <p:spPr>
          <a:xfrm>
            <a:off x="1263006" y="157299"/>
            <a:ext cx="9404723" cy="813895"/>
          </a:xfrm>
        </p:spPr>
        <p:txBody>
          <a:bodyPr/>
          <a:lstStyle/>
          <a:p>
            <a:pPr algn="ctr"/>
            <a:r>
              <a:rPr lang="en-US" sz="5400" b="1" dirty="0"/>
              <a:t>Defining "Basal" Transcription</a:t>
            </a:r>
          </a:p>
        </p:txBody>
      </p:sp>
      <p:pic>
        <p:nvPicPr>
          <p:cNvPr id="4" name="Picture 3">
            <a:extLst>
              <a:ext uri="{FF2B5EF4-FFF2-40B4-BE49-F238E27FC236}">
                <a16:creationId xmlns:a16="http://schemas.microsoft.com/office/drawing/2014/main" id="{0BA72ECB-B24A-63D4-99CE-0C36BA9646B3}"/>
              </a:ext>
            </a:extLst>
          </p:cNvPr>
          <p:cNvPicPr>
            <a:picLocks noChangeAspect="1"/>
          </p:cNvPicPr>
          <p:nvPr/>
        </p:nvPicPr>
        <p:blipFill>
          <a:blip r:embed="rId2"/>
          <a:stretch>
            <a:fillRect/>
          </a:stretch>
        </p:blipFill>
        <p:spPr>
          <a:xfrm>
            <a:off x="325513" y="1339966"/>
            <a:ext cx="7285027" cy="5126142"/>
          </a:xfrm>
          <a:prstGeom prst="rect">
            <a:avLst/>
          </a:prstGeom>
        </p:spPr>
      </p:pic>
      <p:sp>
        <p:nvSpPr>
          <p:cNvPr id="6" name="TextBox 5">
            <a:extLst>
              <a:ext uri="{FF2B5EF4-FFF2-40B4-BE49-F238E27FC236}">
                <a16:creationId xmlns:a16="http://schemas.microsoft.com/office/drawing/2014/main" id="{5A58F71A-5870-306F-18ED-C036ED8E5F24}"/>
              </a:ext>
            </a:extLst>
          </p:cNvPr>
          <p:cNvSpPr txBox="1"/>
          <p:nvPr/>
        </p:nvSpPr>
        <p:spPr>
          <a:xfrm>
            <a:off x="7769557" y="1227005"/>
            <a:ext cx="4062263" cy="5262979"/>
          </a:xfrm>
          <a:prstGeom prst="rect">
            <a:avLst/>
          </a:prstGeom>
          <a:noFill/>
        </p:spPr>
        <p:txBody>
          <a:bodyPr wrap="square">
            <a:spAutoFit/>
          </a:bodyPr>
          <a:lstStyle/>
          <a:p>
            <a:pPr algn="just"/>
            <a:r>
              <a:rPr lang="en-GB" sz="1600" b="1" dirty="0">
                <a:latin typeface="Calibri Light" panose="020F0302020204030204" pitchFamily="34" charset="0"/>
                <a:ea typeface="Calibri Light" panose="020F0302020204030204" pitchFamily="34" charset="0"/>
                <a:cs typeface="Calibri Light" panose="020F0302020204030204" pitchFamily="34" charset="0"/>
              </a:rPr>
              <a:t>Components of transcriptional regulation</a:t>
            </a:r>
            <a:r>
              <a:rPr lang="en-GB" sz="1600" dirty="0">
                <a:latin typeface="Calibri Light" panose="020F0302020204030204" pitchFamily="34" charset="0"/>
                <a:ea typeface="Calibri Light" panose="020F0302020204030204" pitchFamily="34" charset="0"/>
                <a:cs typeface="Calibri Light" panose="020F0302020204030204" pitchFamily="34" charset="0"/>
              </a:rPr>
              <a:t>. In a linear schematic picture of the regulatory region of a gene a, the core promoter (TSS region), proximal TFBSs (proximal enhancers) and distal enhancers are distinguished. For simplicity only elements upstream of the TSS are indicated but, with exception of the TATA box, these TFBSs are also found downstream of the TSS. A more realistic DNA looping model b, in which also transcription factors, coactivators, other chromatin modifying proteins and Pol II are shown, suggests that all protein-bound TFBSs are connected via several multiprotein complexes, such as the coactivator complex, the </a:t>
            </a:r>
            <a:r>
              <a:rPr lang="en-GB" sz="1600" dirty="0" err="1">
                <a:latin typeface="Calibri Light" panose="020F0302020204030204" pitchFamily="34" charset="0"/>
                <a:ea typeface="Calibri Light" panose="020F0302020204030204" pitchFamily="34" charset="0"/>
                <a:cs typeface="Calibri Light" panose="020F0302020204030204" pitchFamily="34" charset="0"/>
              </a:rPr>
              <a:t>remodeling</a:t>
            </a:r>
            <a:r>
              <a:rPr lang="en-GB" sz="1600" dirty="0">
                <a:latin typeface="Calibri Light" panose="020F0302020204030204" pitchFamily="34" charset="0"/>
                <a:ea typeface="Calibri Light" panose="020F0302020204030204" pitchFamily="34" charset="0"/>
                <a:cs typeface="Calibri Light" panose="020F0302020204030204" pitchFamily="34" charset="0"/>
              </a:rPr>
              <a:t> complex, the MED complex and the basal transcriptional machinery. Different complexes are distinguished here, because they can be separately purified or assembled in vitro, but it is likely that they all together form a large super-complex, also called the transcription factory</a:t>
            </a:r>
            <a:endParaRPr lang="en-US" sz="1600"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41386407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EA01A-480A-9405-4CA2-9A2D7CB07A41}"/>
              </a:ext>
            </a:extLst>
          </p:cNvPr>
          <p:cNvSpPr>
            <a:spLocks noGrp="1"/>
          </p:cNvSpPr>
          <p:nvPr>
            <p:ph type="title"/>
          </p:nvPr>
        </p:nvSpPr>
        <p:spPr>
          <a:xfrm>
            <a:off x="1286303" y="191379"/>
            <a:ext cx="9404723" cy="836603"/>
          </a:xfrm>
        </p:spPr>
        <p:txBody>
          <a:bodyPr/>
          <a:lstStyle/>
          <a:p>
            <a:pPr algn="ctr"/>
            <a:r>
              <a:rPr lang="en-US" sz="5400" b="1" dirty="0"/>
              <a:t>What is Basal Transcription?</a:t>
            </a:r>
          </a:p>
        </p:txBody>
      </p:sp>
      <p:sp>
        <p:nvSpPr>
          <p:cNvPr id="3" name="Rectangle 1">
            <a:extLst>
              <a:ext uri="{FF2B5EF4-FFF2-40B4-BE49-F238E27FC236}">
                <a16:creationId xmlns:a16="http://schemas.microsoft.com/office/drawing/2014/main" id="{72601CF6-0A79-1F51-BDB7-C1C4A0498D26}"/>
              </a:ext>
            </a:extLst>
          </p:cNvPr>
          <p:cNvSpPr>
            <a:spLocks noChangeArrowheads="1"/>
          </p:cNvSpPr>
          <p:nvPr/>
        </p:nvSpPr>
        <p:spPr bwMode="auto">
          <a:xfrm>
            <a:off x="634553" y="1585142"/>
            <a:ext cx="1069606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The Core Concept:</a:t>
            </a:r>
            <a:r>
              <a:rPr kumimoji="0" lang="en-US" altLang="en-US" sz="2400"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Basal transcription refers to the </a:t>
            </a:r>
            <a:r>
              <a:rPr kumimoji="0" lang="en-US" altLang="en-US" sz="2400" b="0" i="1"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minimum</a:t>
            </a:r>
            <a:r>
              <a:rPr kumimoji="0" lang="en-US" altLang="en-US" sz="2400"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level of transcription that occurs in the absence of specific activators or repressors.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The "Machinery":</a:t>
            </a:r>
            <a:r>
              <a:rPr kumimoji="0" lang="en-US" altLang="en-US" sz="2400"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It requires a specific set of general proteins that assemble at a gene promoter to recruit RNA Polymerase.</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Key characteristic:</a:t>
            </a:r>
            <a:r>
              <a:rPr kumimoji="0" lang="en-US" altLang="en-US" sz="2400"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It is generally </a:t>
            </a:r>
            <a:r>
              <a:rPr kumimoji="0" lang="en-US" altLang="en-US" sz="24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low-level and inefficient</a:t>
            </a:r>
            <a:r>
              <a:rPr kumimoji="0" lang="en-US" altLang="en-US" sz="2400"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a:t>
            </a:r>
          </a:p>
          <a:p>
            <a:pPr marL="800100" lvl="1" indent="-342900" algn="just" eaLnBrk="0" fontAlgn="base" hangingPunct="0">
              <a:spcBef>
                <a:spcPct val="0"/>
              </a:spcBef>
              <a:spcAft>
                <a:spcPct val="0"/>
              </a:spcAft>
              <a:buFont typeface="Wingdings" panose="05000000000000000000" pitchFamily="2" charset="2"/>
              <a:buChar char="§"/>
            </a:pPr>
            <a:r>
              <a:rPr kumimoji="0" lang="en-US" altLang="en-US" sz="2400"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While the basal machinery can initiate transcription in a test tube (in vitro), in a living cell (in vivo), it is rarely sufficient for meaningful gene expression.</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The Foundation:</a:t>
            </a:r>
            <a:r>
              <a:rPr kumimoji="0" lang="en-US" altLang="en-US" sz="2400"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Think of it as the engine block of a car. It can turn over, but it needs an </a:t>
            </a:r>
            <a:r>
              <a:rPr kumimoji="0" lang="en-US" altLang="en-US" sz="24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accelerator</a:t>
            </a:r>
            <a:r>
              <a:rPr kumimoji="0" lang="en-US" altLang="en-US" sz="2400"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(specific </a:t>
            </a:r>
            <a:r>
              <a:rPr kumimoji="0" lang="en-US" altLang="en-US" sz="24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transcription factors</a:t>
            </a:r>
            <a:r>
              <a:rPr kumimoji="0" lang="en-US" altLang="en-US" sz="2400"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and </a:t>
            </a:r>
            <a:r>
              <a:rPr kumimoji="0" lang="en-US" altLang="en-US" sz="24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transmission</a:t>
            </a:r>
            <a:r>
              <a:rPr kumimoji="0" lang="en-US" altLang="en-US" sz="2400"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a:t>
            </a:r>
            <a:r>
              <a:rPr kumimoji="0" lang="en-US" altLang="en-US" sz="24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Mediator</a:t>
            </a:r>
            <a:r>
              <a:rPr kumimoji="0" lang="en-US" altLang="en-US" sz="2400"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to actually drive the car effectively.</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The Contrast:</a:t>
            </a:r>
            <a:r>
              <a:rPr kumimoji="0" lang="en-US" altLang="en-US" sz="2400"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It is distinct from </a:t>
            </a:r>
            <a:r>
              <a:rPr kumimoji="0" lang="en-US" altLang="en-US" sz="2400" b="0" i="1"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regulated</a:t>
            </a:r>
            <a:r>
              <a:rPr kumimoji="0" lang="en-US" altLang="en-US" sz="2400"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transcription, which involves </a:t>
            </a:r>
            <a:r>
              <a:rPr kumimoji="0" lang="en-US" altLang="en-US" sz="24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tissue-specific factors</a:t>
            </a:r>
            <a:r>
              <a:rPr kumimoji="0" lang="en-US" altLang="en-US" sz="2400"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responding to signals.</a:t>
            </a:r>
          </a:p>
        </p:txBody>
      </p:sp>
    </p:spTree>
    <p:extLst>
      <p:ext uri="{BB962C8B-B14F-4D97-AF65-F5344CB8AC3E}">
        <p14:creationId xmlns:p14="http://schemas.microsoft.com/office/powerpoint/2010/main" val="34756069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23A8D43-2EDE-B7AB-93D5-C8F00B45A471}"/>
              </a:ext>
            </a:extLst>
          </p:cNvPr>
          <p:cNvPicPr>
            <a:picLocks noChangeAspect="1"/>
          </p:cNvPicPr>
          <p:nvPr/>
        </p:nvPicPr>
        <p:blipFill>
          <a:blip r:embed="rId2"/>
          <a:stretch>
            <a:fillRect/>
          </a:stretch>
        </p:blipFill>
        <p:spPr>
          <a:xfrm>
            <a:off x="2626239" y="85191"/>
            <a:ext cx="6795846" cy="6716012"/>
          </a:xfrm>
          <a:prstGeom prst="rect">
            <a:avLst/>
          </a:prstGeom>
        </p:spPr>
      </p:pic>
    </p:spTree>
    <p:extLst>
      <p:ext uri="{BB962C8B-B14F-4D97-AF65-F5344CB8AC3E}">
        <p14:creationId xmlns:p14="http://schemas.microsoft.com/office/powerpoint/2010/main" val="39311082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EA01A-480A-9405-4CA2-9A2D7CB07A41}"/>
              </a:ext>
            </a:extLst>
          </p:cNvPr>
          <p:cNvSpPr>
            <a:spLocks noGrp="1"/>
          </p:cNvSpPr>
          <p:nvPr>
            <p:ph type="title"/>
          </p:nvPr>
        </p:nvSpPr>
        <p:spPr>
          <a:xfrm>
            <a:off x="1393638" y="2196244"/>
            <a:ext cx="9404723" cy="2120179"/>
          </a:xfrm>
        </p:spPr>
        <p:txBody>
          <a:bodyPr/>
          <a:lstStyle/>
          <a:p>
            <a:pPr algn="ctr"/>
            <a:r>
              <a:rPr lang="en-GB" sz="5400" b="1" dirty="0"/>
              <a:t>The Main Character – RNA Polymerase II (RNAPII)</a:t>
            </a:r>
            <a:endParaRPr lang="en-US" sz="5400" b="1" dirty="0"/>
          </a:p>
        </p:txBody>
      </p:sp>
    </p:spTree>
    <p:extLst>
      <p:ext uri="{BB962C8B-B14F-4D97-AF65-F5344CB8AC3E}">
        <p14:creationId xmlns:p14="http://schemas.microsoft.com/office/powerpoint/2010/main" val="9296790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EA01A-480A-9405-4CA2-9A2D7CB07A41}"/>
              </a:ext>
            </a:extLst>
          </p:cNvPr>
          <p:cNvSpPr>
            <a:spLocks noGrp="1"/>
          </p:cNvSpPr>
          <p:nvPr>
            <p:ph type="title"/>
          </p:nvPr>
        </p:nvSpPr>
        <p:spPr>
          <a:xfrm>
            <a:off x="1286303" y="191379"/>
            <a:ext cx="9404723" cy="836603"/>
          </a:xfrm>
        </p:spPr>
        <p:txBody>
          <a:bodyPr/>
          <a:lstStyle/>
          <a:p>
            <a:pPr algn="ctr"/>
            <a:r>
              <a:rPr lang="en-GB" sz="4400" b="1" dirty="0"/>
              <a:t>RNA Polymerase II: The mRNA Synthesizer</a:t>
            </a:r>
            <a:endParaRPr lang="en-US" sz="4400" b="1" dirty="0"/>
          </a:p>
        </p:txBody>
      </p:sp>
      <p:sp>
        <p:nvSpPr>
          <p:cNvPr id="3" name="Rectangle 1">
            <a:extLst>
              <a:ext uri="{FF2B5EF4-FFF2-40B4-BE49-F238E27FC236}">
                <a16:creationId xmlns:a16="http://schemas.microsoft.com/office/drawing/2014/main" id="{72601CF6-0A79-1F51-BDB7-C1C4A0498D26}"/>
              </a:ext>
            </a:extLst>
          </p:cNvPr>
          <p:cNvSpPr>
            <a:spLocks noChangeArrowheads="1"/>
          </p:cNvSpPr>
          <p:nvPr/>
        </p:nvSpPr>
        <p:spPr bwMode="auto">
          <a:xfrm>
            <a:off x="640634" y="1317475"/>
            <a:ext cx="10696060" cy="4616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1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Eukaryotic Polymerases</a:t>
            </a:r>
            <a:r>
              <a:rPr kumimoji="0" lang="en-US" altLang="en-US" sz="21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There are three main types, but RNAPII is the focus of gene regulation:</a:t>
            </a:r>
          </a:p>
          <a:p>
            <a:pPr marL="800100" lvl="1" indent="-342900" algn="just" eaLnBrk="0" fontAlgn="base" hangingPunct="0">
              <a:spcBef>
                <a:spcPct val="0"/>
              </a:spcBef>
              <a:spcAft>
                <a:spcPct val="0"/>
              </a:spcAft>
              <a:buFont typeface="Wingdings" panose="05000000000000000000" pitchFamily="2" charset="2"/>
              <a:buChar char="§"/>
            </a:pPr>
            <a:r>
              <a:rPr kumimoji="0" lang="en-US" altLang="en-US" sz="21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RNAPI: Transcribes large rRNAs.</a:t>
            </a:r>
          </a:p>
          <a:p>
            <a:pPr marL="800100" lvl="1" indent="-342900" algn="just" eaLnBrk="0" fontAlgn="base" hangingPunct="0">
              <a:spcBef>
                <a:spcPct val="0"/>
              </a:spcBef>
              <a:spcAft>
                <a:spcPct val="0"/>
              </a:spcAft>
              <a:buFont typeface="Wingdings" panose="05000000000000000000" pitchFamily="2" charset="2"/>
              <a:buChar char="§"/>
            </a:pPr>
            <a:r>
              <a:rPr kumimoji="0" lang="en-US" altLang="en-US" sz="21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RNAPIII: Transcribes tRNAs and small rRNAs.</a:t>
            </a:r>
          </a:p>
          <a:p>
            <a:pPr marL="800100" lvl="1" indent="-342900" algn="just" eaLnBrk="0" fontAlgn="base" hangingPunct="0">
              <a:spcBef>
                <a:spcPct val="0"/>
              </a:spcBef>
              <a:spcAft>
                <a:spcPct val="0"/>
              </a:spcAft>
              <a:buFont typeface="Wingdings" panose="05000000000000000000" pitchFamily="2" charset="2"/>
              <a:buChar char="§"/>
            </a:pPr>
            <a:r>
              <a:rPr kumimoji="0" lang="en-US" altLang="en-US" sz="21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RNAPII: Transcribes all protein-coding genes (mRNA) and many non-coding RNAs (e.g., lncRNA, miRNA).</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1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Structure</a:t>
            </a:r>
            <a:r>
              <a:rPr kumimoji="0" lang="en-US" altLang="en-US" sz="21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A massive, multi-subunit complex (12 subunits in yeast/humans).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1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The Catalytic Core</a:t>
            </a:r>
            <a:r>
              <a:rPr kumimoji="0" lang="en-US" altLang="en-US" sz="21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Forms a "crab claw" shape that grips DNA, unwinds it, and synthesizes RNA using the DNA template strand.</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1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The Unique Feature</a:t>
            </a:r>
            <a:r>
              <a:rPr kumimoji="0" lang="en-US" altLang="en-US" sz="21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The Carboxy-Terminal Domain (CTD)</a:t>
            </a:r>
          </a:p>
          <a:p>
            <a:pPr marL="800100" lvl="1" indent="-342900" algn="just" eaLnBrk="0" fontAlgn="base" hangingPunct="0">
              <a:spcBef>
                <a:spcPct val="0"/>
              </a:spcBef>
              <a:spcAft>
                <a:spcPct val="0"/>
              </a:spcAft>
              <a:buFont typeface="Wingdings" panose="05000000000000000000" pitchFamily="2" charset="2"/>
              <a:buChar char="§"/>
            </a:pPr>
            <a:r>
              <a:rPr kumimoji="0" lang="en-US" altLang="en-US" sz="21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Located on the largest subunit (RPB1).</a:t>
            </a:r>
          </a:p>
          <a:p>
            <a:pPr marL="800100" lvl="1" indent="-342900" algn="just" eaLnBrk="0" fontAlgn="base" hangingPunct="0">
              <a:spcBef>
                <a:spcPct val="0"/>
              </a:spcBef>
              <a:spcAft>
                <a:spcPct val="0"/>
              </a:spcAft>
              <a:buFont typeface="Wingdings" panose="05000000000000000000" pitchFamily="2" charset="2"/>
              <a:buChar char="§"/>
            </a:pPr>
            <a:r>
              <a:rPr kumimoji="0" lang="en-US" altLang="en-US" sz="21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A long, flexible tail protruding from the core enzyme.</a:t>
            </a:r>
          </a:p>
          <a:p>
            <a:pPr marL="800100" lvl="1" indent="-342900" algn="just" eaLnBrk="0" fontAlgn="base" hangingPunct="0">
              <a:spcBef>
                <a:spcPct val="0"/>
              </a:spcBef>
              <a:spcAft>
                <a:spcPct val="0"/>
              </a:spcAft>
              <a:buFont typeface="Wingdings" panose="05000000000000000000" pitchFamily="2" charset="2"/>
              <a:buChar char="§"/>
            </a:pPr>
            <a:r>
              <a:rPr kumimoji="0" lang="en-US" altLang="en-US" sz="21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Consists of tandem repeats of a heptapeptide sequence: Tyr-Ser-Pro-</a:t>
            </a:r>
            <a:r>
              <a:rPr kumimoji="0" lang="en-US" altLang="en-US" sz="2100" i="0" u="none" strike="noStrike" cap="none" normalizeH="0" baseline="0" dirty="0" err="1">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Thr</a:t>
            </a:r>
            <a:r>
              <a:rPr kumimoji="0" lang="en-US" altLang="en-US" sz="21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-Ser-Pro-Ser (YSPTSPS).</a:t>
            </a:r>
          </a:p>
          <a:p>
            <a:pPr marL="800100" lvl="1" indent="-342900" algn="just" eaLnBrk="0" fontAlgn="base" hangingPunct="0">
              <a:spcBef>
                <a:spcPct val="0"/>
              </a:spcBef>
              <a:spcAft>
                <a:spcPct val="0"/>
              </a:spcAft>
              <a:buFont typeface="Wingdings" panose="05000000000000000000" pitchFamily="2" charset="2"/>
              <a:buChar char="§"/>
            </a:pPr>
            <a:r>
              <a:rPr kumimoji="0" lang="en-US" altLang="en-US" sz="21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Crucial: This tail is the site of extensive regulatory phosphorylation (discussed later).</a:t>
            </a:r>
          </a:p>
        </p:txBody>
      </p:sp>
    </p:spTree>
    <p:extLst>
      <p:ext uri="{BB962C8B-B14F-4D97-AF65-F5344CB8AC3E}">
        <p14:creationId xmlns:p14="http://schemas.microsoft.com/office/powerpoint/2010/main" val="18531658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EECC3-E5B6-66D0-0F50-63B59B00E4FA}"/>
              </a:ext>
            </a:extLst>
          </p:cNvPr>
          <p:cNvSpPr>
            <a:spLocks noGrp="1"/>
          </p:cNvSpPr>
          <p:nvPr>
            <p:ph type="title"/>
          </p:nvPr>
        </p:nvSpPr>
        <p:spPr>
          <a:xfrm>
            <a:off x="646111" y="131293"/>
            <a:ext cx="9805758" cy="661187"/>
          </a:xfrm>
        </p:spPr>
        <p:txBody>
          <a:bodyPr/>
          <a:lstStyle/>
          <a:p>
            <a:pPr algn="ctr"/>
            <a:r>
              <a:rPr lang="en-GB" sz="3600" b="1" dirty="0"/>
              <a:t>RNA Polymerase II (The Regulator)</a:t>
            </a:r>
            <a:endParaRPr lang="en-US" sz="3600" b="1" dirty="0"/>
          </a:p>
        </p:txBody>
      </p:sp>
      <p:sp>
        <p:nvSpPr>
          <p:cNvPr id="7" name="TextBox 6">
            <a:extLst>
              <a:ext uri="{FF2B5EF4-FFF2-40B4-BE49-F238E27FC236}">
                <a16:creationId xmlns:a16="http://schemas.microsoft.com/office/drawing/2014/main" id="{F74E9475-086C-F700-DC54-9AA96EBA2520}"/>
              </a:ext>
            </a:extLst>
          </p:cNvPr>
          <p:cNvSpPr txBox="1"/>
          <p:nvPr/>
        </p:nvSpPr>
        <p:spPr>
          <a:xfrm>
            <a:off x="646112" y="1032841"/>
            <a:ext cx="6244760" cy="5262979"/>
          </a:xfrm>
          <a:prstGeom prst="rect">
            <a:avLst/>
          </a:prstGeom>
          <a:noFill/>
        </p:spPr>
        <p:txBody>
          <a:bodyPr wrap="square">
            <a:spAutoFit/>
          </a:bodyPr>
          <a:lstStyle/>
          <a:p>
            <a:pPr marL="285750" indent="-285750" algn="just">
              <a:buFont typeface="Arial" panose="020B0604020202020204" pitchFamily="34" charset="0"/>
              <a:buChar char="•"/>
            </a:pPr>
            <a:r>
              <a:rPr lang="en-GB" sz="2800" b="1" dirty="0">
                <a:latin typeface="Calibri Light" panose="020F0302020204030204" pitchFamily="34" charset="0"/>
                <a:ea typeface="Calibri Light" panose="020F0302020204030204" pitchFamily="34" charset="0"/>
                <a:cs typeface="Calibri Light" panose="020F0302020204030204" pitchFamily="34" charset="0"/>
              </a:rPr>
              <a:t>RNA Pol II</a:t>
            </a:r>
            <a:r>
              <a:rPr lang="en-GB" sz="2800" dirty="0">
                <a:latin typeface="Calibri Light" panose="020F0302020204030204" pitchFamily="34" charset="0"/>
                <a:ea typeface="Calibri Light" panose="020F0302020204030204" pitchFamily="34" charset="0"/>
                <a:cs typeface="Calibri Light" panose="020F0302020204030204" pitchFamily="34" charset="0"/>
              </a:rPr>
              <a:t>:</a:t>
            </a:r>
          </a:p>
          <a:p>
            <a:pPr marL="914400" lvl="1" indent="-457200" algn="just">
              <a:buFont typeface="Wingdings" panose="05000000000000000000" pitchFamily="2" charset="2"/>
              <a:buChar char="§"/>
            </a:pPr>
            <a:r>
              <a:rPr lang="en-GB" sz="2800" dirty="0">
                <a:latin typeface="Calibri Light" panose="020F0302020204030204" pitchFamily="34" charset="0"/>
                <a:ea typeface="Calibri Light" panose="020F0302020204030204" pitchFamily="34" charset="0"/>
                <a:cs typeface="Calibri Light" panose="020F0302020204030204" pitchFamily="34" charset="0"/>
              </a:rPr>
              <a:t>Transcribes all </a:t>
            </a:r>
            <a:r>
              <a:rPr lang="en-GB" sz="2800" b="1" dirty="0">
                <a:latin typeface="Calibri Light" panose="020F0302020204030204" pitchFamily="34" charset="0"/>
                <a:ea typeface="Calibri Light" panose="020F0302020204030204" pitchFamily="34" charset="0"/>
                <a:cs typeface="Calibri Light" panose="020F0302020204030204" pitchFamily="34" charset="0"/>
              </a:rPr>
              <a:t>protein-coding</a:t>
            </a:r>
            <a:r>
              <a:rPr lang="en-GB" sz="2800" dirty="0">
                <a:latin typeface="Calibri Light" panose="020F0302020204030204" pitchFamily="34" charset="0"/>
                <a:ea typeface="Calibri Light" panose="020F0302020204030204" pitchFamily="34" charset="0"/>
                <a:cs typeface="Calibri Light" panose="020F0302020204030204" pitchFamily="34" charset="0"/>
              </a:rPr>
              <a:t> genes (mRNA).</a:t>
            </a:r>
          </a:p>
          <a:p>
            <a:pPr marL="914400" lvl="1" indent="-457200" algn="just">
              <a:buFont typeface="Wingdings" panose="05000000000000000000" pitchFamily="2" charset="2"/>
              <a:buChar char="§"/>
            </a:pPr>
            <a:r>
              <a:rPr lang="en-GB" sz="2800" dirty="0">
                <a:latin typeface="Calibri Light" panose="020F0302020204030204" pitchFamily="34" charset="0"/>
                <a:ea typeface="Calibri Light" panose="020F0302020204030204" pitchFamily="34" charset="0"/>
                <a:cs typeface="Calibri Light" panose="020F0302020204030204" pitchFamily="34" charset="0"/>
              </a:rPr>
              <a:t>Transcribes the majority of non-coding RNAs (miRNAs, </a:t>
            </a:r>
            <a:r>
              <a:rPr lang="en-GB" sz="2800" dirty="0" err="1">
                <a:latin typeface="Calibri Light" panose="020F0302020204030204" pitchFamily="34" charset="0"/>
                <a:ea typeface="Calibri Light" panose="020F0302020204030204" pitchFamily="34" charset="0"/>
                <a:cs typeface="Calibri Light" panose="020F0302020204030204" pitchFamily="34" charset="0"/>
              </a:rPr>
              <a:t>lncRNAs</a:t>
            </a:r>
            <a:r>
              <a:rPr lang="en-GB" sz="2800" dirty="0">
                <a:latin typeface="Calibri Light" panose="020F0302020204030204" pitchFamily="34" charset="0"/>
                <a:ea typeface="Calibri Light" panose="020F0302020204030204" pitchFamily="34" charset="0"/>
                <a:cs typeface="Calibri Light" panose="020F0302020204030204" pitchFamily="34" charset="0"/>
              </a:rPr>
              <a:t>).</a:t>
            </a:r>
          </a:p>
          <a:p>
            <a:pPr marL="285750" indent="-285750" algn="just">
              <a:buFont typeface="Arial" panose="020B0604020202020204" pitchFamily="34" charset="0"/>
              <a:buChar char="•"/>
            </a:pPr>
            <a:r>
              <a:rPr lang="en-GB" sz="2800" b="1" dirty="0">
                <a:latin typeface="Calibri Light" panose="020F0302020204030204" pitchFamily="34" charset="0"/>
                <a:ea typeface="Calibri Light" panose="020F0302020204030204" pitchFamily="34" charset="0"/>
                <a:cs typeface="Calibri Light" panose="020F0302020204030204" pitchFamily="34" charset="0"/>
              </a:rPr>
              <a:t>Function</a:t>
            </a:r>
            <a:r>
              <a:rPr lang="en-GB" sz="2800" dirty="0">
                <a:latin typeface="Calibri Light" panose="020F0302020204030204" pitchFamily="34" charset="0"/>
                <a:ea typeface="Calibri Light" panose="020F0302020204030204" pitchFamily="34" charset="0"/>
                <a:cs typeface="Calibri Light" panose="020F0302020204030204" pitchFamily="34" charset="0"/>
              </a:rPr>
              <a:t>: It is responsible for the synthesis of transcripts that define the cell's specialized function and its response to external stimuli.</a:t>
            </a:r>
          </a:p>
          <a:p>
            <a:pPr marL="285750" indent="-285750" algn="just">
              <a:buFont typeface="Arial" panose="020B0604020202020204" pitchFamily="34" charset="0"/>
              <a:buChar char="•"/>
            </a:pPr>
            <a:r>
              <a:rPr lang="en-GB" sz="2800" b="1" dirty="0">
                <a:latin typeface="Calibri Light" panose="020F0302020204030204" pitchFamily="34" charset="0"/>
                <a:ea typeface="Calibri Light" panose="020F0302020204030204" pitchFamily="34" charset="0"/>
                <a:cs typeface="Calibri Light" panose="020F0302020204030204" pitchFamily="34" charset="0"/>
              </a:rPr>
              <a:t>Regulation</a:t>
            </a:r>
            <a:r>
              <a:rPr lang="en-GB" sz="2800" dirty="0">
                <a:latin typeface="Calibri Light" panose="020F0302020204030204" pitchFamily="34" charset="0"/>
                <a:ea typeface="Calibri Light" panose="020F0302020204030204" pitchFamily="34" charset="0"/>
                <a:cs typeface="Calibri Light" panose="020F0302020204030204" pitchFamily="34" charset="0"/>
              </a:rPr>
              <a:t>: Its activity is the most highly regulated and cell-specific of the three polymerases.</a:t>
            </a:r>
            <a:endParaRPr lang="en-US" sz="2800" dirty="0">
              <a:latin typeface="Calibri Light" panose="020F0302020204030204" pitchFamily="34" charset="0"/>
              <a:ea typeface="Calibri Light" panose="020F0302020204030204" pitchFamily="34" charset="0"/>
              <a:cs typeface="Calibri Light" panose="020F0302020204030204" pitchFamily="34" charset="0"/>
            </a:endParaRPr>
          </a:p>
        </p:txBody>
      </p:sp>
      <p:pic>
        <p:nvPicPr>
          <p:cNvPr id="3" name="Picture 2">
            <a:extLst>
              <a:ext uri="{FF2B5EF4-FFF2-40B4-BE49-F238E27FC236}">
                <a16:creationId xmlns:a16="http://schemas.microsoft.com/office/drawing/2014/main" id="{635366A1-93D2-D18D-4242-54861F6E3EEF}"/>
              </a:ext>
            </a:extLst>
          </p:cNvPr>
          <p:cNvPicPr>
            <a:picLocks noChangeAspect="1"/>
          </p:cNvPicPr>
          <p:nvPr/>
        </p:nvPicPr>
        <p:blipFill>
          <a:blip r:embed="rId3"/>
          <a:stretch>
            <a:fillRect/>
          </a:stretch>
        </p:blipFill>
        <p:spPr>
          <a:xfrm>
            <a:off x="7389966" y="1105647"/>
            <a:ext cx="3979189" cy="4831976"/>
          </a:xfrm>
          <a:prstGeom prst="rect">
            <a:avLst/>
          </a:prstGeom>
        </p:spPr>
      </p:pic>
      <p:sp>
        <p:nvSpPr>
          <p:cNvPr id="4" name="TextBox 3">
            <a:extLst>
              <a:ext uri="{FF2B5EF4-FFF2-40B4-BE49-F238E27FC236}">
                <a16:creationId xmlns:a16="http://schemas.microsoft.com/office/drawing/2014/main" id="{2ACFC462-B0CE-3C79-E7B2-3A2197D61DA9}"/>
              </a:ext>
            </a:extLst>
          </p:cNvPr>
          <p:cNvSpPr txBox="1"/>
          <p:nvPr/>
        </p:nvSpPr>
        <p:spPr>
          <a:xfrm>
            <a:off x="5916705" y="6295820"/>
            <a:ext cx="6096000" cy="276999"/>
          </a:xfrm>
          <a:prstGeom prst="rect">
            <a:avLst/>
          </a:prstGeom>
          <a:noFill/>
        </p:spPr>
        <p:txBody>
          <a:bodyPr wrap="square">
            <a:spAutoFit/>
          </a:bodyPr>
          <a:lstStyle/>
          <a:p>
            <a:pPr algn="r"/>
            <a:r>
              <a:rPr lang="en-US" sz="1200" dirty="0"/>
              <a:t>https://www.cell.com/molecular-cell/fulltext/S1097-2765%2812%2900089-5</a:t>
            </a:r>
          </a:p>
        </p:txBody>
      </p:sp>
    </p:spTree>
    <p:extLst>
      <p:ext uri="{BB962C8B-B14F-4D97-AF65-F5344CB8AC3E}">
        <p14:creationId xmlns:p14="http://schemas.microsoft.com/office/powerpoint/2010/main" val="14168401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EA01A-480A-9405-4CA2-9A2D7CB07A41}"/>
              </a:ext>
            </a:extLst>
          </p:cNvPr>
          <p:cNvSpPr>
            <a:spLocks noGrp="1"/>
          </p:cNvSpPr>
          <p:nvPr>
            <p:ph type="title"/>
          </p:nvPr>
        </p:nvSpPr>
        <p:spPr>
          <a:xfrm>
            <a:off x="783771" y="191379"/>
            <a:ext cx="9907255" cy="836603"/>
          </a:xfrm>
        </p:spPr>
        <p:txBody>
          <a:bodyPr/>
          <a:lstStyle/>
          <a:p>
            <a:pPr algn="ctr"/>
            <a:r>
              <a:rPr lang="en-GB" sz="3200" b="1" dirty="0"/>
              <a:t>The Supporting Cast – General Transcription Factors (GTFs)</a:t>
            </a:r>
            <a:endParaRPr lang="en-US" sz="3200" b="1" dirty="0"/>
          </a:p>
        </p:txBody>
      </p:sp>
      <p:pic>
        <p:nvPicPr>
          <p:cNvPr id="5" name="Picture 4">
            <a:extLst>
              <a:ext uri="{FF2B5EF4-FFF2-40B4-BE49-F238E27FC236}">
                <a16:creationId xmlns:a16="http://schemas.microsoft.com/office/drawing/2014/main" id="{1A796006-634B-E3CB-E238-3C5588982E03}"/>
              </a:ext>
            </a:extLst>
          </p:cNvPr>
          <p:cNvPicPr>
            <a:picLocks noChangeAspect="1"/>
          </p:cNvPicPr>
          <p:nvPr/>
        </p:nvPicPr>
        <p:blipFill>
          <a:blip r:embed="rId2"/>
          <a:stretch>
            <a:fillRect/>
          </a:stretch>
        </p:blipFill>
        <p:spPr>
          <a:xfrm>
            <a:off x="330003" y="1086628"/>
            <a:ext cx="6763697" cy="5180704"/>
          </a:xfrm>
          <a:prstGeom prst="rect">
            <a:avLst/>
          </a:prstGeom>
        </p:spPr>
      </p:pic>
      <p:sp>
        <p:nvSpPr>
          <p:cNvPr id="7" name="TextBox 6">
            <a:extLst>
              <a:ext uri="{FF2B5EF4-FFF2-40B4-BE49-F238E27FC236}">
                <a16:creationId xmlns:a16="http://schemas.microsoft.com/office/drawing/2014/main" id="{D6E1228F-30A0-5686-EC41-F0650F20A296}"/>
              </a:ext>
            </a:extLst>
          </p:cNvPr>
          <p:cNvSpPr txBox="1"/>
          <p:nvPr/>
        </p:nvSpPr>
        <p:spPr>
          <a:xfrm>
            <a:off x="7354956" y="1228792"/>
            <a:ext cx="4590458" cy="4524315"/>
          </a:xfrm>
          <a:prstGeom prst="rect">
            <a:avLst/>
          </a:prstGeom>
          <a:noFill/>
        </p:spPr>
        <p:txBody>
          <a:bodyPr wrap="square">
            <a:spAutoFit/>
          </a:bodyPr>
          <a:lstStyle/>
          <a:p>
            <a:pPr algn="just"/>
            <a:r>
              <a:rPr lang="en-GB" b="1" dirty="0">
                <a:latin typeface="Calibri Light" panose="020F0302020204030204" pitchFamily="34" charset="0"/>
                <a:ea typeface="Calibri Light" panose="020F0302020204030204" pitchFamily="34" charset="0"/>
                <a:cs typeface="Calibri Light" panose="020F0302020204030204" pitchFamily="34" charset="0"/>
              </a:rPr>
              <a:t>Different protein complexes on TSS regions</a:t>
            </a:r>
            <a:r>
              <a:rPr lang="en-GB" dirty="0">
                <a:latin typeface="Calibri Light" panose="020F0302020204030204" pitchFamily="34" charset="0"/>
                <a:ea typeface="Calibri Light" panose="020F0302020204030204" pitchFamily="34" charset="0"/>
                <a:cs typeface="Calibri Light" panose="020F0302020204030204" pitchFamily="34" charset="0"/>
              </a:rPr>
              <a:t>. Core promoters that contain a TATA box are bound by TBP in complex with TFIIA and TFIIB </a:t>
            </a:r>
          </a:p>
          <a:p>
            <a:pPr marL="342900" indent="-342900" algn="just">
              <a:buAutoNum type="alphaLcPeriod"/>
            </a:pPr>
            <a:r>
              <a:rPr lang="en-GB" dirty="0">
                <a:latin typeface="Calibri Light" panose="020F0302020204030204" pitchFamily="34" charset="0"/>
                <a:ea typeface="Calibri Light" panose="020F0302020204030204" pitchFamily="34" charset="0"/>
                <a:cs typeface="Calibri Light" panose="020F0302020204030204" pitchFamily="34" charset="0"/>
              </a:rPr>
              <a:t>The complex is shown as a schematic drawing (top), as a Connolly surface model (</a:t>
            </a:r>
            <a:r>
              <a:rPr lang="en-GB" dirty="0" err="1">
                <a:latin typeface="Calibri Light" panose="020F0302020204030204" pitchFamily="34" charset="0"/>
                <a:ea typeface="Calibri Light" panose="020F0302020204030204" pitchFamily="34" charset="0"/>
                <a:cs typeface="Calibri Light" panose="020F0302020204030204" pitchFamily="34" charset="0"/>
              </a:rPr>
              <a:t>center</a:t>
            </a:r>
            <a:r>
              <a:rPr lang="en-GB" dirty="0">
                <a:latin typeface="Calibri Light" panose="020F0302020204030204" pitchFamily="34" charset="0"/>
                <a:ea typeface="Calibri Light" panose="020F0302020204030204" pitchFamily="34" charset="0"/>
                <a:cs typeface="Calibri Light" panose="020F0302020204030204" pitchFamily="34" charset="0"/>
              </a:rPr>
              <a:t>) or as a ribbon model (bottom). The unwound DNA is visible best in the ribbon model. On TATA-lacking core promoters the </a:t>
            </a:r>
            <a:r>
              <a:rPr lang="en-GB" dirty="0" err="1">
                <a:latin typeface="Calibri Light" panose="020F0302020204030204" pitchFamily="34" charset="0"/>
                <a:ea typeface="Calibri Light" panose="020F0302020204030204" pitchFamily="34" charset="0"/>
                <a:cs typeface="Calibri Light" panose="020F0302020204030204" pitchFamily="34" charset="0"/>
              </a:rPr>
              <a:t>Inr</a:t>
            </a:r>
            <a:r>
              <a:rPr lang="en-GB" dirty="0">
                <a:latin typeface="Calibri Light" panose="020F0302020204030204" pitchFamily="34" charset="0"/>
                <a:ea typeface="Calibri Light" panose="020F0302020204030204" pitchFamily="34" charset="0"/>
                <a:cs typeface="Calibri Light" panose="020F0302020204030204" pitchFamily="34" charset="0"/>
              </a:rPr>
              <a:t> element is used alone or in combination with DPE to attract TAF1 and TAF2 (to </a:t>
            </a:r>
            <a:r>
              <a:rPr lang="en-GB" dirty="0" err="1">
                <a:latin typeface="Calibri Light" panose="020F0302020204030204" pitchFamily="34" charset="0"/>
                <a:ea typeface="Calibri Light" panose="020F0302020204030204" pitchFamily="34" charset="0"/>
                <a:cs typeface="Calibri Light" panose="020F0302020204030204" pitchFamily="34" charset="0"/>
              </a:rPr>
              <a:t>Inr</a:t>
            </a:r>
            <a:r>
              <a:rPr lang="en-GB" dirty="0">
                <a:latin typeface="Calibri Light" panose="020F0302020204030204" pitchFamily="34" charset="0"/>
                <a:ea typeface="Calibri Light" panose="020F0302020204030204" pitchFamily="34" charset="0"/>
                <a:cs typeface="Calibri Light" panose="020F0302020204030204" pitchFamily="34" charset="0"/>
              </a:rPr>
              <a:t>) and TAF4 and TAF9 (to DPE) </a:t>
            </a:r>
          </a:p>
          <a:p>
            <a:pPr marL="342900" indent="-342900" algn="just">
              <a:buAutoNum type="alphaLcPeriod"/>
            </a:pPr>
            <a:r>
              <a:rPr lang="en-GB" dirty="0">
                <a:latin typeface="Calibri Light" panose="020F0302020204030204" pitchFamily="34" charset="0"/>
                <a:ea typeface="Calibri Light" panose="020F0302020204030204" pitchFamily="34" charset="0"/>
                <a:cs typeface="Calibri Light" panose="020F0302020204030204" pitchFamily="34" charset="0"/>
              </a:rPr>
              <a:t>Alternatively, TBP-like factor (TLF) can form a complex with TFIIA and TFIIB on a BRE element c or SP1 binding to a CG-rich sequence directs complex assembly of TAF1, TAF2 and TAF4 d</a:t>
            </a:r>
            <a:endParaRPr lang="en-US"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36657911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EA01A-480A-9405-4CA2-9A2D7CB07A41}"/>
              </a:ext>
            </a:extLst>
          </p:cNvPr>
          <p:cNvSpPr>
            <a:spLocks noGrp="1"/>
          </p:cNvSpPr>
          <p:nvPr>
            <p:ph type="title"/>
          </p:nvPr>
        </p:nvSpPr>
        <p:spPr>
          <a:xfrm>
            <a:off x="783771" y="191379"/>
            <a:ext cx="9907255" cy="836603"/>
          </a:xfrm>
        </p:spPr>
        <p:txBody>
          <a:bodyPr/>
          <a:lstStyle/>
          <a:p>
            <a:pPr algn="ctr"/>
            <a:r>
              <a:rPr lang="en-GB" sz="4400" b="1" dirty="0"/>
              <a:t>The "General" Transcription Factors (GTFs)</a:t>
            </a:r>
            <a:endParaRPr lang="en-US" sz="4400" b="1" dirty="0"/>
          </a:p>
        </p:txBody>
      </p:sp>
      <p:sp>
        <p:nvSpPr>
          <p:cNvPr id="3" name="Rectangle 1">
            <a:extLst>
              <a:ext uri="{FF2B5EF4-FFF2-40B4-BE49-F238E27FC236}">
                <a16:creationId xmlns:a16="http://schemas.microsoft.com/office/drawing/2014/main" id="{72601CF6-0A79-1F51-BDB7-C1C4A0498D26}"/>
              </a:ext>
            </a:extLst>
          </p:cNvPr>
          <p:cNvSpPr>
            <a:spLocks noChangeArrowheads="1"/>
          </p:cNvSpPr>
          <p:nvPr/>
        </p:nvSpPr>
        <p:spPr bwMode="auto">
          <a:xfrm>
            <a:off x="640634" y="1452835"/>
            <a:ext cx="10696060"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GB" altLang="en-US" sz="28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Definition: A highly conserved set of proteins absolutely required for RNAPII transcription initiation at all core promoters.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GB" altLang="en-US" sz="28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Collective Name: Often referred to as TFII proteins (Transcription Factor for RNAP II).</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GB" altLang="en-US" sz="28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The Main Players: TFIIA, TFIIB, TFIID, TFIIE, TFIIF, TFIIH.</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GB" altLang="en-US" sz="28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Overall Function: They form a platform on the DNA promoter that recruits and positions RNAPII correctly at the Transcription Start Site (TSS).</a:t>
            </a:r>
            <a:endParaRPr kumimoji="0" lang="en-US" altLang="en-US" sz="28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32148993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B00142A-B2A4-BAB7-64DB-892D6900C514}"/>
              </a:ext>
            </a:extLst>
          </p:cNvPr>
          <p:cNvPicPr>
            <a:picLocks noChangeAspect="1"/>
          </p:cNvPicPr>
          <p:nvPr/>
        </p:nvPicPr>
        <p:blipFill>
          <a:blip r:embed="rId2"/>
          <a:stretch>
            <a:fillRect/>
          </a:stretch>
        </p:blipFill>
        <p:spPr>
          <a:xfrm>
            <a:off x="394976" y="1197548"/>
            <a:ext cx="7111294" cy="5435263"/>
          </a:xfrm>
          <a:prstGeom prst="rect">
            <a:avLst/>
          </a:prstGeom>
        </p:spPr>
      </p:pic>
      <p:sp>
        <p:nvSpPr>
          <p:cNvPr id="11" name="TextBox 10">
            <a:extLst>
              <a:ext uri="{FF2B5EF4-FFF2-40B4-BE49-F238E27FC236}">
                <a16:creationId xmlns:a16="http://schemas.microsoft.com/office/drawing/2014/main" id="{41E11D80-7C9E-24F8-C2A0-6096AEDBDEC3}"/>
              </a:ext>
            </a:extLst>
          </p:cNvPr>
          <p:cNvSpPr txBox="1"/>
          <p:nvPr/>
        </p:nvSpPr>
        <p:spPr>
          <a:xfrm>
            <a:off x="1528555" y="245662"/>
            <a:ext cx="9355539" cy="584775"/>
          </a:xfrm>
          <a:prstGeom prst="rect">
            <a:avLst/>
          </a:prstGeom>
          <a:noFill/>
        </p:spPr>
        <p:txBody>
          <a:bodyPr wrap="square">
            <a:spAutoFit/>
          </a:bodyPr>
          <a:lstStyle/>
          <a:p>
            <a:r>
              <a:rPr lang="en-US" sz="3200" dirty="0"/>
              <a:t>TFIIB as a paradigm of a multiprotein complex</a:t>
            </a:r>
          </a:p>
        </p:txBody>
      </p:sp>
      <p:sp>
        <p:nvSpPr>
          <p:cNvPr id="13" name="TextBox 12">
            <a:extLst>
              <a:ext uri="{FF2B5EF4-FFF2-40B4-BE49-F238E27FC236}">
                <a16:creationId xmlns:a16="http://schemas.microsoft.com/office/drawing/2014/main" id="{4BFFABCA-E7C7-CED8-7A07-4C92383F7DC6}"/>
              </a:ext>
            </a:extLst>
          </p:cNvPr>
          <p:cNvSpPr txBox="1"/>
          <p:nvPr/>
        </p:nvSpPr>
        <p:spPr>
          <a:xfrm>
            <a:off x="7608624" y="1213354"/>
            <a:ext cx="4460543" cy="4832092"/>
          </a:xfrm>
          <a:prstGeom prst="rect">
            <a:avLst/>
          </a:prstGeom>
          <a:noFill/>
        </p:spPr>
        <p:txBody>
          <a:bodyPr wrap="square">
            <a:spAutoFit/>
          </a:bodyPr>
          <a:lstStyle/>
          <a:p>
            <a:pPr algn="just"/>
            <a:r>
              <a:rPr lang="en-GB" sz="1400" dirty="0"/>
              <a:t>Schematic representation of the multi protein complex TFIID, where the size of the different subunits is relative to their molecular mass a. Crystallized domains and folds of TAFs from different species b. With the exception of the histone fold domains, there is the same fold in TAF10-TAF8 and TAF10-TAF3 interacting surfaces. The LTA4H (leukotriene A4 hydrolase)-like domain that is homologous to TAF2 is based on human M1 aminopeptidase (PDB identifier 3B7S) and the characteristic WD40 propeller domain found in TAF5 is based on the carboxy-terminal domain of Tup1, which is a transcriptional corepressor in yeast (PDB identifier 1ERJ). Subunits of the yeast TFIID complex c. The known 3D structures of yeast </a:t>
            </a:r>
            <a:r>
              <a:rPr lang="en-GB" sz="1400" dirty="0" err="1"/>
              <a:t>Taf</a:t>
            </a:r>
            <a:r>
              <a:rPr lang="en-GB" sz="1400" dirty="0"/>
              <a:t> domains or their homology models are roughly positioned according to the available data on protein–protein interactions into an electron density map obtained from electron microscopic images. </a:t>
            </a:r>
            <a:r>
              <a:rPr lang="en-GB" sz="1400" dirty="0" err="1"/>
              <a:t>Tafs</a:t>
            </a:r>
            <a:r>
              <a:rPr lang="en-GB" sz="1400" dirty="0"/>
              <a:t> containing histone folds are displayed in blue. TBP is complexed with the TAND domain of Taf1</a:t>
            </a:r>
            <a:endParaRPr lang="en-US" sz="1400" dirty="0"/>
          </a:p>
        </p:txBody>
      </p:sp>
    </p:spTree>
    <p:extLst>
      <p:ext uri="{BB962C8B-B14F-4D97-AF65-F5344CB8AC3E}">
        <p14:creationId xmlns:p14="http://schemas.microsoft.com/office/powerpoint/2010/main" val="37586908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BCD04DB-72CC-C52D-6E58-A008276EBF34}"/>
              </a:ext>
            </a:extLst>
          </p:cNvPr>
          <p:cNvPicPr>
            <a:picLocks noChangeAspect="1"/>
          </p:cNvPicPr>
          <p:nvPr/>
        </p:nvPicPr>
        <p:blipFill>
          <a:blip r:embed="rId2"/>
          <a:stretch>
            <a:fillRect/>
          </a:stretch>
        </p:blipFill>
        <p:spPr>
          <a:xfrm>
            <a:off x="3087513" y="0"/>
            <a:ext cx="6016974" cy="6858000"/>
          </a:xfrm>
          <a:prstGeom prst="rect">
            <a:avLst/>
          </a:prstGeom>
        </p:spPr>
      </p:pic>
    </p:spTree>
    <p:extLst>
      <p:ext uri="{BB962C8B-B14F-4D97-AF65-F5344CB8AC3E}">
        <p14:creationId xmlns:p14="http://schemas.microsoft.com/office/powerpoint/2010/main" val="12546075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EA01A-480A-9405-4CA2-9A2D7CB07A41}"/>
              </a:ext>
            </a:extLst>
          </p:cNvPr>
          <p:cNvSpPr>
            <a:spLocks noGrp="1"/>
          </p:cNvSpPr>
          <p:nvPr>
            <p:ph type="title"/>
          </p:nvPr>
        </p:nvSpPr>
        <p:spPr>
          <a:xfrm>
            <a:off x="783771" y="191379"/>
            <a:ext cx="9907255" cy="836603"/>
          </a:xfrm>
        </p:spPr>
        <p:txBody>
          <a:bodyPr/>
          <a:lstStyle/>
          <a:p>
            <a:pPr algn="ctr"/>
            <a:r>
              <a:rPr lang="en-GB" sz="4400" b="1" dirty="0"/>
              <a:t>The Core Promoter</a:t>
            </a:r>
            <a:endParaRPr lang="en-US" sz="4400" b="1" dirty="0"/>
          </a:p>
        </p:txBody>
      </p:sp>
      <p:pic>
        <p:nvPicPr>
          <p:cNvPr id="5" name="Picture 4">
            <a:extLst>
              <a:ext uri="{FF2B5EF4-FFF2-40B4-BE49-F238E27FC236}">
                <a16:creationId xmlns:a16="http://schemas.microsoft.com/office/drawing/2014/main" id="{CD415B11-1ECD-A4A4-F96C-67BE564605BD}"/>
              </a:ext>
            </a:extLst>
          </p:cNvPr>
          <p:cNvPicPr>
            <a:picLocks noChangeAspect="1"/>
          </p:cNvPicPr>
          <p:nvPr/>
        </p:nvPicPr>
        <p:blipFill>
          <a:blip r:embed="rId3"/>
          <a:stretch>
            <a:fillRect/>
          </a:stretch>
        </p:blipFill>
        <p:spPr>
          <a:xfrm>
            <a:off x="245969" y="1426191"/>
            <a:ext cx="7937738" cy="4804012"/>
          </a:xfrm>
          <a:prstGeom prst="rect">
            <a:avLst/>
          </a:prstGeom>
        </p:spPr>
      </p:pic>
      <p:sp>
        <p:nvSpPr>
          <p:cNvPr id="9" name="TextBox 8">
            <a:extLst>
              <a:ext uri="{FF2B5EF4-FFF2-40B4-BE49-F238E27FC236}">
                <a16:creationId xmlns:a16="http://schemas.microsoft.com/office/drawing/2014/main" id="{639E9D43-9791-CBC1-A8D7-E2A76D87ABD2}"/>
              </a:ext>
            </a:extLst>
          </p:cNvPr>
          <p:cNvSpPr txBox="1"/>
          <p:nvPr/>
        </p:nvSpPr>
        <p:spPr>
          <a:xfrm>
            <a:off x="8277366" y="1388496"/>
            <a:ext cx="3780432" cy="4801314"/>
          </a:xfrm>
          <a:prstGeom prst="rect">
            <a:avLst/>
          </a:prstGeom>
          <a:noFill/>
        </p:spPr>
        <p:txBody>
          <a:bodyPr wrap="square">
            <a:spAutoFit/>
          </a:bodyPr>
          <a:lstStyle/>
          <a:p>
            <a:pPr algn="just"/>
            <a:r>
              <a:rPr lang="en-GB" dirty="0"/>
              <a:t>Assembly of the basal transcriptional machinery. The TATA box of a core promoter </a:t>
            </a:r>
          </a:p>
          <a:p>
            <a:pPr algn="just"/>
            <a:r>
              <a:rPr lang="en-GB" dirty="0"/>
              <a:t>(TSS region) is specifically bound by TBP that forms together with TAF proteins the multiprotein </a:t>
            </a:r>
          </a:p>
          <a:p>
            <a:pPr algn="just"/>
            <a:r>
              <a:rPr lang="en-GB" dirty="0"/>
              <a:t>Complex TFIID. In an ordered fashion further GTFs, such as TFII B, F, E and H, as well as Pol II </a:t>
            </a:r>
          </a:p>
          <a:p>
            <a:pPr algn="just"/>
            <a:r>
              <a:rPr lang="en-GB" dirty="0"/>
              <a:t>are recruited to the DNA-bound TFIID complex. Within this basal transcriptional machinery, the </a:t>
            </a:r>
          </a:p>
          <a:p>
            <a:pPr algn="just"/>
            <a:r>
              <a:rPr lang="en-GB" dirty="0"/>
              <a:t>catalytic site of Pol II is in a defined distance of the TATA box, i.e., the binding of TBP determines the start of transcription.</a:t>
            </a:r>
            <a:endParaRPr lang="en-US" dirty="0"/>
          </a:p>
        </p:txBody>
      </p:sp>
    </p:spTree>
    <p:extLst>
      <p:ext uri="{BB962C8B-B14F-4D97-AF65-F5344CB8AC3E}">
        <p14:creationId xmlns:p14="http://schemas.microsoft.com/office/powerpoint/2010/main" val="21182431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EA01A-480A-9405-4CA2-9A2D7CB07A41}"/>
              </a:ext>
            </a:extLst>
          </p:cNvPr>
          <p:cNvSpPr>
            <a:spLocks noGrp="1"/>
          </p:cNvSpPr>
          <p:nvPr>
            <p:ph type="title"/>
          </p:nvPr>
        </p:nvSpPr>
        <p:spPr>
          <a:xfrm>
            <a:off x="783771" y="191379"/>
            <a:ext cx="9907255" cy="836603"/>
          </a:xfrm>
        </p:spPr>
        <p:txBody>
          <a:bodyPr/>
          <a:lstStyle/>
          <a:p>
            <a:pPr algn="ctr"/>
            <a:r>
              <a:rPr lang="en-GB" sz="4400" b="1" dirty="0"/>
              <a:t>The Landing Pad: The Core Promoter</a:t>
            </a:r>
            <a:endParaRPr lang="en-US" sz="4400" b="1" dirty="0"/>
          </a:p>
        </p:txBody>
      </p:sp>
      <p:sp>
        <p:nvSpPr>
          <p:cNvPr id="3" name="Rectangle 1">
            <a:extLst>
              <a:ext uri="{FF2B5EF4-FFF2-40B4-BE49-F238E27FC236}">
                <a16:creationId xmlns:a16="http://schemas.microsoft.com/office/drawing/2014/main" id="{72601CF6-0A79-1F51-BDB7-C1C4A0498D26}"/>
              </a:ext>
            </a:extLst>
          </p:cNvPr>
          <p:cNvSpPr>
            <a:spLocks noChangeArrowheads="1"/>
          </p:cNvSpPr>
          <p:nvPr/>
        </p:nvSpPr>
        <p:spPr bwMode="auto">
          <a:xfrm>
            <a:off x="640634" y="1178977"/>
            <a:ext cx="10696060"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GB" altLang="en-US" sz="26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The Promoter Region: The DNA sequence immediately surrounding the transcription start site (TSS, usually designated +1).</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GB" altLang="en-US" sz="26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Promoter Diversity: Unlike bacteria, eukaryotic core promoters are diverse and often lack strong consensus sequences.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GB" altLang="en-US" sz="26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The TATA Box: The most famous core promoter element.</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GB" altLang="en-US" sz="26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Sequence: TATA(A/T)A(A/T).</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GB" altLang="en-US" sz="26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Location: Typically ~25-30 base pairs upstream of the TSS (-25 to -30).</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GB" altLang="en-US" sz="26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Note: Only present in a minority of human promoters (often highly regulated "sharp" promoters), but essential for understanding the basal mechanism.</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GB" altLang="en-US" sz="26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Other Elements: Many genes lack TATA boxes (TATA-less promoters) and rely on other elements like the Initiator (</a:t>
            </a:r>
            <a:r>
              <a:rPr kumimoji="0" lang="en-GB" altLang="en-US" sz="2600" i="0" u="none" strike="noStrike" cap="none" normalizeH="0" baseline="0" dirty="0" err="1">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Inr</a:t>
            </a:r>
            <a:r>
              <a:rPr kumimoji="0" lang="en-GB" altLang="en-US" sz="26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or Downstream Promoter Element (DPE) near the TSS.</a:t>
            </a:r>
            <a:endParaRPr kumimoji="0" lang="en-US" altLang="en-US" sz="26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40720838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EA01A-480A-9405-4CA2-9A2D7CB07A41}"/>
              </a:ext>
            </a:extLst>
          </p:cNvPr>
          <p:cNvSpPr>
            <a:spLocks noGrp="1"/>
          </p:cNvSpPr>
          <p:nvPr>
            <p:ph type="title"/>
          </p:nvPr>
        </p:nvSpPr>
        <p:spPr>
          <a:xfrm>
            <a:off x="783771" y="191379"/>
            <a:ext cx="9907255" cy="836603"/>
          </a:xfrm>
        </p:spPr>
        <p:txBody>
          <a:bodyPr/>
          <a:lstStyle/>
          <a:p>
            <a:pPr algn="ctr"/>
            <a:r>
              <a:rPr lang="en-GB" sz="4000" b="1" dirty="0"/>
              <a:t>Assembling the Machine – Step 1: Recognition</a:t>
            </a:r>
            <a:endParaRPr lang="en-US" sz="4000" b="1" dirty="0"/>
          </a:p>
        </p:txBody>
      </p:sp>
      <p:pic>
        <p:nvPicPr>
          <p:cNvPr id="5" name="Picture 4">
            <a:extLst>
              <a:ext uri="{FF2B5EF4-FFF2-40B4-BE49-F238E27FC236}">
                <a16:creationId xmlns:a16="http://schemas.microsoft.com/office/drawing/2014/main" id="{CD415B11-1ECD-A4A4-F96C-67BE564605BD}"/>
              </a:ext>
            </a:extLst>
          </p:cNvPr>
          <p:cNvPicPr>
            <a:picLocks noChangeAspect="1"/>
          </p:cNvPicPr>
          <p:nvPr/>
        </p:nvPicPr>
        <p:blipFill>
          <a:blip r:embed="rId3"/>
          <a:stretch>
            <a:fillRect/>
          </a:stretch>
        </p:blipFill>
        <p:spPr>
          <a:xfrm>
            <a:off x="245969" y="1426191"/>
            <a:ext cx="7937738" cy="4804012"/>
          </a:xfrm>
          <a:prstGeom prst="rect">
            <a:avLst/>
          </a:prstGeom>
        </p:spPr>
      </p:pic>
      <p:sp>
        <p:nvSpPr>
          <p:cNvPr id="9" name="TextBox 8">
            <a:extLst>
              <a:ext uri="{FF2B5EF4-FFF2-40B4-BE49-F238E27FC236}">
                <a16:creationId xmlns:a16="http://schemas.microsoft.com/office/drawing/2014/main" id="{639E9D43-9791-CBC1-A8D7-E2A76D87ABD2}"/>
              </a:ext>
            </a:extLst>
          </p:cNvPr>
          <p:cNvSpPr txBox="1"/>
          <p:nvPr/>
        </p:nvSpPr>
        <p:spPr>
          <a:xfrm>
            <a:off x="8277366" y="1388496"/>
            <a:ext cx="3780432" cy="4801314"/>
          </a:xfrm>
          <a:prstGeom prst="rect">
            <a:avLst/>
          </a:prstGeom>
          <a:noFill/>
        </p:spPr>
        <p:txBody>
          <a:bodyPr wrap="square">
            <a:spAutoFit/>
          </a:bodyPr>
          <a:lstStyle/>
          <a:p>
            <a:pPr algn="just"/>
            <a:r>
              <a:rPr lang="en-GB" dirty="0"/>
              <a:t>Assembly of the basal transcriptional machinery. The TATA box of a core promoter </a:t>
            </a:r>
          </a:p>
          <a:p>
            <a:pPr algn="just"/>
            <a:r>
              <a:rPr lang="en-GB" dirty="0"/>
              <a:t>(TSS region) is specifically bound by TBP that forms together with TAF proteins the multiprotein </a:t>
            </a:r>
          </a:p>
          <a:p>
            <a:pPr algn="just"/>
            <a:r>
              <a:rPr lang="en-GB" dirty="0"/>
              <a:t>Complex TFIID. In an ordered fashion further GTFs, such as TFII B, F, E and H, as well as Pol II </a:t>
            </a:r>
          </a:p>
          <a:p>
            <a:pPr algn="just"/>
            <a:r>
              <a:rPr lang="en-GB" dirty="0"/>
              <a:t>are recruited to the DNA-bound TFIID complex. Within this basal transcriptional machinery, the </a:t>
            </a:r>
          </a:p>
          <a:p>
            <a:pPr algn="just"/>
            <a:r>
              <a:rPr lang="en-GB" dirty="0"/>
              <a:t>catalytic site of Pol II is in a defined distance of the TATA box, i.e., the binding of TBP determines the start of transcription.</a:t>
            </a:r>
            <a:endParaRPr lang="en-US" dirty="0"/>
          </a:p>
        </p:txBody>
      </p:sp>
    </p:spTree>
    <p:extLst>
      <p:ext uri="{BB962C8B-B14F-4D97-AF65-F5344CB8AC3E}">
        <p14:creationId xmlns:p14="http://schemas.microsoft.com/office/powerpoint/2010/main" val="10856922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EA01A-480A-9405-4CA2-9A2D7CB07A41}"/>
              </a:ext>
            </a:extLst>
          </p:cNvPr>
          <p:cNvSpPr>
            <a:spLocks noGrp="1"/>
          </p:cNvSpPr>
          <p:nvPr>
            <p:ph type="title"/>
          </p:nvPr>
        </p:nvSpPr>
        <p:spPr>
          <a:xfrm>
            <a:off x="749651" y="191379"/>
            <a:ext cx="10345978" cy="836603"/>
          </a:xfrm>
        </p:spPr>
        <p:txBody>
          <a:bodyPr/>
          <a:lstStyle/>
          <a:p>
            <a:pPr algn="ctr"/>
            <a:r>
              <a:rPr lang="en-GB" sz="3600" b="1" dirty="0"/>
              <a:t>Pre-Initiation Complex (PIC) Assembly: The First Step</a:t>
            </a:r>
            <a:endParaRPr lang="en-US" sz="3600" b="1" dirty="0"/>
          </a:p>
        </p:txBody>
      </p:sp>
      <p:sp>
        <p:nvSpPr>
          <p:cNvPr id="3" name="Rectangle 1">
            <a:extLst>
              <a:ext uri="{FF2B5EF4-FFF2-40B4-BE49-F238E27FC236}">
                <a16:creationId xmlns:a16="http://schemas.microsoft.com/office/drawing/2014/main" id="{72601CF6-0A79-1F51-BDB7-C1C4A0498D26}"/>
              </a:ext>
            </a:extLst>
          </p:cNvPr>
          <p:cNvSpPr>
            <a:spLocks noChangeArrowheads="1"/>
          </p:cNvSpPr>
          <p:nvPr/>
        </p:nvSpPr>
        <p:spPr bwMode="auto">
          <a:xfrm>
            <a:off x="640634" y="1178978"/>
            <a:ext cx="10696060"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GB" altLang="en-US" sz="26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The Pre-Initiation Complex (PIC): The complete assembly of GTFs and RNAPII at the promoter, ready to start transcription.</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GB" altLang="en-US" sz="26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Step 1: TFIID recognizes the Promoter</a:t>
            </a:r>
          </a:p>
          <a:p>
            <a:pPr marL="914400" lvl="1" indent="-457200" algn="just" eaLnBrk="0" fontAlgn="base" hangingPunct="0">
              <a:spcBef>
                <a:spcPct val="0"/>
              </a:spcBef>
              <a:spcAft>
                <a:spcPct val="0"/>
              </a:spcAft>
              <a:buFont typeface="Wingdings" panose="05000000000000000000" pitchFamily="2" charset="2"/>
              <a:buChar char="§"/>
            </a:pPr>
            <a:r>
              <a:rPr kumimoji="0" lang="en-GB" altLang="en-US" sz="26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TFIID is the first complex to bind. It is massive and composed of multiple subunits.</a:t>
            </a:r>
          </a:p>
          <a:p>
            <a:pPr marL="914400" lvl="1" indent="-457200" algn="just" eaLnBrk="0" fontAlgn="base" hangingPunct="0">
              <a:spcBef>
                <a:spcPct val="0"/>
              </a:spcBef>
              <a:spcAft>
                <a:spcPct val="0"/>
              </a:spcAft>
              <a:buFont typeface="Wingdings" panose="05000000000000000000" pitchFamily="2" charset="2"/>
              <a:buChar char="§"/>
            </a:pPr>
            <a:r>
              <a:rPr kumimoji="0" lang="en-GB" altLang="en-US" sz="26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TBP (TATA-Binding Protein): A subunit of TFIID that specifically recognizes the TATA box.</a:t>
            </a:r>
          </a:p>
          <a:p>
            <a:pPr marL="914400" lvl="1" indent="-457200" algn="just" eaLnBrk="0" fontAlgn="base" hangingPunct="0">
              <a:spcBef>
                <a:spcPct val="0"/>
              </a:spcBef>
              <a:spcAft>
                <a:spcPct val="0"/>
              </a:spcAft>
              <a:buFont typeface="Wingdings" panose="05000000000000000000" pitchFamily="2" charset="2"/>
              <a:buChar char="§"/>
            </a:pPr>
            <a:r>
              <a:rPr kumimoji="0" lang="en-GB" altLang="en-US" sz="26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Mechanism: TBP binds to the minor groove of the DNA double helix and sharply bends the DNA (~80 degrees). This structural distortion marks the spot for assembly.</a:t>
            </a:r>
          </a:p>
          <a:p>
            <a:pPr marL="914400" lvl="1" indent="-457200" algn="just" eaLnBrk="0" fontAlgn="base" hangingPunct="0">
              <a:spcBef>
                <a:spcPct val="0"/>
              </a:spcBef>
              <a:spcAft>
                <a:spcPct val="0"/>
              </a:spcAft>
              <a:buFont typeface="Wingdings" panose="05000000000000000000" pitchFamily="2" charset="2"/>
              <a:buChar char="§"/>
            </a:pPr>
            <a:r>
              <a:rPr kumimoji="0" lang="en-GB" altLang="en-US" sz="26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TAFs (TBP-Associated Factors): Other subunits of TFIID that recognize non-TATA elements (like </a:t>
            </a:r>
            <a:r>
              <a:rPr kumimoji="0" lang="en-GB" altLang="en-US" sz="2600" i="0" u="none" strike="noStrike" cap="none" normalizeH="0" baseline="0" dirty="0" err="1">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Inr</a:t>
            </a:r>
            <a:r>
              <a:rPr kumimoji="0" lang="en-GB" altLang="en-US" sz="26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or DPE) in TATA-less promoters.</a:t>
            </a:r>
            <a:endParaRPr kumimoji="0" lang="en-US" altLang="en-US" sz="26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16028185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EA01A-480A-9405-4CA2-9A2D7CB07A41}"/>
              </a:ext>
            </a:extLst>
          </p:cNvPr>
          <p:cNvSpPr>
            <a:spLocks noGrp="1"/>
          </p:cNvSpPr>
          <p:nvPr>
            <p:ph type="title"/>
          </p:nvPr>
        </p:nvSpPr>
        <p:spPr>
          <a:xfrm>
            <a:off x="783771" y="191379"/>
            <a:ext cx="9907255" cy="836603"/>
          </a:xfrm>
        </p:spPr>
        <p:txBody>
          <a:bodyPr/>
          <a:lstStyle/>
          <a:p>
            <a:pPr algn="ctr"/>
            <a:r>
              <a:rPr lang="en-GB" sz="4000" b="1" dirty="0"/>
              <a:t>TATA box in complex with TBP</a:t>
            </a:r>
            <a:endParaRPr lang="en-US" sz="4000" b="1" dirty="0"/>
          </a:p>
        </p:txBody>
      </p:sp>
      <p:sp>
        <p:nvSpPr>
          <p:cNvPr id="9" name="TextBox 8">
            <a:extLst>
              <a:ext uri="{FF2B5EF4-FFF2-40B4-BE49-F238E27FC236}">
                <a16:creationId xmlns:a16="http://schemas.microsoft.com/office/drawing/2014/main" id="{639E9D43-9791-CBC1-A8D7-E2A76D87ABD2}"/>
              </a:ext>
            </a:extLst>
          </p:cNvPr>
          <p:cNvSpPr txBox="1"/>
          <p:nvPr/>
        </p:nvSpPr>
        <p:spPr>
          <a:xfrm>
            <a:off x="7717809" y="1388496"/>
            <a:ext cx="4162567" cy="5016758"/>
          </a:xfrm>
          <a:prstGeom prst="rect">
            <a:avLst/>
          </a:prstGeom>
          <a:noFill/>
        </p:spPr>
        <p:txBody>
          <a:bodyPr wrap="square">
            <a:spAutoFit/>
          </a:bodyPr>
          <a:lstStyle/>
          <a:p>
            <a:pPr algn="just"/>
            <a:r>
              <a:rPr lang="en-GB" sz="1600" dirty="0"/>
              <a:t>The TATA box is found some 30 base pairs upstream of the TSS of a subset of human genes and is specifically recognized by TBP </a:t>
            </a:r>
          </a:p>
          <a:p>
            <a:pPr algn="just"/>
            <a:r>
              <a:rPr lang="en-GB" sz="1600" dirty="0"/>
              <a:t>a. Other possible proximal TFBSs are CG-rich motifs being recognized by the transcription factor SP1 or CCAAT boxes bound by the transcription factors of the CEBP (CCAAT enhancer binding protein) family. All these elements belong to the core promoter (TSS region). The TATA box is the prototype of a TFBS. It can be represented either by a consensus sequence or more accurately by a sequence logo </a:t>
            </a:r>
          </a:p>
          <a:p>
            <a:pPr algn="just"/>
            <a:r>
              <a:rPr lang="en-GB" sz="1600" dirty="0"/>
              <a:t>b. Two nearly identical DBDs (blue and green) of TBP are shown in a Connolly surface model (c, top) in complex with DNA (</a:t>
            </a:r>
            <a:r>
              <a:rPr lang="en-GB" sz="1600" dirty="0" err="1"/>
              <a:t>gray</a:t>
            </a:r>
            <a:r>
              <a:rPr lang="en-GB" sz="1600" dirty="0"/>
              <a:t>) or as a ribbon model (c, bottom) in the absence of DNA</a:t>
            </a:r>
            <a:endParaRPr lang="en-US" sz="1600" dirty="0"/>
          </a:p>
        </p:txBody>
      </p:sp>
      <p:pic>
        <p:nvPicPr>
          <p:cNvPr id="4" name="Picture 3">
            <a:extLst>
              <a:ext uri="{FF2B5EF4-FFF2-40B4-BE49-F238E27FC236}">
                <a16:creationId xmlns:a16="http://schemas.microsoft.com/office/drawing/2014/main" id="{E9050A3F-D266-7532-28E0-D552686F74E6}"/>
              </a:ext>
            </a:extLst>
          </p:cNvPr>
          <p:cNvPicPr>
            <a:picLocks noChangeAspect="1"/>
          </p:cNvPicPr>
          <p:nvPr/>
        </p:nvPicPr>
        <p:blipFill>
          <a:blip r:embed="rId3"/>
          <a:stretch>
            <a:fillRect/>
          </a:stretch>
        </p:blipFill>
        <p:spPr>
          <a:xfrm>
            <a:off x="197497" y="1318379"/>
            <a:ext cx="7254182" cy="5109715"/>
          </a:xfrm>
          <a:prstGeom prst="rect">
            <a:avLst/>
          </a:prstGeom>
        </p:spPr>
      </p:pic>
    </p:spTree>
    <p:extLst>
      <p:ext uri="{BB962C8B-B14F-4D97-AF65-F5344CB8AC3E}">
        <p14:creationId xmlns:p14="http://schemas.microsoft.com/office/powerpoint/2010/main" val="27284643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EA01A-480A-9405-4CA2-9A2D7CB07A41}"/>
              </a:ext>
            </a:extLst>
          </p:cNvPr>
          <p:cNvSpPr>
            <a:spLocks noGrp="1"/>
          </p:cNvSpPr>
          <p:nvPr>
            <p:ph type="title"/>
          </p:nvPr>
        </p:nvSpPr>
        <p:spPr>
          <a:xfrm>
            <a:off x="464024" y="191379"/>
            <a:ext cx="11395879" cy="836603"/>
          </a:xfrm>
        </p:spPr>
        <p:txBody>
          <a:bodyPr/>
          <a:lstStyle/>
          <a:p>
            <a:pPr algn="ctr"/>
            <a:r>
              <a:rPr lang="en-GB" sz="3200" b="1" dirty="0"/>
              <a:t>Assembling the Machine – Steps 2 &amp; 3: Stabilization and Recruitment</a:t>
            </a:r>
            <a:endParaRPr lang="en-US" sz="3200" b="1" dirty="0"/>
          </a:p>
        </p:txBody>
      </p:sp>
      <p:pic>
        <p:nvPicPr>
          <p:cNvPr id="4" name="Picture 3">
            <a:extLst>
              <a:ext uri="{FF2B5EF4-FFF2-40B4-BE49-F238E27FC236}">
                <a16:creationId xmlns:a16="http://schemas.microsoft.com/office/drawing/2014/main" id="{80DE9282-DAFF-67E9-90CF-762A3859595B}"/>
              </a:ext>
            </a:extLst>
          </p:cNvPr>
          <p:cNvPicPr>
            <a:picLocks noChangeAspect="1"/>
          </p:cNvPicPr>
          <p:nvPr/>
        </p:nvPicPr>
        <p:blipFill>
          <a:blip r:embed="rId2"/>
          <a:stretch>
            <a:fillRect/>
          </a:stretch>
        </p:blipFill>
        <p:spPr>
          <a:xfrm>
            <a:off x="245969" y="1426191"/>
            <a:ext cx="7937738" cy="4804012"/>
          </a:xfrm>
          <a:prstGeom prst="rect">
            <a:avLst/>
          </a:prstGeom>
        </p:spPr>
      </p:pic>
      <p:sp>
        <p:nvSpPr>
          <p:cNvPr id="5" name="TextBox 4">
            <a:extLst>
              <a:ext uri="{FF2B5EF4-FFF2-40B4-BE49-F238E27FC236}">
                <a16:creationId xmlns:a16="http://schemas.microsoft.com/office/drawing/2014/main" id="{B7F49ED5-64B0-0DB0-6B3B-EA8D82ABFE52}"/>
              </a:ext>
            </a:extLst>
          </p:cNvPr>
          <p:cNvSpPr txBox="1"/>
          <p:nvPr/>
        </p:nvSpPr>
        <p:spPr>
          <a:xfrm>
            <a:off x="8277366" y="1388496"/>
            <a:ext cx="3780432" cy="4801314"/>
          </a:xfrm>
          <a:prstGeom prst="rect">
            <a:avLst/>
          </a:prstGeom>
          <a:noFill/>
        </p:spPr>
        <p:txBody>
          <a:bodyPr wrap="square">
            <a:spAutoFit/>
          </a:bodyPr>
          <a:lstStyle/>
          <a:p>
            <a:pPr algn="just"/>
            <a:r>
              <a:rPr lang="en-GB" dirty="0"/>
              <a:t>Assembly of the basal transcriptional machinery. The TATA box of a core promoter </a:t>
            </a:r>
          </a:p>
          <a:p>
            <a:pPr algn="just"/>
            <a:r>
              <a:rPr lang="en-GB" dirty="0"/>
              <a:t>(TSS region) is specifically bound by TBP that forms together with TAF proteins the multiprotein </a:t>
            </a:r>
          </a:p>
          <a:p>
            <a:pPr algn="just"/>
            <a:r>
              <a:rPr lang="en-GB" dirty="0"/>
              <a:t>Complex TFIID. In an ordered fashion further GTFs, such as TFII B, F, E and H, as well as Pol II </a:t>
            </a:r>
          </a:p>
          <a:p>
            <a:pPr algn="just"/>
            <a:r>
              <a:rPr lang="en-GB" dirty="0"/>
              <a:t>are recruited to the DNA-bound TFIID complex. Within this basal transcriptional machinery, the </a:t>
            </a:r>
          </a:p>
          <a:p>
            <a:pPr algn="just"/>
            <a:r>
              <a:rPr lang="en-GB" dirty="0"/>
              <a:t>catalytic site of Pol II is in a defined distance of the TATA box, i.e., the binding of TBP determines the start of transcription.</a:t>
            </a:r>
            <a:endParaRPr lang="en-US" dirty="0"/>
          </a:p>
        </p:txBody>
      </p:sp>
    </p:spTree>
    <p:extLst>
      <p:ext uri="{BB962C8B-B14F-4D97-AF65-F5344CB8AC3E}">
        <p14:creationId xmlns:p14="http://schemas.microsoft.com/office/powerpoint/2010/main" val="38369654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EA01A-480A-9405-4CA2-9A2D7CB07A41}"/>
              </a:ext>
            </a:extLst>
          </p:cNvPr>
          <p:cNvSpPr>
            <a:spLocks noGrp="1"/>
          </p:cNvSpPr>
          <p:nvPr>
            <p:ph type="title"/>
          </p:nvPr>
        </p:nvSpPr>
        <p:spPr>
          <a:xfrm>
            <a:off x="749651" y="191379"/>
            <a:ext cx="10345978" cy="836603"/>
          </a:xfrm>
        </p:spPr>
        <p:txBody>
          <a:bodyPr/>
          <a:lstStyle/>
          <a:p>
            <a:pPr algn="ctr"/>
            <a:r>
              <a:rPr lang="en-GB" sz="3600" b="1" dirty="0"/>
              <a:t>PIC Assembly: Building the Scaffold</a:t>
            </a:r>
            <a:endParaRPr lang="en-US" sz="3600" b="1" dirty="0"/>
          </a:p>
        </p:txBody>
      </p:sp>
      <p:sp>
        <p:nvSpPr>
          <p:cNvPr id="3" name="Rectangle 1">
            <a:extLst>
              <a:ext uri="{FF2B5EF4-FFF2-40B4-BE49-F238E27FC236}">
                <a16:creationId xmlns:a16="http://schemas.microsoft.com/office/drawing/2014/main" id="{72601CF6-0A79-1F51-BDB7-C1C4A0498D26}"/>
              </a:ext>
            </a:extLst>
          </p:cNvPr>
          <p:cNvSpPr>
            <a:spLocks noChangeArrowheads="1"/>
          </p:cNvSpPr>
          <p:nvPr/>
        </p:nvSpPr>
        <p:spPr bwMode="auto">
          <a:xfrm>
            <a:off x="640634" y="1379033"/>
            <a:ext cx="10696060" cy="449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GB" altLang="en-US" sz="26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Step 2: TFIIA and TFIIB Bind</a:t>
            </a:r>
          </a:p>
          <a:p>
            <a:pPr marL="914400" lvl="1" indent="-457200" algn="just" eaLnBrk="0" fontAlgn="base" hangingPunct="0">
              <a:spcBef>
                <a:spcPct val="0"/>
              </a:spcBef>
              <a:spcAft>
                <a:spcPct val="0"/>
              </a:spcAft>
              <a:buFont typeface="Wingdings" panose="05000000000000000000" pitchFamily="2" charset="2"/>
              <a:buChar char="§"/>
            </a:pPr>
            <a:r>
              <a:rPr kumimoji="0" lang="en-GB" altLang="en-US" sz="26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TFIIA: Stabilizes the TBP-DNA interaction and prevents repressors from binding.</a:t>
            </a:r>
          </a:p>
          <a:p>
            <a:pPr marL="914400" lvl="1" indent="-457200" algn="just" eaLnBrk="0" fontAlgn="base" hangingPunct="0">
              <a:spcBef>
                <a:spcPct val="0"/>
              </a:spcBef>
              <a:spcAft>
                <a:spcPct val="0"/>
              </a:spcAft>
              <a:buFont typeface="Wingdings" panose="05000000000000000000" pitchFamily="2" charset="2"/>
              <a:buChar char="§"/>
            </a:pPr>
            <a:r>
              <a:rPr kumimoji="0" lang="en-GB" altLang="en-US" sz="26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TFIIB: A critical bridge protein. It binds to TBP and specifically contacts DNA both upstream and downstream of the TATA box. Crucially, TFIIB orients the complex, determining the direction of transcription and helping locate the TSS.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GB" altLang="en-US" sz="26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Step 3: RNAPII arrives with TFIIF</a:t>
            </a:r>
          </a:p>
          <a:p>
            <a:pPr marL="914400" lvl="1" indent="-457200" algn="just" eaLnBrk="0" fontAlgn="base" hangingPunct="0">
              <a:spcBef>
                <a:spcPct val="0"/>
              </a:spcBef>
              <a:spcAft>
                <a:spcPct val="0"/>
              </a:spcAft>
              <a:buFont typeface="Wingdings" panose="05000000000000000000" pitchFamily="2" charset="2"/>
              <a:buChar char="§"/>
            </a:pPr>
            <a:r>
              <a:rPr kumimoji="0" lang="en-GB" altLang="en-US" sz="26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RNAPII does not arrive alone; it is escorted by TFIIF.</a:t>
            </a:r>
          </a:p>
          <a:p>
            <a:pPr marL="914400" lvl="1" indent="-457200" algn="just" eaLnBrk="0" fontAlgn="base" hangingPunct="0">
              <a:spcBef>
                <a:spcPct val="0"/>
              </a:spcBef>
              <a:spcAft>
                <a:spcPct val="0"/>
              </a:spcAft>
              <a:buFont typeface="Wingdings" panose="05000000000000000000" pitchFamily="2" charset="2"/>
              <a:buChar char="§"/>
            </a:pPr>
            <a:r>
              <a:rPr kumimoji="0" lang="en-GB" altLang="en-US" sz="26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TFIIF binds to the RNAPII core enzyme and helps target it to the TFIID-TFIIB-DNA complex.</a:t>
            </a:r>
            <a:endParaRPr kumimoji="0" lang="en-US" altLang="en-US" sz="26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14574184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EA01A-480A-9405-4CA2-9A2D7CB07A41}"/>
              </a:ext>
            </a:extLst>
          </p:cNvPr>
          <p:cNvSpPr>
            <a:spLocks noGrp="1"/>
          </p:cNvSpPr>
          <p:nvPr>
            <p:ph type="title"/>
          </p:nvPr>
        </p:nvSpPr>
        <p:spPr>
          <a:xfrm>
            <a:off x="749651" y="191379"/>
            <a:ext cx="10345978" cy="836603"/>
          </a:xfrm>
        </p:spPr>
        <p:txBody>
          <a:bodyPr/>
          <a:lstStyle/>
          <a:p>
            <a:pPr algn="ctr"/>
            <a:r>
              <a:rPr lang="en-GB" sz="3600" b="1" dirty="0"/>
              <a:t>Assembling the Machine – Step 4: Activation</a:t>
            </a:r>
            <a:endParaRPr lang="en-US" sz="3600" b="1" dirty="0"/>
          </a:p>
        </p:txBody>
      </p:sp>
      <p:pic>
        <p:nvPicPr>
          <p:cNvPr id="4" name="Picture 3">
            <a:extLst>
              <a:ext uri="{FF2B5EF4-FFF2-40B4-BE49-F238E27FC236}">
                <a16:creationId xmlns:a16="http://schemas.microsoft.com/office/drawing/2014/main" id="{F7A23D13-C183-6D11-F30F-E8FB1DA4BFE5}"/>
              </a:ext>
            </a:extLst>
          </p:cNvPr>
          <p:cNvPicPr>
            <a:picLocks noChangeAspect="1"/>
          </p:cNvPicPr>
          <p:nvPr/>
        </p:nvPicPr>
        <p:blipFill>
          <a:blip r:embed="rId2"/>
          <a:stretch>
            <a:fillRect/>
          </a:stretch>
        </p:blipFill>
        <p:spPr>
          <a:xfrm>
            <a:off x="245969" y="1426191"/>
            <a:ext cx="7937738" cy="4804012"/>
          </a:xfrm>
          <a:prstGeom prst="rect">
            <a:avLst/>
          </a:prstGeom>
        </p:spPr>
      </p:pic>
      <p:sp>
        <p:nvSpPr>
          <p:cNvPr id="5" name="TextBox 4">
            <a:extLst>
              <a:ext uri="{FF2B5EF4-FFF2-40B4-BE49-F238E27FC236}">
                <a16:creationId xmlns:a16="http://schemas.microsoft.com/office/drawing/2014/main" id="{1C0CEFF0-6F84-40D6-E5A4-EBAE7B53786B}"/>
              </a:ext>
            </a:extLst>
          </p:cNvPr>
          <p:cNvSpPr txBox="1"/>
          <p:nvPr/>
        </p:nvSpPr>
        <p:spPr>
          <a:xfrm>
            <a:off x="8277366" y="1388496"/>
            <a:ext cx="3780432" cy="4801314"/>
          </a:xfrm>
          <a:prstGeom prst="rect">
            <a:avLst/>
          </a:prstGeom>
          <a:noFill/>
        </p:spPr>
        <p:txBody>
          <a:bodyPr wrap="square">
            <a:spAutoFit/>
          </a:bodyPr>
          <a:lstStyle/>
          <a:p>
            <a:pPr algn="just"/>
            <a:r>
              <a:rPr lang="en-GB" dirty="0"/>
              <a:t>Assembly of the basal transcriptional machinery. The TATA box of a core promoter </a:t>
            </a:r>
          </a:p>
          <a:p>
            <a:pPr algn="just"/>
            <a:r>
              <a:rPr lang="en-GB" dirty="0"/>
              <a:t>(TSS region) is specifically bound by TBP that forms together with TAF proteins the multiprotein </a:t>
            </a:r>
          </a:p>
          <a:p>
            <a:pPr algn="just"/>
            <a:r>
              <a:rPr lang="en-GB" dirty="0"/>
              <a:t>Complex TFIID. In an ordered fashion further GTFs, such as TFII B, F, E and H, as well as Pol II </a:t>
            </a:r>
          </a:p>
          <a:p>
            <a:pPr algn="just"/>
            <a:r>
              <a:rPr lang="en-GB" dirty="0"/>
              <a:t>are recruited to the DNA-bound TFIID complex. Within this basal transcriptional machinery, the </a:t>
            </a:r>
          </a:p>
          <a:p>
            <a:pPr algn="just"/>
            <a:r>
              <a:rPr lang="en-GB" dirty="0"/>
              <a:t>catalytic site of Pol II is in a defined distance of the TATA box, i.e., the binding of TBP determines the start of transcription.</a:t>
            </a:r>
            <a:endParaRPr lang="en-US" dirty="0"/>
          </a:p>
        </p:txBody>
      </p:sp>
    </p:spTree>
    <p:extLst>
      <p:ext uri="{BB962C8B-B14F-4D97-AF65-F5344CB8AC3E}">
        <p14:creationId xmlns:p14="http://schemas.microsoft.com/office/powerpoint/2010/main" val="33569940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EA01A-480A-9405-4CA2-9A2D7CB07A41}"/>
              </a:ext>
            </a:extLst>
          </p:cNvPr>
          <p:cNvSpPr>
            <a:spLocks noGrp="1"/>
          </p:cNvSpPr>
          <p:nvPr>
            <p:ph type="title"/>
          </p:nvPr>
        </p:nvSpPr>
        <p:spPr>
          <a:xfrm>
            <a:off x="749651" y="191379"/>
            <a:ext cx="10345978" cy="836603"/>
          </a:xfrm>
        </p:spPr>
        <p:txBody>
          <a:bodyPr/>
          <a:lstStyle/>
          <a:p>
            <a:pPr algn="ctr"/>
            <a:r>
              <a:rPr lang="en-GB" sz="3600" b="1" dirty="0"/>
              <a:t>PIC Assembly: The Final Components (TFIIE and TFIIH)</a:t>
            </a:r>
            <a:endParaRPr lang="en-US" sz="3600" b="1" dirty="0"/>
          </a:p>
        </p:txBody>
      </p:sp>
      <p:pic>
        <p:nvPicPr>
          <p:cNvPr id="4" name="Picture 3">
            <a:extLst>
              <a:ext uri="{FF2B5EF4-FFF2-40B4-BE49-F238E27FC236}">
                <a16:creationId xmlns:a16="http://schemas.microsoft.com/office/drawing/2014/main" id="{648D17DE-D1D5-9263-543C-3B3F87FB016A}"/>
              </a:ext>
            </a:extLst>
          </p:cNvPr>
          <p:cNvPicPr>
            <a:picLocks noChangeAspect="1"/>
          </p:cNvPicPr>
          <p:nvPr/>
        </p:nvPicPr>
        <p:blipFill>
          <a:blip r:embed="rId2"/>
          <a:stretch>
            <a:fillRect/>
          </a:stretch>
        </p:blipFill>
        <p:spPr>
          <a:xfrm>
            <a:off x="245969" y="1426191"/>
            <a:ext cx="7937738" cy="4804012"/>
          </a:xfrm>
          <a:prstGeom prst="rect">
            <a:avLst/>
          </a:prstGeom>
        </p:spPr>
      </p:pic>
      <p:sp>
        <p:nvSpPr>
          <p:cNvPr id="5" name="TextBox 4">
            <a:extLst>
              <a:ext uri="{FF2B5EF4-FFF2-40B4-BE49-F238E27FC236}">
                <a16:creationId xmlns:a16="http://schemas.microsoft.com/office/drawing/2014/main" id="{72A7DFBB-E391-FA08-60F6-FD77D3423CF7}"/>
              </a:ext>
            </a:extLst>
          </p:cNvPr>
          <p:cNvSpPr txBox="1"/>
          <p:nvPr/>
        </p:nvSpPr>
        <p:spPr>
          <a:xfrm>
            <a:off x="8277366" y="1388496"/>
            <a:ext cx="3780432" cy="4801314"/>
          </a:xfrm>
          <a:prstGeom prst="rect">
            <a:avLst/>
          </a:prstGeom>
          <a:noFill/>
        </p:spPr>
        <p:txBody>
          <a:bodyPr wrap="square">
            <a:spAutoFit/>
          </a:bodyPr>
          <a:lstStyle/>
          <a:p>
            <a:pPr algn="just"/>
            <a:r>
              <a:rPr lang="en-GB" dirty="0"/>
              <a:t>Assembly of the basal transcriptional machinery. The TATA box of a core promoter </a:t>
            </a:r>
          </a:p>
          <a:p>
            <a:pPr algn="just"/>
            <a:r>
              <a:rPr lang="en-GB" dirty="0"/>
              <a:t>(TSS region) is specifically bound by TBP that forms together with TAF proteins the multiprotein </a:t>
            </a:r>
          </a:p>
          <a:p>
            <a:pPr algn="just"/>
            <a:r>
              <a:rPr lang="en-GB" dirty="0"/>
              <a:t>Complex TFIID. In an ordered fashion further GTFs, such as TFII B, F, E and H, as well as Pol II </a:t>
            </a:r>
          </a:p>
          <a:p>
            <a:pPr algn="just"/>
            <a:r>
              <a:rPr lang="en-GB" dirty="0"/>
              <a:t>are recruited to the DNA-bound TFIID complex. Within this basal transcriptional machinery, the </a:t>
            </a:r>
          </a:p>
          <a:p>
            <a:pPr algn="just"/>
            <a:r>
              <a:rPr lang="en-GB" dirty="0"/>
              <a:t>catalytic site of Pol II is in a defined distance of the TATA box, i.e., the binding of TBP determines the start of transcription.</a:t>
            </a:r>
            <a:endParaRPr lang="en-US" dirty="0"/>
          </a:p>
        </p:txBody>
      </p:sp>
    </p:spTree>
    <p:extLst>
      <p:ext uri="{BB962C8B-B14F-4D97-AF65-F5344CB8AC3E}">
        <p14:creationId xmlns:p14="http://schemas.microsoft.com/office/powerpoint/2010/main" val="10737072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EA01A-480A-9405-4CA2-9A2D7CB07A41}"/>
              </a:ext>
            </a:extLst>
          </p:cNvPr>
          <p:cNvSpPr>
            <a:spLocks noGrp="1"/>
          </p:cNvSpPr>
          <p:nvPr>
            <p:ph type="title"/>
          </p:nvPr>
        </p:nvSpPr>
        <p:spPr>
          <a:xfrm>
            <a:off x="749651" y="191379"/>
            <a:ext cx="10345978" cy="836603"/>
          </a:xfrm>
        </p:spPr>
        <p:txBody>
          <a:bodyPr/>
          <a:lstStyle/>
          <a:p>
            <a:pPr algn="ctr"/>
            <a:r>
              <a:rPr lang="en-GB" sz="3600" b="1" dirty="0"/>
              <a:t>The Powerhouse – TFIIH</a:t>
            </a:r>
            <a:endParaRPr lang="en-US" sz="3600" b="1" dirty="0"/>
          </a:p>
        </p:txBody>
      </p:sp>
      <p:sp>
        <p:nvSpPr>
          <p:cNvPr id="3" name="Rectangle 1">
            <a:extLst>
              <a:ext uri="{FF2B5EF4-FFF2-40B4-BE49-F238E27FC236}">
                <a16:creationId xmlns:a16="http://schemas.microsoft.com/office/drawing/2014/main" id="{72601CF6-0A79-1F51-BDB7-C1C4A0498D26}"/>
              </a:ext>
            </a:extLst>
          </p:cNvPr>
          <p:cNvSpPr>
            <a:spLocks noChangeArrowheads="1"/>
          </p:cNvSpPr>
          <p:nvPr/>
        </p:nvSpPr>
        <p:spPr bwMode="auto">
          <a:xfrm>
            <a:off x="1112292" y="1754710"/>
            <a:ext cx="10037929"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GB" altLang="en-US" sz="28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Step 4: Completion of the PIC</a:t>
            </a:r>
          </a:p>
          <a:p>
            <a:pPr marL="914400" lvl="1" indent="-457200" algn="just" eaLnBrk="0" fontAlgn="base" hangingPunct="0">
              <a:spcBef>
                <a:spcPct val="0"/>
              </a:spcBef>
              <a:spcAft>
                <a:spcPct val="0"/>
              </a:spcAft>
              <a:buFont typeface="Wingdings" panose="05000000000000000000" pitchFamily="2" charset="2"/>
              <a:buChar char="§"/>
            </a:pPr>
            <a:r>
              <a:rPr kumimoji="0" lang="en-GB" altLang="en-US" sz="28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Once RNAPII is positioned, TFIIE binds, which then recruits the final and most complex GTF, TFIIH.</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GB" altLang="en-US" sz="28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The Closed Complex: At this stage, all components are present, but the DNA is still double-stranded (closed). The machine is built but not running.</a:t>
            </a:r>
            <a:endParaRPr kumimoji="0" lang="en-US" altLang="en-US" sz="28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6020913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EA01A-480A-9405-4CA2-9A2D7CB07A41}"/>
              </a:ext>
            </a:extLst>
          </p:cNvPr>
          <p:cNvSpPr>
            <a:spLocks noGrp="1"/>
          </p:cNvSpPr>
          <p:nvPr>
            <p:ph type="title"/>
          </p:nvPr>
        </p:nvSpPr>
        <p:spPr>
          <a:xfrm>
            <a:off x="749651" y="191379"/>
            <a:ext cx="10345978" cy="836603"/>
          </a:xfrm>
        </p:spPr>
        <p:txBody>
          <a:bodyPr/>
          <a:lstStyle/>
          <a:p>
            <a:pPr algn="ctr"/>
            <a:r>
              <a:rPr lang="en-GB" sz="3600" b="1" dirty="0"/>
              <a:t>TFIIH: Helicase and Kinase Activity</a:t>
            </a:r>
            <a:endParaRPr lang="en-US" sz="3600" b="1" dirty="0"/>
          </a:p>
        </p:txBody>
      </p:sp>
      <p:sp>
        <p:nvSpPr>
          <p:cNvPr id="3" name="Rectangle 1">
            <a:extLst>
              <a:ext uri="{FF2B5EF4-FFF2-40B4-BE49-F238E27FC236}">
                <a16:creationId xmlns:a16="http://schemas.microsoft.com/office/drawing/2014/main" id="{72601CF6-0A79-1F51-BDB7-C1C4A0498D26}"/>
              </a:ext>
            </a:extLst>
          </p:cNvPr>
          <p:cNvSpPr>
            <a:spLocks noChangeArrowheads="1"/>
          </p:cNvSpPr>
          <p:nvPr/>
        </p:nvSpPr>
        <p:spPr bwMode="auto">
          <a:xfrm>
            <a:off x="532262" y="1271172"/>
            <a:ext cx="11034213"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GB" altLang="en-US" sz="28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TFIIH is unique</a:t>
            </a:r>
            <a:r>
              <a:rPr kumimoji="0" lang="en-GB" altLang="en-US" sz="28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It is the only GTF with significant enzymatic activities crucial for initiation. It is a massive complex of 10 subunits.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GB" altLang="en-US" sz="28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Activity 1: DNA Helicase (Unwinding)</a:t>
            </a:r>
          </a:p>
          <a:p>
            <a:pPr marL="914400" lvl="1" indent="-457200" algn="just" eaLnBrk="0" fontAlgn="base" hangingPunct="0">
              <a:spcBef>
                <a:spcPct val="0"/>
              </a:spcBef>
              <a:spcAft>
                <a:spcPct val="0"/>
              </a:spcAft>
              <a:buFont typeface="Wingdings" panose="05000000000000000000" pitchFamily="2" charset="2"/>
              <a:buChar char="§"/>
            </a:pPr>
            <a:r>
              <a:rPr kumimoji="0" lang="en-GB" altLang="en-US" sz="28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Subunits of TFIIH use ATP hydrolysis to pry open the DNA double helix around the TSS.</a:t>
            </a:r>
          </a:p>
          <a:p>
            <a:pPr marL="914400" lvl="1" indent="-457200" algn="just" eaLnBrk="0" fontAlgn="base" hangingPunct="0">
              <a:spcBef>
                <a:spcPct val="0"/>
              </a:spcBef>
              <a:spcAft>
                <a:spcPct val="0"/>
              </a:spcAft>
              <a:buFont typeface="Wingdings" panose="05000000000000000000" pitchFamily="2" charset="2"/>
              <a:buChar char="§"/>
            </a:pPr>
            <a:r>
              <a:rPr kumimoji="0" lang="en-GB" altLang="en-US" sz="28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This creates the "transcription bubble," allowing RNAPII access to the template strand.</a:t>
            </a:r>
          </a:p>
          <a:p>
            <a:pPr marL="914400" lvl="1" indent="-457200" algn="just" eaLnBrk="0" fontAlgn="base" hangingPunct="0">
              <a:spcBef>
                <a:spcPct val="0"/>
              </a:spcBef>
              <a:spcAft>
                <a:spcPct val="0"/>
              </a:spcAft>
              <a:buFont typeface="Wingdings" panose="05000000000000000000" pitchFamily="2" charset="2"/>
              <a:buChar char="§"/>
            </a:pPr>
            <a:r>
              <a:rPr kumimoji="0" lang="en-GB" altLang="en-US" sz="28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Transition from Closed Complex to Open Complex.</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GB" altLang="en-US" sz="28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Activity 2: CTD Kinase (Phosphorylation)</a:t>
            </a:r>
          </a:p>
          <a:p>
            <a:pPr marL="914400" lvl="1" indent="-457200" algn="just" eaLnBrk="0" fontAlgn="base" hangingPunct="0">
              <a:spcBef>
                <a:spcPct val="0"/>
              </a:spcBef>
              <a:spcAft>
                <a:spcPct val="0"/>
              </a:spcAft>
              <a:buFont typeface="Wingdings" panose="05000000000000000000" pitchFamily="2" charset="2"/>
              <a:buChar char="§"/>
            </a:pPr>
            <a:r>
              <a:rPr kumimoji="0" lang="en-GB" altLang="en-US" sz="28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A subunit of TFIIH (CDK7) is a kinase.</a:t>
            </a:r>
          </a:p>
          <a:p>
            <a:pPr marL="914400" lvl="1" indent="-457200" algn="just" eaLnBrk="0" fontAlgn="base" hangingPunct="0">
              <a:spcBef>
                <a:spcPct val="0"/>
              </a:spcBef>
              <a:spcAft>
                <a:spcPct val="0"/>
              </a:spcAft>
              <a:buFont typeface="Wingdings" panose="05000000000000000000" pitchFamily="2" charset="2"/>
              <a:buChar char="§"/>
            </a:pPr>
            <a:r>
              <a:rPr kumimoji="0" lang="en-GB" altLang="en-US" sz="28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It phosphorylates the Serine 5 (Ser5) residues of the RNAPII CTD tail.</a:t>
            </a:r>
            <a:endParaRPr kumimoji="0" lang="en-US" altLang="en-US" sz="28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4583575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EA01A-480A-9405-4CA2-9A2D7CB07A41}"/>
              </a:ext>
            </a:extLst>
          </p:cNvPr>
          <p:cNvSpPr>
            <a:spLocks noGrp="1"/>
          </p:cNvSpPr>
          <p:nvPr>
            <p:ph type="title"/>
          </p:nvPr>
        </p:nvSpPr>
        <p:spPr>
          <a:xfrm>
            <a:off x="749651" y="191379"/>
            <a:ext cx="10345978" cy="836603"/>
          </a:xfrm>
        </p:spPr>
        <p:txBody>
          <a:bodyPr/>
          <a:lstStyle/>
          <a:p>
            <a:pPr algn="ctr"/>
            <a:r>
              <a:rPr lang="en-GB" sz="3600" b="1" dirty="0"/>
              <a:t>The Elongation Phase</a:t>
            </a:r>
            <a:endParaRPr lang="en-US" sz="3600" b="1" dirty="0"/>
          </a:p>
        </p:txBody>
      </p:sp>
      <p:pic>
        <p:nvPicPr>
          <p:cNvPr id="2050" name="Picture 2" descr="Eukaryotic Gene Regulation - Transcriptional Initiation">
            <a:extLst>
              <a:ext uri="{FF2B5EF4-FFF2-40B4-BE49-F238E27FC236}">
                <a16:creationId xmlns:a16="http://schemas.microsoft.com/office/drawing/2014/main" id="{43F8F572-17F0-CDB4-2673-B491718848A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3134"/>
          <a:stretch/>
        </p:blipFill>
        <p:spPr bwMode="auto">
          <a:xfrm>
            <a:off x="2329928" y="1027982"/>
            <a:ext cx="7532143" cy="523427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0EE685D-EE82-5B1F-874A-255157EDACA0}"/>
              </a:ext>
            </a:extLst>
          </p:cNvPr>
          <p:cNvSpPr txBox="1"/>
          <p:nvPr/>
        </p:nvSpPr>
        <p:spPr>
          <a:xfrm>
            <a:off x="5744002" y="6365529"/>
            <a:ext cx="6097136" cy="369332"/>
          </a:xfrm>
          <a:prstGeom prst="rect">
            <a:avLst/>
          </a:prstGeom>
          <a:noFill/>
        </p:spPr>
        <p:txBody>
          <a:bodyPr wrap="square">
            <a:spAutoFit/>
          </a:bodyPr>
          <a:lstStyle/>
          <a:p>
            <a:pPr algn="r"/>
            <a:r>
              <a:rPr lang="en-US" dirty="0">
                <a:latin typeface="Calibri Light" panose="020F0302020204030204" pitchFamily="34" charset="0"/>
                <a:ea typeface="Calibri Light" panose="020F0302020204030204" pitchFamily="34" charset="0"/>
                <a:cs typeface="Calibri Light" panose="020F0302020204030204" pitchFamily="34" charset="0"/>
              </a:rPr>
              <a:t>https://microbenotes.com/eukaryotic-transcription/</a:t>
            </a:r>
          </a:p>
        </p:txBody>
      </p:sp>
    </p:spTree>
    <p:extLst>
      <p:ext uri="{BB962C8B-B14F-4D97-AF65-F5344CB8AC3E}">
        <p14:creationId xmlns:p14="http://schemas.microsoft.com/office/powerpoint/2010/main" val="40721069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EA01A-480A-9405-4CA2-9A2D7CB07A41}"/>
              </a:ext>
            </a:extLst>
          </p:cNvPr>
          <p:cNvSpPr>
            <a:spLocks noGrp="1"/>
          </p:cNvSpPr>
          <p:nvPr>
            <p:ph type="title"/>
          </p:nvPr>
        </p:nvSpPr>
        <p:spPr>
          <a:xfrm>
            <a:off x="749651" y="191379"/>
            <a:ext cx="10345978" cy="836603"/>
          </a:xfrm>
        </p:spPr>
        <p:txBody>
          <a:bodyPr/>
          <a:lstStyle/>
          <a:p>
            <a:pPr algn="ctr"/>
            <a:r>
              <a:rPr lang="en-GB" sz="3600" b="1" dirty="0"/>
              <a:t>Transition to Elongation</a:t>
            </a:r>
            <a:endParaRPr lang="en-US" sz="3600" b="1" dirty="0"/>
          </a:p>
        </p:txBody>
      </p:sp>
      <p:sp>
        <p:nvSpPr>
          <p:cNvPr id="3" name="Rectangle 1">
            <a:extLst>
              <a:ext uri="{FF2B5EF4-FFF2-40B4-BE49-F238E27FC236}">
                <a16:creationId xmlns:a16="http://schemas.microsoft.com/office/drawing/2014/main" id="{72601CF6-0A79-1F51-BDB7-C1C4A0498D26}"/>
              </a:ext>
            </a:extLst>
          </p:cNvPr>
          <p:cNvSpPr>
            <a:spLocks noChangeArrowheads="1"/>
          </p:cNvSpPr>
          <p:nvPr/>
        </p:nvSpPr>
        <p:spPr bwMode="auto">
          <a:xfrm>
            <a:off x="532262" y="1271173"/>
            <a:ext cx="11034213"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GB" altLang="en-US" sz="28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The Changing Code: As RNAPII moves away from the promoter, the phosphorylation pattern on the CTD changes.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GB" altLang="en-US" sz="28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Ser5-P decreases; Ser2-P increases.</a:t>
            </a:r>
          </a:p>
          <a:p>
            <a:pPr marL="914400" lvl="1" indent="-457200" algn="just" eaLnBrk="0" fontAlgn="base" hangingPunct="0">
              <a:spcBef>
                <a:spcPct val="0"/>
              </a:spcBef>
              <a:spcAft>
                <a:spcPct val="0"/>
              </a:spcAft>
              <a:buFont typeface="Wingdings" panose="05000000000000000000" pitchFamily="2" charset="2"/>
              <a:buChar char="§"/>
            </a:pPr>
            <a:r>
              <a:rPr kumimoji="0" lang="en-GB" altLang="en-US" sz="28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Another kinase (P-</a:t>
            </a:r>
            <a:r>
              <a:rPr kumimoji="0" lang="en-GB" altLang="en-US" sz="2800" i="0" u="none" strike="noStrike" cap="none" normalizeH="0" baseline="0" dirty="0" err="1">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TEFb</a:t>
            </a:r>
            <a:r>
              <a:rPr kumimoji="0" lang="en-GB" altLang="en-US" sz="28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phosphorylates Serine 2 (Ser2) on the CTD repeats.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GB" altLang="en-US" sz="28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The Role of Ser2-P: This marks the polymerase as being in the "productive elongation" phase.</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GB" altLang="en-US" sz="28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mRNA Processing Platform: The phosphorylated CTD tail serves as a docking platform for mRNA processing enzymes:</a:t>
            </a:r>
          </a:p>
          <a:p>
            <a:pPr marL="914400" lvl="1" indent="-457200" algn="just" eaLnBrk="0" fontAlgn="base" hangingPunct="0">
              <a:spcBef>
                <a:spcPct val="0"/>
              </a:spcBef>
              <a:spcAft>
                <a:spcPct val="0"/>
              </a:spcAft>
              <a:buFont typeface="Wingdings" panose="05000000000000000000" pitchFamily="2" charset="2"/>
              <a:buChar char="§"/>
            </a:pPr>
            <a:r>
              <a:rPr kumimoji="0" lang="en-GB" altLang="en-US" sz="28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Ser5-P recruits 5' capping enzymes (early).</a:t>
            </a:r>
          </a:p>
          <a:p>
            <a:pPr marL="914400" lvl="1" indent="-457200" algn="just" eaLnBrk="0" fontAlgn="base" hangingPunct="0">
              <a:spcBef>
                <a:spcPct val="0"/>
              </a:spcBef>
              <a:spcAft>
                <a:spcPct val="0"/>
              </a:spcAft>
              <a:buFont typeface="Wingdings" panose="05000000000000000000" pitchFamily="2" charset="2"/>
              <a:buChar char="§"/>
            </a:pPr>
            <a:r>
              <a:rPr kumimoji="0" lang="en-GB" altLang="en-US" sz="28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Ser2-P recruits splicing factors and 3' polyadenylation factors (later).</a:t>
            </a:r>
            <a:endParaRPr kumimoji="0" lang="en-US" altLang="en-US" sz="28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1442078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EA01A-480A-9405-4CA2-9A2D7CB07A41}"/>
              </a:ext>
            </a:extLst>
          </p:cNvPr>
          <p:cNvSpPr>
            <a:spLocks noGrp="1"/>
          </p:cNvSpPr>
          <p:nvPr>
            <p:ph type="title"/>
          </p:nvPr>
        </p:nvSpPr>
        <p:spPr>
          <a:xfrm>
            <a:off x="749651" y="191379"/>
            <a:ext cx="10345978" cy="836603"/>
          </a:xfrm>
        </p:spPr>
        <p:txBody>
          <a:bodyPr/>
          <a:lstStyle/>
          <a:p>
            <a:pPr algn="ctr"/>
            <a:r>
              <a:rPr lang="en-GB" sz="3600" b="1" dirty="0"/>
              <a:t>The "Real World" Context: The Mediator Complex</a:t>
            </a:r>
            <a:endParaRPr lang="en-US" sz="3600" b="1" dirty="0"/>
          </a:p>
        </p:txBody>
      </p:sp>
      <p:pic>
        <p:nvPicPr>
          <p:cNvPr id="5" name="Picture 4">
            <a:extLst>
              <a:ext uri="{FF2B5EF4-FFF2-40B4-BE49-F238E27FC236}">
                <a16:creationId xmlns:a16="http://schemas.microsoft.com/office/drawing/2014/main" id="{22CA9874-8858-E29D-6EA5-D8CD8DEDCA33}"/>
              </a:ext>
            </a:extLst>
          </p:cNvPr>
          <p:cNvPicPr>
            <a:picLocks noChangeAspect="1"/>
          </p:cNvPicPr>
          <p:nvPr/>
        </p:nvPicPr>
        <p:blipFill>
          <a:blip r:embed="rId2"/>
          <a:stretch>
            <a:fillRect/>
          </a:stretch>
        </p:blipFill>
        <p:spPr>
          <a:xfrm>
            <a:off x="150125" y="1275567"/>
            <a:ext cx="8659504" cy="4761722"/>
          </a:xfrm>
          <a:prstGeom prst="rect">
            <a:avLst/>
          </a:prstGeom>
        </p:spPr>
      </p:pic>
      <p:sp>
        <p:nvSpPr>
          <p:cNvPr id="9" name="TextBox 8">
            <a:extLst>
              <a:ext uri="{FF2B5EF4-FFF2-40B4-BE49-F238E27FC236}">
                <a16:creationId xmlns:a16="http://schemas.microsoft.com/office/drawing/2014/main" id="{B5A4B9F2-A598-D39D-DE46-D2D1138326A5}"/>
              </a:ext>
            </a:extLst>
          </p:cNvPr>
          <p:cNvSpPr txBox="1"/>
          <p:nvPr/>
        </p:nvSpPr>
        <p:spPr>
          <a:xfrm>
            <a:off x="9000699" y="1848776"/>
            <a:ext cx="2929150" cy="3416320"/>
          </a:xfrm>
          <a:prstGeom prst="rect">
            <a:avLst/>
          </a:prstGeom>
          <a:noFill/>
        </p:spPr>
        <p:txBody>
          <a:bodyPr wrap="square">
            <a:spAutoFit/>
          </a:bodyPr>
          <a:lstStyle/>
          <a:p>
            <a:pPr algn="just"/>
            <a:r>
              <a:rPr lang="en-GB" dirty="0"/>
              <a:t>The MED complex. The schematic structure of the human MED complex is displayed. </a:t>
            </a:r>
          </a:p>
          <a:p>
            <a:pPr algn="just"/>
            <a:r>
              <a:rPr lang="en-GB" dirty="0"/>
              <a:t>The relative position of the subunits in the modules kinase (orange), tail (blue), middle (brown and </a:t>
            </a:r>
          </a:p>
          <a:p>
            <a:pPr algn="just"/>
            <a:r>
              <a:rPr lang="en-GB" dirty="0"/>
              <a:t>green) and head (red) is based on the displayed cocrystal structures</a:t>
            </a:r>
            <a:endParaRPr lang="en-US" dirty="0"/>
          </a:p>
        </p:txBody>
      </p:sp>
    </p:spTree>
    <p:extLst>
      <p:ext uri="{BB962C8B-B14F-4D97-AF65-F5344CB8AC3E}">
        <p14:creationId xmlns:p14="http://schemas.microsoft.com/office/powerpoint/2010/main" val="8274942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EA01A-480A-9405-4CA2-9A2D7CB07A41}"/>
              </a:ext>
            </a:extLst>
          </p:cNvPr>
          <p:cNvSpPr>
            <a:spLocks noGrp="1"/>
          </p:cNvSpPr>
          <p:nvPr>
            <p:ph type="title"/>
          </p:nvPr>
        </p:nvSpPr>
        <p:spPr>
          <a:xfrm>
            <a:off x="749651" y="191379"/>
            <a:ext cx="10345978" cy="836603"/>
          </a:xfrm>
        </p:spPr>
        <p:txBody>
          <a:bodyPr/>
          <a:lstStyle/>
          <a:p>
            <a:pPr algn="ctr"/>
            <a:r>
              <a:rPr lang="en-GB" sz="3600" b="1" dirty="0"/>
              <a:t>Connecting Basal Machinery to Gene Regulation</a:t>
            </a:r>
            <a:endParaRPr lang="en-US" sz="3600" b="1" dirty="0"/>
          </a:p>
        </p:txBody>
      </p:sp>
      <p:sp>
        <p:nvSpPr>
          <p:cNvPr id="3" name="Rectangle 1">
            <a:extLst>
              <a:ext uri="{FF2B5EF4-FFF2-40B4-BE49-F238E27FC236}">
                <a16:creationId xmlns:a16="http://schemas.microsoft.com/office/drawing/2014/main" id="{72601CF6-0A79-1F51-BDB7-C1C4A0498D26}"/>
              </a:ext>
            </a:extLst>
          </p:cNvPr>
          <p:cNvSpPr>
            <a:spLocks noChangeArrowheads="1"/>
          </p:cNvSpPr>
          <p:nvPr/>
        </p:nvSpPr>
        <p:spPr bwMode="auto">
          <a:xfrm>
            <a:off x="532262" y="840287"/>
            <a:ext cx="11034213" cy="5693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GB" altLang="en-US" sz="27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Basal is Insufficient</a:t>
            </a:r>
            <a:r>
              <a:rPr kumimoji="0" lang="en-GB" altLang="en-US" sz="27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As noted, the GTFs + RNAPII alone are inefficient in vivo due to chromatin and the need for precise signals.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GB" altLang="en-US" sz="27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The Bridge</a:t>
            </a:r>
            <a:r>
              <a:rPr kumimoji="0" lang="en-GB" altLang="en-US" sz="27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The Mediator Complex</a:t>
            </a:r>
          </a:p>
          <a:p>
            <a:pPr marL="914400" lvl="1" indent="-457200" algn="just" eaLnBrk="0" fontAlgn="base" hangingPunct="0">
              <a:spcBef>
                <a:spcPct val="0"/>
              </a:spcBef>
              <a:spcAft>
                <a:spcPct val="0"/>
              </a:spcAft>
              <a:buFont typeface="Wingdings" panose="05000000000000000000" pitchFamily="2" charset="2"/>
              <a:buChar char="§"/>
            </a:pPr>
            <a:r>
              <a:rPr kumimoji="0" lang="en-GB" altLang="en-US" sz="27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A gigantic multi-subunit complex (larger than RNAPII).</a:t>
            </a:r>
          </a:p>
          <a:p>
            <a:pPr marL="914400" lvl="1" indent="-457200" algn="just" eaLnBrk="0" fontAlgn="base" hangingPunct="0">
              <a:spcBef>
                <a:spcPct val="0"/>
              </a:spcBef>
              <a:spcAft>
                <a:spcPct val="0"/>
              </a:spcAft>
              <a:buFont typeface="Wingdings" panose="05000000000000000000" pitchFamily="2" charset="2"/>
              <a:buChar char="§"/>
            </a:pPr>
            <a:r>
              <a:rPr kumimoji="0" lang="en-GB" altLang="en-US" sz="27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It does not bind specific DNA sequences itself.</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GB" altLang="en-US" sz="27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Function</a:t>
            </a:r>
            <a:r>
              <a:rPr kumimoji="0" lang="en-GB" altLang="en-US" sz="27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It acts as a molecular bridge or "adaptor.“</a:t>
            </a:r>
          </a:p>
          <a:p>
            <a:pPr marL="914400" lvl="1" indent="-457200" algn="just" eaLnBrk="0" fontAlgn="base" hangingPunct="0">
              <a:spcBef>
                <a:spcPct val="0"/>
              </a:spcBef>
              <a:spcAft>
                <a:spcPct val="0"/>
              </a:spcAft>
              <a:buFont typeface="Wingdings" panose="05000000000000000000" pitchFamily="2" charset="2"/>
              <a:buChar char="§"/>
            </a:pPr>
            <a:r>
              <a:rPr kumimoji="0" lang="en-GB" altLang="en-US" sz="27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One face of Mediator interacts with specific transcription factors (activators) bound to enhancers far away.</a:t>
            </a:r>
          </a:p>
          <a:p>
            <a:pPr marL="914400" lvl="1" indent="-457200" algn="just" eaLnBrk="0" fontAlgn="base" hangingPunct="0">
              <a:spcBef>
                <a:spcPct val="0"/>
              </a:spcBef>
              <a:spcAft>
                <a:spcPct val="0"/>
              </a:spcAft>
              <a:buFont typeface="Wingdings" panose="05000000000000000000" pitchFamily="2" charset="2"/>
              <a:buChar char="§"/>
            </a:pPr>
            <a:r>
              <a:rPr kumimoji="0" lang="en-GB" altLang="en-US" sz="27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The other face interacts with the basal machinery (specifically RNAPII CTD and TFIID) at the promoter.</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GB" altLang="en-US" sz="27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Significance</a:t>
            </a:r>
            <a:r>
              <a:rPr kumimoji="0" lang="en-GB" altLang="en-US" sz="27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Mediator integrates signals from multiple regulatory proteins and transmits them to the basal machinery to stabilize the PIC and greatly stimulate transcription rates.</a:t>
            </a:r>
            <a:endParaRPr kumimoji="0" lang="en-US" altLang="en-US" sz="27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33061723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EA01A-480A-9405-4CA2-9A2D7CB07A41}"/>
              </a:ext>
            </a:extLst>
          </p:cNvPr>
          <p:cNvSpPr>
            <a:spLocks noGrp="1"/>
          </p:cNvSpPr>
          <p:nvPr>
            <p:ph type="title"/>
          </p:nvPr>
        </p:nvSpPr>
        <p:spPr>
          <a:xfrm>
            <a:off x="749651" y="191379"/>
            <a:ext cx="10345978" cy="836603"/>
          </a:xfrm>
        </p:spPr>
        <p:txBody>
          <a:bodyPr/>
          <a:lstStyle/>
          <a:p>
            <a:pPr algn="ctr"/>
            <a:r>
              <a:rPr lang="en-GB" sz="3600" b="1" dirty="0"/>
              <a:t>Summary: Key Takeaways</a:t>
            </a:r>
            <a:endParaRPr lang="en-US" sz="3600" b="1" dirty="0"/>
          </a:p>
        </p:txBody>
      </p:sp>
      <p:sp>
        <p:nvSpPr>
          <p:cNvPr id="3" name="Rectangle 1">
            <a:extLst>
              <a:ext uri="{FF2B5EF4-FFF2-40B4-BE49-F238E27FC236}">
                <a16:creationId xmlns:a16="http://schemas.microsoft.com/office/drawing/2014/main" id="{72601CF6-0A79-1F51-BDB7-C1C4A0498D26}"/>
              </a:ext>
            </a:extLst>
          </p:cNvPr>
          <p:cNvSpPr>
            <a:spLocks noChangeArrowheads="1"/>
          </p:cNvSpPr>
          <p:nvPr/>
        </p:nvSpPr>
        <p:spPr bwMode="auto">
          <a:xfrm>
            <a:off x="532262" y="940314"/>
            <a:ext cx="11034213" cy="5493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GB" altLang="en-US" sz="27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Basal Transcription</a:t>
            </a:r>
            <a:r>
              <a:rPr kumimoji="0" lang="en-GB" altLang="en-US" sz="27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The minimum requirement for eukaryotic transcription, driven by core promoters (like TATA boxes).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GB" altLang="en-US" sz="27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RNAPII Needs Help</a:t>
            </a:r>
            <a:r>
              <a:rPr kumimoji="0" lang="en-GB" altLang="en-US" sz="27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Unlike prokaryotic enzymes, RNAPII cannot bind promoters alone; it requires General Transcription Factors (GTFs).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GB" altLang="en-US" sz="27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PIC Assembly</a:t>
            </a:r>
            <a:r>
              <a:rPr kumimoji="0" lang="en-GB" altLang="en-US" sz="27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An ordered process: TFIID/TBP (recognition) -&gt; TFIIA/B (stabilization/orientation) -&gt; RNAPII/TFIIF (recruitment) -&gt; TFIIE/H (activation).</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GB" altLang="en-US" sz="27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TFIIH is Critical</a:t>
            </a:r>
            <a:r>
              <a:rPr kumimoji="0" lang="en-GB" altLang="en-US" sz="27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It opens the DNA (helicase) and kickstarts the polymerase via phosphorylation (kinase).</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GB" altLang="en-US" sz="27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CTD Code</a:t>
            </a:r>
            <a:r>
              <a:rPr kumimoji="0" lang="en-GB" altLang="en-US" sz="27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Phosphorylation patterns on the RNAPII C-terminal domain (Ser5-P vs. Ser2-P) orchestrate the stages of transcription and mRNA processing.</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GB" altLang="en-US" sz="27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Mediator</a:t>
            </a:r>
            <a:r>
              <a:rPr kumimoji="0" lang="en-GB" altLang="en-US" sz="27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The crucial link between specific regulatory signals and the basal machinery.</a:t>
            </a:r>
            <a:endParaRPr kumimoji="0" lang="en-US" altLang="en-US" sz="27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39526281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A2FDC-DBEB-99F5-E8DD-22AC2DE42B71}"/>
              </a:ext>
            </a:extLst>
          </p:cNvPr>
          <p:cNvSpPr>
            <a:spLocks noGrp="1"/>
          </p:cNvSpPr>
          <p:nvPr>
            <p:ph type="ctrTitle"/>
          </p:nvPr>
        </p:nvSpPr>
        <p:spPr>
          <a:xfrm>
            <a:off x="1524000" y="868362"/>
            <a:ext cx="9144000" cy="2387600"/>
          </a:xfrm>
        </p:spPr>
        <p:txBody>
          <a:bodyPr>
            <a:normAutofit/>
          </a:bodyPr>
          <a:lstStyle/>
          <a:p>
            <a:r>
              <a:rPr lang="vi-VN" sz="7200" b="1" i="0" dirty="0">
                <a:solidFill>
                  <a:schemeClr val="tx1"/>
                </a:solidFill>
                <a:effectLst/>
                <a:latin typeface="Calibri Light" panose="020F0302020204030204" pitchFamily="34" charset="0"/>
              </a:rPr>
              <a:t>Xin chân thành cảm ơn!</a:t>
            </a:r>
            <a:endParaRPr lang="en-US" sz="7200" dirty="0">
              <a:solidFill>
                <a:schemeClr val="tx1"/>
              </a:solidFill>
            </a:endParaRPr>
          </a:p>
        </p:txBody>
      </p:sp>
      <p:sp>
        <p:nvSpPr>
          <p:cNvPr id="3" name="Subtitle 2">
            <a:extLst>
              <a:ext uri="{FF2B5EF4-FFF2-40B4-BE49-F238E27FC236}">
                <a16:creationId xmlns:a16="http://schemas.microsoft.com/office/drawing/2014/main" id="{528AAA23-BC4D-773B-8E37-395D5A12E168}"/>
              </a:ext>
            </a:extLst>
          </p:cNvPr>
          <p:cNvSpPr>
            <a:spLocks noGrp="1"/>
          </p:cNvSpPr>
          <p:nvPr>
            <p:ph type="subTitle" idx="1"/>
          </p:nvPr>
        </p:nvSpPr>
        <p:spPr/>
        <p:txBody>
          <a:bodyPr>
            <a:noAutofit/>
          </a:bodyPr>
          <a:lstStyle/>
          <a:p>
            <a:r>
              <a:rPr lang="en-US" dirty="0">
                <a:solidFill>
                  <a:schemeClr val="tx1"/>
                </a:solidFill>
              </a:rPr>
              <a:t>Luu Phuc Loi, PhD</a:t>
            </a:r>
          </a:p>
          <a:p>
            <a:r>
              <a:rPr lang="en-US" dirty="0" err="1">
                <a:solidFill>
                  <a:schemeClr val="tx1"/>
                </a:solidFill>
              </a:rPr>
              <a:t>Zalo</a:t>
            </a:r>
            <a:r>
              <a:rPr lang="en-US" dirty="0">
                <a:solidFill>
                  <a:schemeClr val="tx1"/>
                </a:solidFill>
              </a:rPr>
              <a:t>: 0901802182</a:t>
            </a:r>
          </a:p>
          <a:p>
            <a:r>
              <a:rPr lang="en-US" dirty="0">
                <a:solidFill>
                  <a:schemeClr val="tx1"/>
                </a:solidFill>
              </a:rPr>
              <a:t>luu.p.loi@googlemail.com</a:t>
            </a:r>
          </a:p>
        </p:txBody>
      </p:sp>
    </p:spTree>
    <p:extLst>
      <p:ext uri="{BB962C8B-B14F-4D97-AF65-F5344CB8AC3E}">
        <p14:creationId xmlns:p14="http://schemas.microsoft.com/office/powerpoint/2010/main" val="322110310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EC76B5"/>
      </a:hlink>
      <a:folHlink>
        <a:srgbClr val="E8ACCD"/>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A207AED3-9ABC-4A18-9978-A59B65688B1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11946</TotalTime>
  <Words>2964</Words>
  <Application>Microsoft Office PowerPoint</Application>
  <PresentationFormat>Widescreen</PresentationFormat>
  <Paragraphs>175</Paragraphs>
  <Slides>32</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Arial</vt:lpstr>
      <vt:lpstr>Calibri Light</vt:lpstr>
      <vt:lpstr>Century Gothic</vt:lpstr>
      <vt:lpstr>Wingdings</vt:lpstr>
      <vt:lpstr>Wingdings 3</vt:lpstr>
      <vt:lpstr>Ion</vt:lpstr>
      <vt:lpstr>PowerPoint Presentation</vt:lpstr>
      <vt:lpstr>PowerPoint Presentation</vt:lpstr>
      <vt:lpstr>The Challenge of Eukaryotic Transcription</vt:lpstr>
      <vt:lpstr>The Challenge of Eukaryotic Transcription</vt:lpstr>
      <vt:lpstr>Eukaryotic vs. Prokaryotic Context</vt:lpstr>
      <vt:lpstr>Defining "Basal" Transcription</vt:lpstr>
      <vt:lpstr>What is Basal Transcription?</vt:lpstr>
      <vt:lpstr>PowerPoint Presentation</vt:lpstr>
      <vt:lpstr>The Main Character – RNA Polymerase II (RNAPII)</vt:lpstr>
      <vt:lpstr>RNA Polymerase II: The mRNA Synthesizer</vt:lpstr>
      <vt:lpstr>RNA Polymerase II (The Regulator)</vt:lpstr>
      <vt:lpstr>The Supporting Cast – General Transcription Factors (GTFs)</vt:lpstr>
      <vt:lpstr>The "General" Transcription Factors (GTFs)</vt:lpstr>
      <vt:lpstr>PowerPoint Presentation</vt:lpstr>
      <vt:lpstr>PowerPoint Presentation</vt:lpstr>
      <vt:lpstr>The Core Promoter</vt:lpstr>
      <vt:lpstr>The Landing Pad: The Core Promoter</vt:lpstr>
      <vt:lpstr>Assembling the Machine – Step 1: Recognition</vt:lpstr>
      <vt:lpstr>Pre-Initiation Complex (PIC) Assembly: The First Step</vt:lpstr>
      <vt:lpstr>TATA box in complex with TBP</vt:lpstr>
      <vt:lpstr>Assembling the Machine – Steps 2 &amp; 3: Stabilization and Recruitment</vt:lpstr>
      <vt:lpstr>PIC Assembly: Building the Scaffold</vt:lpstr>
      <vt:lpstr>Assembling the Machine – Step 4: Activation</vt:lpstr>
      <vt:lpstr>PIC Assembly: The Final Components (TFIIE and TFIIH)</vt:lpstr>
      <vt:lpstr>The Powerhouse – TFIIH</vt:lpstr>
      <vt:lpstr>TFIIH: Helicase and Kinase Activity</vt:lpstr>
      <vt:lpstr>The Elongation Phase</vt:lpstr>
      <vt:lpstr>Transition to Elongation</vt:lpstr>
      <vt:lpstr>The "Real World" Context: The Mediator Complex</vt:lpstr>
      <vt:lpstr>Connecting Basal Machinery to Gene Regulation</vt:lpstr>
      <vt:lpstr>Summary: Key Takeaways</vt:lpstr>
      <vt:lpstr>Xin chân thành cảm ơn!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Luu Loi</dc:creator>
  <cp:lastModifiedBy>Luu Loi</cp:lastModifiedBy>
  <cp:revision>490</cp:revision>
  <dcterms:created xsi:type="dcterms:W3CDTF">2024-11-15T02:34:27Z</dcterms:created>
  <dcterms:modified xsi:type="dcterms:W3CDTF">2025-11-23T14:17:28Z</dcterms:modified>
</cp:coreProperties>
</file>