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1" r:id="rId7"/>
    <p:sldId id="260" r:id="rId8"/>
    <p:sldId id="281" r:id="rId9"/>
    <p:sldId id="270" r:id="rId10"/>
    <p:sldId id="262" r:id="rId11"/>
    <p:sldId id="263" r:id="rId12"/>
    <p:sldId id="264" r:id="rId13"/>
    <p:sldId id="265" r:id="rId14"/>
    <p:sldId id="266" r:id="rId15"/>
    <p:sldId id="267" r:id="rId16"/>
    <p:sldId id="280" r:id="rId17"/>
    <p:sldId id="272" r:id="rId18"/>
    <p:sldId id="273" r:id="rId19"/>
    <p:sldId id="274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3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8FE5-69CD-226F-5D82-1E64330DF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228C8-EF07-7B1B-C183-474CDC3EF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8620C-6263-C6B2-8EB1-94205BC0A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973A6-D4B9-2CF0-5A5D-04121E9C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8B962-884D-338D-305F-45C821C7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9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E649-A8F4-7CB1-BA40-6907FAEF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CF30A-AAC5-DB01-97BA-EB86EF84C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76E2-3639-9232-73A7-284AA781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7DF7-8CA5-CCAE-BFE1-94A2A66B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3A7B9-EB11-200B-3CF6-BC3152A7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4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333F-92BC-231D-0DFB-B6EEF3B0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11913-1BCE-B006-30E7-C3F96C14E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09726-F244-9FFF-519D-C142CDFA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6312-FF19-9004-CBD0-7143729A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80895-3504-A1E8-DA13-212620E3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4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A9DB-D3AC-B014-0E30-A51346BB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E23ED-32EC-F760-171A-B69366F87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29078-CE97-C4EF-B7DD-E6808309E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82BDA-0700-52F8-D0AF-71BF4437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E16E6-1EBA-995C-4A4A-BFB2991E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E9701-397C-D94B-4EA4-619E8B3D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8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0F6A-4F94-9729-937D-7DEB58A9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0BBCF-A452-956D-9669-F4AD50EBB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9B824-BA5C-C127-D285-0DBFC73DB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BD1165-6399-EE38-C791-B4498231E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18B32-1E5E-5B40-8677-AA6559FF2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2B18B-ADCF-7F36-D93C-BD2758F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1AC84-997C-5756-4344-186CD21C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A43A1-42DE-7E41-2EBD-8E5E8CEA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6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53E6-499F-6411-42EE-825598AC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0800F-9737-4BA5-6081-18A17510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F522B-65D5-5460-1E51-3C6D4826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DAD62-EC4C-6DFE-CBC3-CA96455F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1CAF8A-7DF4-D29D-2687-DC74CF3D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A73A9-2D2E-D2CC-36E5-254BD1ED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6427-D33A-50E3-E69A-E932BE24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89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108-C81B-B52F-1061-1EE217B6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67E8-9941-AF2B-D3B1-FF5F0F1F8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2DDFE-F055-B4C6-C0BE-97301D06D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1B7BD-086D-F05E-C4AF-8E2C9B73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4492E-4EA7-FEE5-A893-4F4CC5B6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CC0EE-4B63-8D84-08F9-823C6308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0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394B-DAC5-849F-279A-7F866DD2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99C1B-BC0A-EF26-EFA0-A37F74797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E23BB-0F1B-1E2B-C0FA-4B1887496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E29A7-4201-3E0A-B136-E4D41C3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8EFCC-55BF-1BA2-B30D-6884374E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BD0D5-8C3E-2531-1816-312A0AFA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6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B854-C0AC-7D0F-F6CF-16BA973E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3FEEC-3ABB-C0AF-9085-526170B26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36615-DBAF-9259-AFC3-719C295E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84CFB-C80F-0C0A-A825-6AECF7EB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DFE43-3344-7EB0-5DFF-FFD7B325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E99766-5E5B-4B25-38EB-DF09E7A6E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60915-8925-CA1D-42B8-B498355FF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BBF0C-4042-7223-036D-D374FBB33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3D407-2FC1-6E16-86E8-FD1BAA6E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18A9-68EF-D029-64E5-0F88811B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4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BE44C-EA7A-E98E-1FB4-D59A78B0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FD8E0-8D9E-7CE7-2C66-441846086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256AF-E223-C676-B9E1-B5C92B6D3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9106A-F3F2-4AF2-8C1D-CD348E73DE3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0CEC1-23CA-7746-7791-8EC5F1744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A3988-04CE-C03E-57E5-D5CC6226D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ADBBE-0674-449B-9E07-86BA7B06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doi.org/10.3389/fcell.2025.1548946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doi.org/10.3389/fcell.2025.154894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cell.2025.1548946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E59E-9A05-5DD9-BB15-A160154A1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573" y="1122363"/>
            <a:ext cx="10909539" cy="2387600"/>
          </a:xfrm>
        </p:spPr>
        <p:txBody>
          <a:bodyPr>
            <a:noAutofit/>
          </a:bodyPr>
          <a:lstStyle/>
          <a:p>
            <a:r>
              <a:rPr lang="en-US" sz="5400" b="1" dirty="0"/>
              <a:t>Hi-C for Chromosome Conformation Capture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564EF-8906-E6EE-11D2-A42A45339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2438"/>
            <a:ext cx="9144000" cy="1065362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April 18 2026</a:t>
            </a:r>
          </a:p>
          <a:p>
            <a:r>
              <a:rPr lang="en-US" sz="3200" dirty="0"/>
              <a:t>Phuc-Loi Luu, PhD</a:t>
            </a:r>
          </a:p>
        </p:txBody>
      </p:sp>
    </p:spTree>
    <p:extLst>
      <p:ext uri="{BB962C8B-B14F-4D97-AF65-F5344CB8AC3E}">
        <p14:creationId xmlns:p14="http://schemas.microsoft.com/office/powerpoint/2010/main" val="23536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6BA6-5862-EEF2-D9DE-8C02C4EF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1" dirty="0"/>
              <a:t>Content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79E8-FA71-58A5-7BEA-82E552C58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b="1" dirty="0"/>
              <a:t>From 3C, 4C, 5C to Hi-C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/>
              <a:t>Reading Hi-C output</a:t>
            </a:r>
          </a:p>
        </p:txBody>
      </p:sp>
    </p:spTree>
    <p:extLst>
      <p:ext uri="{BB962C8B-B14F-4D97-AF65-F5344CB8AC3E}">
        <p14:creationId xmlns:p14="http://schemas.microsoft.com/office/powerpoint/2010/main" val="185066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2C180AE-D1AB-05FE-0058-7CEFECBC8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" b="-1"/>
          <a:stretch/>
        </p:blipFill>
        <p:spPr bwMode="auto">
          <a:xfrm>
            <a:off x="1680418" y="0"/>
            <a:ext cx="8693150" cy="681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D80D64-5D9F-2D93-379C-1C062D36FE33}"/>
              </a:ext>
            </a:extLst>
          </p:cNvPr>
          <p:cNvSpPr txBox="1"/>
          <p:nvPr/>
        </p:nvSpPr>
        <p:spPr>
          <a:xfrm>
            <a:off x="368105" y="6579137"/>
            <a:ext cx="4209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https://dnatech.ucdavis.edu/hi-c-library-preparations-and-sequencing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3A0D2B-5A0A-EA8E-155F-8776B42B5502}"/>
              </a:ext>
            </a:extLst>
          </p:cNvPr>
          <p:cNvSpPr/>
          <p:nvPr/>
        </p:nvSpPr>
        <p:spPr>
          <a:xfrm>
            <a:off x="580845" y="1132941"/>
            <a:ext cx="961696" cy="730369"/>
          </a:xfrm>
          <a:custGeom>
            <a:avLst/>
            <a:gdLst>
              <a:gd name="connsiteX0" fmla="*/ 0 w 961696"/>
              <a:gd name="connsiteY0" fmla="*/ 442822 h 730369"/>
              <a:gd name="connsiteX1" fmla="*/ 678612 w 961696"/>
              <a:gd name="connsiteY1" fmla="*/ 396815 h 730369"/>
              <a:gd name="connsiteX2" fmla="*/ 810883 w 961696"/>
              <a:gd name="connsiteY2" fmla="*/ 350807 h 730369"/>
              <a:gd name="connsiteX3" fmla="*/ 902898 w 961696"/>
              <a:gd name="connsiteY3" fmla="*/ 310551 h 730369"/>
              <a:gd name="connsiteX4" fmla="*/ 948906 w 961696"/>
              <a:gd name="connsiteY4" fmla="*/ 293298 h 730369"/>
              <a:gd name="connsiteX5" fmla="*/ 948906 w 961696"/>
              <a:gd name="connsiteY5" fmla="*/ 109268 h 730369"/>
              <a:gd name="connsiteX6" fmla="*/ 920151 w 961696"/>
              <a:gd name="connsiteY6" fmla="*/ 63260 h 730369"/>
              <a:gd name="connsiteX7" fmla="*/ 885646 w 961696"/>
              <a:gd name="connsiteY7" fmla="*/ 40256 h 730369"/>
              <a:gd name="connsiteX8" fmla="*/ 816634 w 961696"/>
              <a:gd name="connsiteY8" fmla="*/ 11502 h 730369"/>
              <a:gd name="connsiteX9" fmla="*/ 770627 w 961696"/>
              <a:gd name="connsiteY9" fmla="*/ 5751 h 730369"/>
              <a:gd name="connsiteX10" fmla="*/ 736121 w 961696"/>
              <a:gd name="connsiteY10" fmla="*/ 0 h 730369"/>
              <a:gd name="connsiteX11" fmla="*/ 586597 w 961696"/>
              <a:gd name="connsiteY11" fmla="*/ 17252 h 730369"/>
              <a:gd name="connsiteX12" fmla="*/ 540589 w 961696"/>
              <a:gd name="connsiteY12" fmla="*/ 51758 h 730369"/>
              <a:gd name="connsiteX13" fmla="*/ 448574 w 961696"/>
              <a:gd name="connsiteY13" fmla="*/ 120769 h 730369"/>
              <a:gd name="connsiteX14" fmla="*/ 431321 w 961696"/>
              <a:gd name="connsiteY14" fmla="*/ 149524 h 730369"/>
              <a:gd name="connsiteX15" fmla="*/ 333555 w 961696"/>
              <a:gd name="connsiteY15" fmla="*/ 264543 h 730369"/>
              <a:gd name="connsiteX16" fmla="*/ 316302 w 961696"/>
              <a:gd name="connsiteY16" fmla="*/ 304800 h 730369"/>
              <a:gd name="connsiteX17" fmla="*/ 299049 w 961696"/>
              <a:gd name="connsiteY17" fmla="*/ 362309 h 730369"/>
              <a:gd name="connsiteX18" fmla="*/ 281797 w 961696"/>
              <a:gd name="connsiteY18" fmla="*/ 391064 h 730369"/>
              <a:gd name="connsiteX19" fmla="*/ 201283 w 961696"/>
              <a:gd name="connsiteY19" fmla="*/ 586596 h 730369"/>
              <a:gd name="connsiteX20" fmla="*/ 172529 w 961696"/>
              <a:gd name="connsiteY20" fmla="*/ 626852 h 730369"/>
              <a:gd name="connsiteX21" fmla="*/ 143774 w 961696"/>
              <a:gd name="connsiteY21" fmla="*/ 678611 h 730369"/>
              <a:gd name="connsiteX22" fmla="*/ 97766 w 961696"/>
              <a:gd name="connsiteY22" fmla="*/ 730369 h 73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61696" h="730369">
                <a:moveTo>
                  <a:pt x="0" y="442822"/>
                </a:moveTo>
                <a:cubicBezTo>
                  <a:pt x="226204" y="427486"/>
                  <a:pt x="453335" y="422378"/>
                  <a:pt x="678612" y="396815"/>
                </a:cubicBezTo>
                <a:cubicBezTo>
                  <a:pt x="724996" y="391552"/>
                  <a:pt x="767313" y="367565"/>
                  <a:pt x="810883" y="350807"/>
                </a:cubicBezTo>
                <a:cubicBezTo>
                  <a:pt x="842130" y="338789"/>
                  <a:pt x="871995" y="323427"/>
                  <a:pt x="902898" y="310551"/>
                </a:cubicBezTo>
                <a:cubicBezTo>
                  <a:pt x="918017" y="304251"/>
                  <a:pt x="933570" y="299049"/>
                  <a:pt x="948906" y="293298"/>
                </a:cubicBezTo>
                <a:cubicBezTo>
                  <a:pt x="971803" y="224607"/>
                  <a:pt x="958944" y="269870"/>
                  <a:pt x="948906" y="109268"/>
                </a:cubicBezTo>
                <a:cubicBezTo>
                  <a:pt x="947873" y="92741"/>
                  <a:pt x="929529" y="71700"/>
                  <a:pt x="920151" y="63260"/>
                </a:cubicBezTo>
                <a:cubicBezTo>
                  <a:pt x="909876" y="54013"/>
                  <a:pt x="897499" y="47368"/>
                  <a:pt x="885646" y="40256"/>
                </a:cubicBezTo>
                <a:cubicBezTo>
                  <a:pt x="868851" y="30179"/>
                  <a:pt x="830820" y="15048"/>
                  <a:pt x="816634" y="11502"/>
                </a:cubicBezTo>
                <a:cubicBezTo>
                  <a:pt x="801640" y="7754"/>
                  <a:pt x="785927" y="7937"/>
                  <a:pt x="770627" y="5751"/>
                </a:cubicBezTo>
                <a:cubicBezTo>
                  <a:pt x="759084" y="4102"/>
                  <a:pt x="747623" y="1917"/>
                  <a:pt x="736121" y="0"/>
                </a:cubicBezTo>
                <a:cubicBezTo>
                  <a:pt x="686280" y="5751"/>
                  <a:pt x="635099" y="4413"/>
                  <a:pt x="586597" y="17252"/>
                </a:cubicBezTo>
                <a:cubicBezTo>
                  <a:pt x="568065" y="22157"/>
                  <a:pt x="556250" y="40703"/>
                  <a:pt x="540589" y="51758"/>
                </a:cubicBezTo>
                <a:cubicBezTo>
                  <a:pt x="507998" y="74763"/>
                  <a:pt x="475702" y="90928"/>
                  <a:pt x="448574" y="120769"/>
                </a:cubicBezTo>
                <a:cubicBezTo>
                  <a:pt x="441055" y="129040"/>
                  <a:pt x="438304" y="140795"/>
                  <a:pt x="431321" y="149524"/>
                </a:cubicBezTo>
                <a:cubicBezTo>
                  <a:pt x="399887" y="188816"/>
                  <a:pt x="333555" y="264543"/>
                  <a:pt x="333555" y="264543"/>
                </a:cubicBezTo>
                <a:cubicBezTo>
                  <a:pt x="311855" y="351345"/>
                  <a:pt x="344670" y="231045"/>
                  <a:pt x="316302" y="304800"/>
                </a:cubicBezTo>
                <a:cubicBezTo>
                  <a:pt x="309117" y="323480"/>
                  <a:pt x="306482" y="343727"/>
                  <a:pt x="299049" y="362309"/>
                </a:cubicBezTo>
                <a:cubicBezTo>
                  <a:pt x="294898" y="372687"/>
                  <a:pt x="285870" y="380655"/>
                  <a:pt x="281797" y="391064"/>
                </a:cubicBezTo>
                <a:cubicBezTo>
                  <a:pt x="253301" y="463889"/>
                  <a:pt x="247667" y="521657"/>
                  <a:pt x="201283" y="586596"/>
                </a:cubicBezTo>
                <a:cubicBezTo>
                  <a:pt x="191698" y="600015"/>
                  <a:pt x="181269" y="612868"/>
                  <a:pt x="172529" y="626852"/>
                </a:cubicBezTo>
                <a:cubicBezTo>
                  <a:pt x="162069" y="643589"/>
                  <a:pt x="155763" y="662933"/>
                  <a:pt x="143774" y="678611"/>
                </a:cubicBezTo>
                <a:cubicBezTo>
                  <a:pt x="96411" y="740548"/>
                  <a:pt x="97766" y="701643"/>
                  <a:pt x="97766" y="73036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930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DD32-4B7C-F3E0-9B7A-58614719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2060"/>
          </a:xfrm>
        </p:spPr>
        <p:txBody>
          <a:bodyPr/>
          <a:lstStyle/>
          <a:p>
            <a:pPr algn="ctr"/>
            <a:r>
              <a:rPr lang="en-US" sz="4400" b="1" dirty="0"/>
              <a:t>Hi-C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19ABF-5E0D-0365-D8C8-8A929986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310" y="1041772"/>
            <a:ext cx="7875515" cy="5267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6605F5-BBCF-9874-D362-A88931A762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42"/>
          <a:stretch/>
        </p:blipFill>
        <p:spPr>
          <a:xfrm>
            <a:off x="324927" y="1190446"/>
            <a:ext cx="11630281" cy="142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7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405A23-7260-CE6D-24A6-2FB36A2B8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80" y="47179"/>
            <a:ext cx="10288193" cy="6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9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08A9D-F36B-B452-8EB7-AE94A41A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43" y="306188"/>
            <a:ext cx="6177951" cy="6177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B26CCE-2B89-ADA8-6DA6-BB80D6C0AC27}"/>
              </a:ext>
            </a:extLst>
          </p:cNvPr>
          <p:cNvSpPr txBox="1"/>
          <p:nvPr/>
        </p:nvSpPr>
        <p:spPr>
          <a:xfrm>
            <a:off x="741872" y="6330251"/>
            <a:ext cx="5083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https://www.cell.com/fulltext/S0092-8674%2814%2901497-4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3699EDC-B8E4-9C03-D486-5604B4E03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747" y="139459"/>
            <a:ext cx="4613910" cy="605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3D1726-515B-1DA1-1CA9-18D4C907A60F}"/>
              </a:ext>
            </a:extLst>
          </p:cNvPr>
          <p:cNvSpPr txBox="1"/>
          <p:nvPr/>
        </p:nvSpPr>
        <p:spPr>
          <a:xfrm>
            <a:off x="7100385" y="6361029"/>
            <a:ext cx="4704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https://www.sciencedirect.com/science/article/pii/S000292972100001X</a:t>
            </a:r>
          </a:p>
        </p:txBody>
      </p:sp>
    </p:spTree>
    <p:extLst>
      <p:ext uri="{BB962C8B-B14F-4D97-AF65-F5344CB8AC3E}">
        <p14:creationId xmlns:p14="http://schemas.microsoft.com/office/powerpoint/2010/main" val="252643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AA25-F0F4-7EEE-0E2D-30504EF9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5"/>
            <a:ext cx="10515600" cy="655668"/>
          </a:xfrm>
        </p:spPr>
        <p:txBody>
          <a:bodyPr>
            <a:normAutofit fontScale="90000"/>
          </a:bodyPr>
          <a:lstStyle/>
          <a:p>
            <a:r>
              <a:rPr lang="en-GB" dirty="0"/>
              <a:t>Read the Hi-C data (0)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894D8-0067-E051-F058-92DE8A7ED053}"/>
              </a:ext>
            </a:extLst>
          </p:cNvPr>
          <p:cNvSpPr txBox="1"/>
          <p:nvPr/>
        </p:nvSpPr>
        <p:spPr>
          <a:xfrm>
            <a:off x="1012165" y="6355466"/>
            <a:ext cx="5469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https://www.science.org/doi/10.1126/sciadv.aaw1668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05E244-FDE2-8BF5-CA26-C12E55AE8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95" y="920488"/>
            <a:ext cx="9159979" cy="534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33D1726-515B-1DA1-1CA9-18D4C907A60F}"/>
              </a:ext>
            </a:extLst>
          </p:cNvPr>
          <p:cNvSpPr txBox="1"/>
          <p:nvPr/>
        </p:nvSpPr>
        <p:spPr>
          <a:xfrm>
            <a:off x="209375" y="6527806"/>
            <a:ext cx="4704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https://www.cell.com/cell/fulltext/S0092-8674%2817%2930473-7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9C9EB3A-A63C-D2E8-58EB-04C24CED5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95"/>
          <a:stretch/>
        </p:blipFill>
        <p:spPr bwMode="auto">
          <a:xfrm>
            <a:off x="209375" y="429091"/>
            <a:ext cx="5176822" cy="593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4A318A61-BDAB-16AF-E6B5-7558A25165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42"/>
          <a:stretch/>
        </p:blipFill>
        <p:spPr bwMode="auto">
          <a:xfrm>
            <a:off x="5796951" y="429091"/>
            <a:ext cx="5955948" cy="453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F8F998-A30F-BBAD-6B38-14261F7F05F7}"/>
              </a:ext>
            </a:extLst>
          </p:cNvPr>
          <p:cNvSpPr txBox="1"/>
          <p:nvPr/>
        </p:nvSpPr>
        <p:spPr>
          <a:xfrm>
            <a:off x="5618672" y="5154631"/>
            <a:ext cx="62052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200" b="0" i="0" dirty="0">
                <a:solidFill>
                  <a:srgbClr val="2E2E2E"/>
                </a:solidFill>
                <a:effectLst/>
                <a:latin typeface="+mj-lt"/>
              </a:rPr>
              <a:t>(A) Besides anchoring of LADs (green) to the NL, other regions (blue) may be tethered to nuclear structures that are permissive for transcription (orange), such as transcription factories (</a:t>
            </a:r>
            <a:r>
              <a:rPr lang="en-GB" sz="1200" b="0" i="0" dirty="0" err="1">
                <a:solidFill>
                  <a:srgbClr val="2E2E2E"/>
                </a:solidFill>
                <a:effectLst/>
                <a:latin typeface="+mj-lt"/>
              </a:rPr>
              <a:t>tf</a:t>
            </a:r>
            <a:r>
              <a:rPr lang="en-GB" sz="1200" b="0" i="0" dirty="0">
                <a:solidFill>
                  <a:srgbClr val="2E2E2E"/>
                </a:solidFill>
                <a:effectLst/>
                <a:latin typeface="+mj-lt"/>
              </a:rPr>
              <a:t>) or splicing factor speckles (speckles).</a:t>
            </a:r>
          </a:p>
          <a:p>
            <a:pPr algn="just"/>
            <a:r>
              <a:rPr lang="en-GB" sz="1200" b="0" i="0" dirty="0">
                <a:solidFill>
                  <a:srgbClr val="2E2E2E"/>
                </a:solidFill>
                <a:effectLst/>
                <a:latin typeface="+mj-lt"/>
              </a:rPr>
              <a:t>(B) Some LADs (semi-transparent green) contact the NL erratically (i.e., in a subset of cells) and may become transcriptionally active when associated with a permissive compartment (semi-transparent blue).</a:t>
            </a:r>
          </a:p>
          <a:p>
            <a:pPr algn="just"/>
            <a:r>
              <a:rPr lang="en-GB" sz="1200" b="0" i="0" dirty="0">
                <a:solidFill>
                  <a:srgbClr val="2E2E2E"/>
                </a:solidFill>
                <a:effectLst/>
                <a:latin typeface="+mj-lt"/>
              </a:rPr>
              <a:t>(C) Some LADs are apparently stochastically distributed between the NL, nucleoli, and pericentromeric heterochromatin (</a:t>
            </a:r>
            <a:r>
              <a:rPr lang="en-GB" sz="1200" b="0" i="0" dirty="0" err="1">
                <a:solidFill>
                  <a:srgbClr val="2E2E2E"/>
                </a:solidFill>
                <a:effectLst/>
                <a:latin typeface="+mj-lt"/>
              </a:rPr>
              <a:t>ph</a:t>
            </a:r>
            <a:r>
              <a:rPr lang="en-GB" sz="1200" b="0" i="0" dirty="0">
                <a:solidFill>
                  <a:srgbClr val="2E2E2E"/>
                </a:solidFill>
                <a:effectLst/>
                <a:latin typeface="+mj-lt"/>
              </a:rPr>
              <a:t>), which are all repressive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75201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AA25-F0F4-7EEE-0E2D-30504EF9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5"/>
            <a:ext cx="10515600" cy="655668"/>
          </a:xfrm>
        </p:spPr>
        <p:txBody>
          <a:bodyPr>
            <a:normAutofit fontScale="90000"/>
          </a:bodyPr>
          <a:lstStyle/>
          <a:p>
            <a:r>
              <a:rPr lang="en-GB" dirty="0"/>
              <a:t>Read the Hi-C data (1)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D7F271-7555-A383-74A9-3A92F3F52E64}"/>
              </a:ext>
            </a:extLst>
          </p:cNvPr>
          <p:cNvGrpSpPr/>
          <p:nvPr/>
        </p:nvGrpSpPr>
        <p:grpSpPr>
          <a:xfrm>
            <a:off x="1247954" y="959718"/>
            <a:ext cx="9575321" cy="5549636"/>
            <a:chOff x="1552754" y="1069700"/>
            <a:chExt cx="9575321" cy="554963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A6A3E6D-12DF-7AF1-F018-400184E13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2754" y="1146480"/>
              <a:ext cx="9575321" cy="52528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8C65B0-F07E-F251-37E5-F87E48569093}"/>
                </a:ext>
              </a:extLst>
            </p:cNvPr>
            <p:cNvSpPr/>
            <p:nvPr/>
          </p:nvSpPr>
          <p:spPr>
            <a:xfrm>
              <a:off x="1552754" y="1069700"/>
              <a:ext cx="644148" cy="402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9CF233-067B-E87C-1BA1-3F53ADD892FD}"/>
                </a:ext>
              </a:extLst>
            </p:cNvPr>
            <p:cNvSpPr/>
            <p:nvPr/>
          </p:nvSpPr>
          <p:spPr>
            <a:xfrm>
              <a:off x="1679275" y="5906219"/>
              <a:ext cx="6188016" cy="7131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E894D8-0067-E051-F058-92DE8A7ED053}"/>
              </a:ext>
            </a:extLst>
          </p:cNvPr>
          <p:cNvSpPr txBox="1"/>
          <p:nvPr/>
        </p:nvSpPr>
        <p:spPr>
          <a:xfrm>
            <a:off x="1012165" y="6355466"/>
            <a:ext cx="5469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https://www.nature.com/articles/s41576-019-0128-0</a:t>
            </a:r>
          </a:p>
        </p:txBody>
      </p:sp>
    </p:spTree>
    <p:extLst>
      <p:ext uri="{BB962C8B-B14F-4D97-AF65-F5344CB8AC3E}">
        <p14:creationId xmlns:p14="http://schemas.microsoft.com/office/powerpoint/2010/main" val="223948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AA25-F0F4-7EEE-0E2D-30504EF9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5"/>
            <a:ext cx="10515600" cy="655668"/>
          </a:xfrm>
        </p:spPr>
        <p:txBody>
          <a:bodyPr>
            <a:normAutofit fontScale="90000"/>
          </a:bodyPr>
          <a:lstStyle/>
          <a:p>
            <a:r>
              <a:rPr lang="en-GB" dirty="0"/>
              <a:t>Read the Hi-C data (2)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894D8-0067-E051-F058-92DE8A7ED053}"/>
              </a:ext>
            </a:extLst>
          </p:cNvPr>
          <p:cNvSpPr txBox="1"/>
          <p:nvPr/>
        </p:nvSpPr>
        <p:spPr>
          <a:xfrm>
            <a:off x="1012165" y="6355466"/>
            <a:ext cx="5469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https://www.nature.com/articles/s41576-019-0128-0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55CDE-1A4D-401D-63E4-DB928792E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9" y="1212259"/>
            <a:ext cx="10311442" cy="498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46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AA25-F0F4-7EEE-0E2D-30504EF9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5"/>
            <a:ext cx="10515600" cy="655668"/>
          </a:xfrm>
        </p:spPr>
        <p:txBody>
          <a:bodyPr>
            <a:normAutofit fontScale="90000"/>
          </a:bodyPr>
          <a:lstStyle/>
          <a:p>
            <a:r>
              <a:rPr lang="en-GB" dirty="0"/>
              <a:t>Read the Hi-C data (3)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894D8-0067-E051-F058-92DE8A7ED053}"/>
              </a:ext>
            </a:extLst>
          </p:cNvPr>
          <p:cNvSpPr txBox="1"/>
          <p:nvPr/>
        </p:nvSpPr>
        <p:spPr>
          <a:xfrm>
            <a:off x="1012165" y="6355466"/>
            <a:ext cx="5469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https://www.nature.com/articles/s41576-019-0128-0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38796-2FEB-0019-65B7-C2151AA9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224" y="1047768"/>
            <a:ext cx="5653410" cy="517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7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659334-A71E-30ED-6FBA-2B1E0A52F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0" y="0"/>
            <a:ext cx="593575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AACEC0-E00E-7FE9-F501-746DF14E4D41}"/>
              </a:ext>
            </a:extLst>
          </p:cNvPr>
          <p:cNvSpPr txBox="1"/>
          <p:nvPr/>
        </p:nvSpPr>
        <p:spPr>
          <a:xfrm>
            <a:off x="7067910" y="428178"/>
            <a:ext cx="45087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Fig. 2 | </a:t>
            </a:r>
            <a:r>
              <a:rPr lang="en-US" sz="2400" dirty="0"/>
              <a:t>The Shh limb bud enhancer: a paradigm for long-range enhancer control of gene expression. </a:t>
            </a:r>
          </a:p>
          <a:p>
            <a:pPr algn="just"/>
            <a:r>
              <a:rPr lang="en-US" sz="2400" b="1" dirty="0"/>
              <a:t>a | </a:t>
            </a:r>
            <a:r>
              <a:rPr lang="en-US" sz="2400" dirty="0"/>
              <a:t>Genomic organization of the mouse sonic hedgehog (Shh) locus. In developing limb buds, the ‘zone of polarizing activity regulatory sequence’ (ZRS) enhancer controls the expression of Shh located ~850 kb away. </a:t>
            </a:r>
          </a:p>
          <a:p>
            <a:pPr algn="just"/>
            <a:r>
              <a:rPr lang="en-US" sz="2400" b="1" dirty="0"/>
              <a:t>b | </a:t>
            </a:r>
            <a:r>
              <a:rPr lang="en-US" sz="2400" dirty="0"/>
              <a:t>Mice lacking the ZRS Shh limb bud enhancer are born with severely truncated limbs.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3C133-1CC9-43AE-95FF-BA78820D6074}"/>
              </a:ext>
            </a:extLst>
          </p:cNvPr>
          <p:cNvSpPr txBox="1"/>
          <p:nvPr/>
        </p:nvSpPr>
        <p:spPr>
          <a:xfrm>
            <a:off x="7476194" y="6470485"/>
            <a:ext cx="43362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https://www.nature.com/articles/s41576-019-0128-0</a:t>
            </a:r>
          </a:p>
        </p:txBody>
      </p:sp>
    </p:spTree>
    <p:extLst>
      <p:ext uri="{BB962C8B-B14F-4D97-AF65-F5344CB8AC3E}">
        <p14:creationId xmlns:p14="http://schemas.microsoft.com/office/powerpoint/2010/main" val="13676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ig. 1">
            <a:extLst>
              <a:ext uri="{FF2B5EF4-FFF2-40B4-BE49-F238E27FC236}">
                <a16:creationId xmlns:a16="http://schemas.microsoft.com/office/drawing/2014/main" id="{605215C2-D1D0-E22F-A74E-5DCD587597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30"/>
          <a:stretch/>
        </p:blipFill>
        <p:spPr bwMode="auto">
          <a:xfrm>
            <a:off x="1926566" y="986286"/>
            <a:ext cx="7873041" cy="533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418FBB-367C-4B0B-9D02-2552DCB1521A}"/>
              </a:ext>
            </a:extLst>
          </p:cNvPr>
          <p:cNvSpPr txBox="1"/>
          <p:nvPr/>
        </p:nvSpPr>
        <p:spPr>
          <a:xfrm>
            <a:off x="943155" y="266305"/>
            <a:ext cx="10219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1" i="0" dirty="0">
                <a:solidFill>
                  <a:srgbClr val="222222"/>
                </a:solidFill>
                <a:effectLst/>
                <a:latin typeface="Harding"/>
              </a:rPr>
              <a:t>Differential enhancer−promoter interactions and gene deregulation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962C2-EE22-0B7B-6988-19294199FF04}"/>
              </a:ext>
            </a:extLst>
          </p:cNvPr>
          <p:cNvSpPr txBox="1"/>
          <p:nvPr/>
        </p:nvSpPr>
        <p:spPr>
          <a:xfrm>
            <a:off x="6660359" y="6422418"/>
            <a:ext cx="4887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https://www.nature.com/articles/s41467-019-14098-x</a:t>
            </a:r>
          </a:p>
        </p:txBody>
      </p:sp>
    </p:spTree>
    <p:extLst>
      <p:ext uri="{BB962C8B-B14F-4D97-AF65-F5344CB8AC3E}">
        <p14:creationId xmlns:p14="http://schemas.microsoft.com/office/powerpoint/2010/main" val="418841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CDA35416-2B64-F8BC-227F-5C2B1F7638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15" b="18383"/>
          <a:stretch/>
        </p:blipFill>
        <p:spPr bwMode="auto">
          <a:xfrm>
            <a:off x="943155" y="885776"/>
            <a:ext cx="10092905" cy="560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418FBB-367C-4B0B-9D02-2552DCB1521A}"/>
              </a:ext>
            </a:extLst>
          </p:cNvPr>
          <p:cNvSpPr txBox="1"/>
          <p:nvPr/>
        </p:nvSpPr>
        <p:spPr>
          <a:xfrm>
            <a:off x="943155" y="266305"/>
            <a:ext cx="10219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1" i="0" dirty="0">
                <a:solidFill>
                  <a:srgbClr val="222222"/>
                </a:solidFill>
                <a:effectLst/>
                <a:latin typeface="Harding"/>
              </a:rPr>
              <a:t>Differential enhancer−promoter interactions and gene deregulation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962C2-EE22-0B7B-6988-19294199FF04}"/>
              </a:ext>
            </a:extLst>
          </p:cNvPr>
          <p:cNvSpPr txBox="1"/>
          <p:nvPr/>
        </p:nvSpPr>
        <p:spPr>
          <a:xfrm>
            <a:off x="6470577" y="6491749"/>
            <a:ext cx="4887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https://www.nature.com/articles/s41467-019-14098-x</a:t>
            </a:r>
          </a:p>
        </p:txBody>
      </p:sp>
    </p:spTree>
    <p:extLst>
      <p:ext uri="{BB962C8B-B14F-4D97-AF65-F5344CB8AC3E}">
        <p14:creationId xmlns:p14="http://schemas.microsoft.com/office/powerpoint/2010/main" val="388277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CDA35416-2B64-F8BC-227F-5C2B1F7638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15"/>
          <a:stretch/>
        </p:blipFill>
        <p:spPr bwMode="auto">
          <a:xfrm>
            <a:off x="2379511" y="990807"/>
            <a:ext cx="6484678" cy="541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418FBB-367C-4B0B-9D02-2552DCB1521A}"/>
              </a:ext>
            </a:extLst>
          </p:cNvPr>
          <p:cNvSpPr txBox="1"/>
          <p:nvPr/>
        </p:nvSpPr>
        <p:spPr>
          <a:xfrm>
            <a:off x="943155" y="266305"/>
            <a:ext cx="10219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1" i="0" dirty="0">
                <a:solidFill>
                  <a:srgbClr val="222222"/>
                </a:solidFill>
                <a:effectLst/>
                <a:latin typeface="Harding"/>
              </a:rPr>
              <a:t>Differential enhancer−promoter interactions and gene deregulation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962C2-EE22-0B7B-6988-19294199FF04}"/>
              </a:ext>
            </a:extLst>
          </p:cNvPr>
          <p:cNvSpPr txBox="1"/>
          <p:nvPr/>
        </p:nvSpPr>
        <p:spPr>
          <a:xfrm>
            <a:off x="6516585" y="6438555"/>
            <a:ext cx="4887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https://www.nature.com/articles/s41467-019-14098-x</a:t>
            </a:r>
          </a:p>
        </p:txBody>
      </p:sp>
    </p:spTree>
    <p:extLst>
      <p:ext uri="{BB962C8B-B14F-4D97-AF65-F5344CB8AC3E}">
        <p14:creationId xmlns:p14="http://schemas.microsoft.com/office/powerpoint/2010/main" val="154170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418FBB-367C-4B0B-9D02-2552DCB1521A}"/>
              </a:ext>
            </a:extLst>
          </p:cNvPr>
          <p:cNvSpPr txBox="1"/>
          <p:nvPr/>
        </p:nvSpPr>
        <p:spPr>
          <a:xfrm>
            <a:off x="943155" y="266305"/>
            <a:ext cx="10460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Combinatorial binding of architectural proteins shapes topological domain structure</a:t>
            </a:r>
            <a:endParaRPr lang="en-GB" b="1" i="0" dirty="0">
              <a:solidFill>
                <a:srgbClr val="222222"/>
              </a:solidFill>
              <a:effectLst/>
              <a:latin typeface="Hardi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962C2-EE22-0B7B-6988-19294199FF04}"/>
              </a:ext>
            </a:extLst>
          </p:cNvPr>
          <p:cNvSpPr txBox="1"/>
          <p:nvPr/>
        </p:nvSpPr>
        <p:spPr>
          <a:xfrm>
            <a:off x="4589253" y="6438555"/>
            <a:ext cx="68148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https://genomebiology.biomedcentral.com/articles/10.1186/gb-2014-15-5-r82</a:t>
            </a:r>
          </a:p>
        </p:txBody>
      </p:sp>
      <p:pic>
        <p:nvPicPr>
          <p:cNvPr id="12290" name="Picture 2" descr="Figure 6">
            <a:extLst>
              <a:ext uri="{FF2B5EF4-FFF2-40B4-BE49-F238E27FC236}">
                <a16:creationId xmlns:a16="http://schemas.microsoft.com/office/drawing/2014/main" id="{C2822946-D437-CEEF-3FCF-744D6B733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099" y="859090"/>
            <a:ext cx="7355456" cy="549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527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E962C2-EE22-0B7B-6988-19294199FF04}"/>
              </a:ext>
            </a:extLst>
          </p:cNvPr>
          <p:cNvSpPr txBox="1"/>
          <p:nvPr/>
        </p:nvSpPr>
        <p:spPr>
          <a:xfrm>
            <a:off x="6516585" y="6438555"/>
            <a:ext cx="4887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>
                <a:effectLst/>
                <a:latin typeface="MuseoSans"/>
                <a:hlinkClick r:id="rId2"/>
              </a:rPr>
              <a:t>https://doi.org/10.3389/fcell.2025.1548946</a:t>
            </a:r>
            <a:endParaRPr lang="en-US" sz="16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8A594A-EA2E-2A58-051D-298E42A3B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68" y="1570727"/>
            <a:ext cx="11851664" cy="428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5EFE9E-9E99-F7D0-416D-D501684090BE}"/>
              </a:ext>
            </a:extLst>
          </p:cNvPr>
          <p:cNvSpPr txBox="1"/>
          <p:nvPr/>
        </p:nvSpPr>
        <p:spPr>
          <a:xfrm>
            <a:off x="2300377" y="295653"/>
            <a:ext cx="73267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0" i="0" dirty="0">
                <a:solidFill>
                  <a:srgbClr val="282828"/>
                </a:solidFill>
                <a:effectLst/>
                <a:latin typeface="MuseoSans"/>
              </a:rPr>
              <a:t>Layers of 3D genome organisation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78141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E962C2-EE22-0B7B-6988-19294199FF04}"/>
              </a:ext>
            </a:extLst>
          </p:cNvPr>
          <p:cNvSpPr txBox="1"/>
          <p:nvPr/>
        </p:nvSpPr>
        <p:spPr>
          <a:xfrm>
            <a:off x="6970909" y="6395799"/>
            <a:ext cx="4887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>
                <a:effectLst/>
                <a:latin typeface="MuseoSans"/>
                <a:hlinkClick r:id="rId2"/>
              </a:rPr>
              <a:t>https://doi.org/10.3389/fcell.2025.1548946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FE9E-9E99-F7D0-416D-D501684090BE}"/>
              </a:ext>
            </a:extLst>
          </p:cNvPr>
          <p:cNvSpPr txBox="1"/>
          <p:nvPr/>
        </p:nvSpPr>
        <p:spPr>
          <a:xfrm>
            <a:off x="698739" y="169132"/>
            <a:ext cx="10794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0" i="0" dirty="0">
                <a:solidFill>
                  <a:srgbClr val="282828"/>
                </a:solidFill>
                <a:effectLst/>
                <a:latin typeface="MuseoSans"/>
              </a:rPr>
              <a:t>3D genome organisation upon cell cycle exit and re-entry</a:t>
            </a:r>
            <a:endParaRPr lang="en-US" sz="36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86B89AF-EFE1-15EE-D9D1-5926E25E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148" y="1080779"/>
            <a:ext cx="6557553" cy="521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795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9033-F3FE-9FAA-E222-2C71E6DF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1" y="186846"/>
            <a:ext cx="10801709" cy="808067"/>
          </a:xfrm>
        </p:spPr>
        <p:txBody>
          <a:bodyPr/>
          <a:lstStyle/>
          <a:p>
            <a:r>
              <a:rPr lang="en-GB" b="0" i="0" dirty="0">
                <a:solidFill>
                  <a:srgbClr val="282828"/>
                </a:solidFill>
                <a:effectLst/>
                <a:latin typeface="MuseoSans"/>
              </a:rPr>
              <a:t>The 3D genome in DNA replication and repair</a:t>
            </a: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BCEF8B6-A624-19C1-B914-7CA68351C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2" y="1109257"/>
            <a:ext cx="6132745" cy="545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2DED57-1BB9-2F49-004D-D1F955B68503}"/>
              </a:ext>
            </a:extLst>
          </p:cNvPr>
          <p:cNvSpPr txBox="1"/>
          <p:nvPr/>
        </p:nvSpPr>
        <p:spPr>
          <a:xfrm>
            <a:off x="6970909" y="6395799"/>
            <a:ext cx="4887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>
                <a:effectLst/>
                <a:latin typeface="MuseoSans"/>
                <a:hlinkClick r:id="rId3"/>
              </a:rPr>
              <a:t>https://doi.org/10.3389/fcell.2025.1548946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5967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D8786-4C33-274B-1190-8BEB00D353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7"/>
          <a:stretch/>
        </p:blipFill>
        <p:spPr>
          <a:xfrm>
            <a:off x="385310" y="0"/>
            <a:ext cx="539976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38CA57-22CF-B9AD-66A8-26102269C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116" y="207034"/>
            <a:ext cx="5775725" cy="61276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5313D5-3D63-AF7E-5261-C55F390D2E2F}"/>
              </a:ext>
            </a:extLst>
          </p:cNvPr>
          <p:cNvSpPr txBox="1"/>
          <p:nvPr/>
        </p:nvSpPr>
        <p:spPr>
          <a:xfrm>
            <a:off x="5382880" y="638577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AU" sz="1400" dirty="0"/>
              <a:t>https://www.nature.com/articles/s41467-019-13753-7</a:t>
            </a:r>
          </a:p>
        </p:txBody>
      </p:sp>
    </p:spTree>
    <p:extLst>
      <p:ext uri="{BB962C8B-B14F-4D97-AF65-F5344CB8AC3E}">
        <p14:creationId xmlns:p14="http://schemas.microsoft.com/office/powerpoint/2010/main" val="2302632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6C9F12-4C31-D9A0-E6C6-0C728B3D5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44" y="0"/>
            <a:ext cx="9708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2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499</Words>
  <Application>Microsoft Office PowerPoint</Application>
  <PresentationFormat>Widescreen</PresentationFormat>
  <Paragraphs>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Georgia</vt:lpstr>
      <vt:lpstr>Harding</vt:lpstr>
      <vt:lpstr>MuseoSans</vt:lpstr>
      <vt:lpstr>Office Theme</vt:lpstr>
      <vt:lpstr>Hi-C for Chromosome Conformation Capture Technologies</vt:lpstr>
      <vt:lpstr>Content</vt:lpstr>
      <vt:lpstr>PowerPoint Presentation</vt:lpstr>
      <vt:lpstr>Hi-C</vt:lpstr>
      <vt:lpstr>PowerPoint Presentation</vt:lpstr>
      <vt:lpstr>PowerPoint Presentation</vt:lpstr>
      <vt:lpstr>Read the Hi-C data (0)</vt:lpstr>
      <vt:lpstr>PowerPoint Presentation</vt:lpstr>
      <vt:lpstr>Read the Hi-C data (1)</vt:lpstr>
      <vt:lpstr>Read the Hi-C data (2)</vt:lpstr>
      <vt:lpstr>Read the Hi-C data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3D genome in DNA replication and repair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Luu Loi</dc:creator>
  <cp:lastModifiedBy>Luu Loi</cp:lastModifiedBy>
  <cp:revision>84</cp:revision>
  <dcterms:created xsi:type="dcterms:W3CDTF">2025-03-22T06:28:32Z</dcterms:created>
  <dcterms:modified xsi:type="dcterms:W3CDTF">2026-04-18T12:40:39Z</dcterms:modified>
</cp:coreProperties>
</file>