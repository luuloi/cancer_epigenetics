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6"/>
  </p:notesMasterIdLst>
  <p:sldIdLst>
    <p:sldId id="257" r:id="rId2"/>
    <p:sldId id="340" r:id="rId3"/>
    <p:sldId id="4803" r:id="rId4"/>
    <p:sldId id="4823" r:id="rId5"/>
    <p:sldId id="4827" r:id="rId6"/>
    <p:sldId id="4824" r:id="rId7"/>
    <p:sldId id="4826" r:id="rId8"/>
    <p:sldId id="4825" r:id="rId9"/>
    <p:sldId id="4828" r:id="rId10"/>
    <p:sldId id="4839" r:id="rId11"/>
    <p:sldId id="4829" r:id="rId12"/>
    <p:sldId id="4830" r:id="rId13"/>
    <p:sldId id="4831" r:id="rId14"/>
    <p:sldId id="4840" r:id="rId15"/>
    <p:sldId id="4832" r:id="rId16"/>
    <p:sldId id="4834" r:id="rId17"/>
    <p:sldId id="4833" r:id="rId18"/>
    <p:sldId id="4835" r:id="rId19"/>
    <p:sldId id="4836" r:id="rId20"/>
    <p:sldId id="4821" r:id="rId21"/>
    <p:sldId id="4837" r:id="rId22"/>
    <p:sldId id="4838" r:id="rId23"/>
    <p:sldId id="4822" r:id="rId24"/>
    <p:sldId id="27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1372" autoAdjust="0"/>
  </p:normalViewPr>
  <p:slideViewPr>
    <p:cSldViewPr snapToGrid="0">
      <p:cViewPr>
        <p:scale>
          <a:sx n="84" d="100"/>
          <a:sy n="84" d="100"/>
        </p:scale>
        <p:origin x="12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Light" panose="020F03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Light" panose="020F0302020204030204" pitchFamily="34" charset="0"/>
              </a:defRPr>
            </a:lvl1pPr>
          </a:lstStyle>
          <a:p>
            <a:fld id="{5CDF7F7E-F815-4845-9F25-6AA55375E7FC}" type="datetimeFigureOut">
              <a:rPr lang="en-US" smtClean="0"/>
              <a:pPr/>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Light" panose="020F03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Light" panose="020F0302020204030204" pitchFamily="34" charset="0"/>
              </a:defRPr>
            </a:lvl1pPr>
          </a:lstStyle>
          <a:p>
            <a:fld id="{BD503204-0D85-4D43-9361-EE939A533DBE}" type="slidenum">
              <a:rPr lang="en-US" smtClean="0"/>
              <a:pPr/>
              <a:t>‹#›</a:t>
            </a:fld>
            <a:endParaRPr lang="en-US" dirty="0"/>
          </a:p>
        </p:txBody>
      </p:sp>
    </p:spTree>
    <p:extLst>
      <p:ext uri="{BB962C8B-B14F-4D97-AF65-F5344CB8AC3E}">
        <p14:creationId xmlns:p14="http://schemas.microsoft.com/office/powerpoint/2010/main" val="2549709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Light" panose="020F0302020204030204" pitchFamily="34" charset="0"/>
        <a:ea typeface="+mn-ea"/>
        <a:cs typeface="+mn-cs"/>
      </a:defRPr>
    </a:lvl1pPr>
    <a:lvl2pPr marL="457200" algn="l" defTabSz="914400" rtl="0" eaLnBrk="1" latinLnBrk="0" hangingPunct="1">
      <a:defRPr sz="1200" kern="1200">
        <a:solidFill>
          <a:schemeClr val="tx1"/>
        </a:solidFill>
        <a:latin typeface="Calibri Light" panose="020F0302020204030204" pitchFamily="34" charset="0"/>
        <a:ea typeface="+mn-ea"/>
        <a:cs typeface="+mn-cs"/>
      </a:defRPr>
    </a:lvl2pPr>
    <a:lvl3pPr marL="914400" algn="l" defTabSz="914400" rtl="0" eaLnBrk="1" latinLnBrk="0" hangingPunct="1">
      <a:defRPr sz="1200" kern="1200">
        <a:solidFill>
          <a:schemeClr val="tx1"/>
        </a:solidFill>
        <a:latin typeface="Calibri Light" panose="020F0302020204030204" pitchFamily="34" charset="0"/>
        <a:ea typeface="+mn-ea"/>
        <a:cs typeface="+mn-cs"/>
      </a:defRPr>
    </a:lvl3pPr>
    <a:lvl4pPr marL="1371600" algn="l" defTabSz="914400" rtl="0" eaLnBrk="1" latinLnBrk="0" hangingPunct="1">
      <a:defRPr sz="1200" kern="1200">
        <a:solidFill>
          <a:schemeClr val="tx1"/>
        </a:solidFill>
        <a:latin typeface="Calibri Light" panose="020F0302020204030204" pitchFamily="34" charset="0"/>
        <a:ea typeface="+mn-ea"/>
        <a:cs typeface="+mn-cs"/>
      </a:defRPr>
    </a:lvl4pPr>
    <a:lvl5pPr marL="1828800" algn="l" defTabSz="914400" rtl="0" eaLnBrk="1" latinLnBrk="0" hangingPunct="1">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Nuclear receptors (NRs) reside either in the </a:t>
            </a:r>
            <a:r>
              <a:rPr lang="en-GB" dirty="0" err="1"/>
              <a:t>cytoplasma</a:t>
            </a:r>
            <a:r>
              <a:rPr lang="en-GB" dirty="0"/>
              <a:t> (e.g., AR and GR) in a complex with chaperone proteins, such as HSP, or are already located in the nucleus (like most nuclear receptors), when they are activated through the binding of their specific lipophilic ligand. The ligand is either of extracellular origin and has passed the cellular membrane or is a metabolite that was synthesized inside of the cell. Cytoplasmic nuclear receptors dissociate then from their chaperones and translocate to the nucleus, where they bind to their genomic binding sites (REs) in the vicinity of their target genes. Ligand-activated nuclear receptors interact with cofactors that build a bridge to the basal transcriptional machinery with Pol II in its core. This leads then to changes in the mRNA and protein expression of these target genes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5</a:t>
            </a:fld>
            <a:endParaRPr lang="en-US" dirty="0"/>
          </a:p>
        </p:txBody>
      </p:sp>
    </p:spTree>
    <p:extLst>
      <p:ext uri="{BB962C8B-B14F-4D97-AF65-F5344CB8AC3E}">
        <p14:creationId xmlns:p14="http://schemas.microsoft.com/office/powerpoint/2010/main" val="189865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9</a:t>
            </a:fld>
            <a:endParaRPr lang="en-US" dirty="0"/>
          </a:p>
        </p:txBody>
      </p:sp>
    </p:spTree>
    <p:extLst>
      <p:ext uri="{BB962C8B-B14F-4D97-AF65-F5344CB8AC3E}">
        <p14:creationId xmlns:p14="http://schemas.microsoft.com/office/powerpoint/2010/main" val="190856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Nuclear receptors are performing three types of molecular interactions. With their DBD they specifically contact DNA, with the inner surface of their LBD, the ligand-binding pocket, they bind their specific ligand and with the outer surface of their LBD they interact with partner nuclear receptors and cofactor proteins. DBD-DBD interactions direct the specificity of nuclear receptor dimers for their distinct </a:t>
            </a:r>
            <a:r>
              <a:rPr lang="en-GB" dirty="0" err="1"/>
              <a:t>REs.</a:t>
            </a:r>
            <a:r>
              <a:rPr lang="en-GB" dirty="0"/>
              <a:t> Ligand binding induces a conformational change within the LBD primarily affecting the most carboxy-terminal α-helix, helix 12. In this changed conformation the LBD has a significantly higher affinity for coactivator proteins. This ligand-induced protein–protein interaction is the core transactivation mechanism of nuclear receptors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10</a:t>
            </a:fld>
            <a:endParaRPr lang="en-US" dirty="0"/>
          </a:p>
        </p:txBody>
      </p:sp>
    </p:spTree>
    <p:extLst>
      <p:ext uri="{BB962C8B-B14F-4D97-AF65-F5344CB8AC3E}">
        <p14:creationId xmlns:p14="http://schemas.microsoft.com/office/powerpoint/2010/main" val="383250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volume of ligand-binding pockets of nuclear receptors and their </a:t>
            </a:r>
            <a:r>
              <a:rPr lang="en-GB" dirty="0" err="1"/>
              <a:t>ligands.On</a:t>
            </a:r>
            <a:r>
              <a:rPr lang="en-GB" dirty="0"/>
              <a:t> the first view the LBDs of the true orphan receptor NOR1 (left), the endocrine receptor VDR (</a:t>
            </a:r>
            <a:r>
              <a:rPr lang="en-GB" dirty="0" err="1"/>
              <a:t>center</a:t>
            </a:r>
            <a:r>
              <a:rPr lang="en-GB" dirty="0"/>
              <a:t>) and the adopted orphan receptor PXR (right) appear very similar a. However, NOR1 has no ligand-binding pocket, while that of adopted orphan receptors in average has the double size compared to endocrine receptors. This explains the variability of adopted orphan in ligand affinities. For comparison, the volume b and the molecular weight c of important nuclear receptor ligands are indicated. The vertical red lines mark the average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11</a:t>
            </a:fld>
            <a:endParaRPr lang="en-US" dirty="0"/>
          </a:p>
        </p:txBody>
      </p:sp>
    </p:spTree>
    <p:extLst>
      <p:ext uri="{BB962C8B-B14F-4D97-AF65-F5344CB8AC3E}">
        <p14:creationId xmlns:p14="http://schemas.microsoft.com/office/powerpoint/2010/main" val="260258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volume of ligand-binding pockets of nuclear receptors and their </a:t>
            </a:r>
            <a:r>
              <a:rPr lang="en-GB" dirty="0" err="1"/>
              <a:t>ligands.On</a:t>
            </a:r>
            <a:r>
              <a:rPr lang="en-GB" dirty="0"/>
              <a:t> the first view the LBDs of the true orphan receptor NOR1 (left), the endocrine receptor VDR (</a:t>
            </a:r>
            <a:r>
              <a:rPr lang="en-GB" dirty="0" err="1"/>
              <a:t>center</a:t>
            </a:r>
            <a:r>
              <a:rPr lang="en-GB" dirty="0"/>
              <a:t>) and the adopted orphan receptor PXR (right) appear very similar a. However, NOR1 has no ligand-binding pocket, while that of adopted orphan receptors in average has the double size compared to endocrine receptors. This explains the variability of adopted orphan in ligand affinities. For comparison, the volume b and the molecular weight c of important nuclear receptor ligands are indicated. The vertical red lines mark the average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41305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13</a:t>
            </a:fld>
            <a:endParaRPr lang="en-US" dirty="0"/>
          </a:p>
        </p:txBody>
      </p:sp>
    </p:spTree>
    <p:extLst>
      <p:ext uri="{BB962C8B-B14F-4D97-AF65-F5344CB8AC3E}">
        <p14:creationId xmlns:p14="http://schemas.microsoft.com/office/powerpoint/2010/main" val="243916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14</a:t>
            </a:fld>
            <a:endParaRPr lang="en-US" dirty="0"/>
          </a:p>
        </p:txBody>
      </p:sp>
    </p:spTree>
    <p:extLst>
      <p:ext uri="{BB962C8B-B14F-4D97-AF65-F5344CB8AC3E}">
        <p14:creationId xmlns:p14="http://schemas.microsoft.com/office/powerpoint/2010/main" val="251019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15</a:t>
            </a:fld>
            <a:endParaRPr lang="en-US" dirty="0"/>
          </a:p>
        </p:txBody>
      </p:sp>
    </p:spTree>
    <p:extLst>
      <p:ext uri="{BB962C8B-B14F-4D97-AF65-F5344CB8AC3E}">
        <p14:creationId xmlns:p14="http://schemas.microsoft.com/office/powerpoint/2010/main" val="770948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Interaction of nuclear receptors with cofactors. A solvent excluded surface (Connolly surface) representation of a nuclear receptor LBD in the absence (top) and presence (bottom)</a:t>
            </a:r>
            <a:r>
              <a:rPr lang="en-GB" dirty="0" err="1"/>
              <a:t>ofa</a:t>
            </a:r>
            <a:r>
              <a:rPr lang="en-GB" dirty="0"/>
              <a:t> ligand a. The ligand-induced conformational change primarily affects helix 12 (red) that is the most carboxy-terminal α-helix of the LBD. In the absence of ligand helix 12 is in a position that allows a corepressor protein (represented by the receptor interaction domain of NCOR2, green) to interact with the LBD, while in the presence of ligand only the binding of a coactivator protein (receptor interaction domain of NCOA1, orange) is possible. The 3-step transactivation process of nuclear receptors is shown in context of a target gene b. In the absence of a ligand the DNA-bound dimeric nuclear receptor complex is connected via corepressor proteins with a multiprotein complex with chromatin modifying activity that leads to local condensation of chromatin and repression of the target gene (top). Following the binding of an agonistic ligand the LBD of nuclear receptors is dissociating from corepressors and associating with coactivators that connect with a multiprotein complex having chromatin </a:t>
            </a:r>
            <a:r>
              <a:rPr lang="en-GB" dirty="0" err="1"/>
              <a:t>decondensation</a:t>
            </a:r>
            <a:r>
              <a:rPr lang="en-GB" dirty="0"/>
              <a:t> activity (</a:t>
            </a:r>
            <a:r>
              <a:rPr lang="en-GB" dirty="0" err="1"/>
              <a:t>center</a:t>
            </a:r>
            <a:r>
              <a:rPr lang="en-GB" dirty="0"/>
              <a:t>). The ligand-activated nuclear receptor is changing to another type of coactivator being a subunit of the MED complex (bottom). In this way, the basal transcriptional machinery and Pol II are activated and finally mRNA transcription starts. CORO2A = coronin 2A, KIF11 = kinesin family member 11, TBL1X = </a:t>
            </a:r>
            <a:r>
              <a:rPr lang="en-GB" dirty="0" err="1"/>
              <a:t>transducin</a:t>
            </a:r>
            <a:r>
              <a:rPr lang="en-GB" dirty="0"/>
              <a:t> β-like 1 X-linked, TBL1XR1 = TBL1X receptor 1, ZBTB33 = zinc finger and BTB domain containing 33</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16</a:t>
            </a:fld>
            <a:endParaRPr lang="en-US" dirty="0"/>
          </a:p>
        </p:txBody>
      </p:sp>
    </p:spTree>
    <p:extLst>
      <p:ext uri="{BB962C8B-B14F-4D97-AF65-F5344CB8AC3E}">
        <p14:creationId xmlns:p14="http://schemas.microsoft.com/office/powerpoint/2010/main" val="224744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17</a:t>
            </a:fld>
            <a:endParaRPr lang="en-US" dirty="0"/>
          </a:p>
        </p:txBody>
      </p:sp>
    </p:spTree>
    <p:extLst>
      <p:ext uri="{BB962C8B-B14F-4D97-AF65-F5344CB8AC3E}">
        <p14:creationId xmlns:p14="http://schemas.microsoft.com/office/powerpoint/2010/main" val="3327961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18</a:t>
            </a:fld>
            <a:endParaRPr lang="en-US" dirty="0"/>
          </a:p>
        </p:txBody>
      </p:sp>
    </p:spTree>
    <p:extLst>
      <p:ext uri="{BB962C8B-B14F-4D97-AF65-F5344CB8AC3E}">
        <p14:creationId xmlns:p14="http://schemas.microsoft.com/office/powerpoint/2010/main" val="4269749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19</a:t>
            </a:fld>
            <a:endParaRPr lang="en-US" dirty="0"/>
          </a:p>
        </p:txBody>
      </p:sp>
    </p:spTree>
    <p:extLst>
      <p:ext uri="{BB962C8B-B14F-4D97-AF65-F5344CB8AC3E}">
        <p14:creationId xmlns:p14="http://schemas.microsoft.com/office/powerpoint/2010/main" val="239839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up, Transcription Factors are the interface between the genome and the environment. They are not just static switches; they are dynamic, structural proteins that form the basis of development and disease. Understanding their domains and </a:t>
            </a:r>
            <a:r>
              <a:rPr lang="en-GB" dirty="0" err="1"/>
              <a:t>signaling</a:t>
            </a:r>
            <a:r>
              <a:rPr lang="en-GB" dirty="0"/>
              <a:t> pathways allows us to understand how diseases like cancer arise (when these signals go wrong) and how to treat them.</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20</a:t>
            </a:fld>
            <a:endParaRPr lang="en-US" dirty="0"/>
          </a:p>
        </p:txBody>
      </p:sp>
    </p:spTree>
    <p:extLst>
      <p:ext uri="{BB962C8B-B14F-4D97-AF65-F5344CB8AC3E}">
        <p14:creationId xmlns:p14="http://schemas.microsoft.com/office/powerpoint/2010/main" val="3800107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21</a:t>
            </a:fld>
            <a:endParaRPr lang="en-US" dirty="0"/>
          </a:p>
        </p:txBody>
      </p:sp>
    </p:spTree>
    <p:extLst>
      <p:ext uri="{BB962C8B-B14F-4D97-AF65-F5344CB8AC3E}">
        <p14:creationId xmlns:p14="http://schemas.microsoft.com/office/powerpoint/2010/main" val="3836729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22</a:t>
            </a:fld>
            <a:endParaRPr lang="en-US" dirty="0"/>
          </a:p>
        </p:txBody>
      </p:sp>
    </p:spTree>
    <p:extLst>
      <p:ext uri="{BB962C8B-B14F-4D97-AF65-F5344CB8AC3E}">
        <p14:creationId xmlns:p14="http://schemas.microsoft.com/office/powerpoint/2010/main" val="2190540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up, Transcription Factors are the interface between the genome and the environment. They are not just static switches; they are dynamic, structural proteins that form the basis of development and disease. Understanding their domains and </a:t>
            </a:r>
            <a:r>
              <a:rPr lang="en-GB" dirty="0" err="1"/>
              <a:t>signaling</a:t>
            </a:r>
            <a:r>
              <a:rPr lang="en-GB" dirty="0"/>
              <a:t> pathways allows us to understand how diseases like cancer arise (when these signals go wrong) and how to treat them.</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23</a:t>
            </a:fld>
            <a:endParaRPr lang="en-US" dirty="0"/>
          </a:p>
        </p:txBody>
      </p:sp>
    </p:spTree>
    <p:extLst>
      <p:ext uri="{BB962C8B-B14F-4D97-AF65-F5344CB8AC3E}">
        <p14:creationId xmlns:p14="http://schemas.microsoft.com/office/powerpoint/2010/main" val="387063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29600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4216188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641451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E7BA9-91CD-41CC-B7FA-68F96BC9FFCB}"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75027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BE7BA9-91CD-41CC-B7FA-68F96BC9FFCB}"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42967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31667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328431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41263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783083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856452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49060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8FF577-10E9-484E-8F87-B30A3AFE558A}"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Tree>
    <p:extLst>
      <p:ext uri="{BB962C8B-B14F-4D97-AF65-F5344CB8AC3E}">
        <p14:creationId xmlns:p14="http://schemas.microsoft.com/office/powerpoint/2010/main" val="535003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582554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032866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803985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379531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044133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16"/>
        <p:cNvGrpSpPr/>
        <p:nvPr/>
      </p:nvGrpSpPr>
      <p:grpSpPr>
        <a:xfrm>
          <a:off x="0" y="0"/>
          <a:ext cx="0" cy="0"/>
          <a:chOff x="0" y="0"/>
          <a:chExt cx="0" cy="0"/>
        </a:xfrm>
      </p:grpSpPr>
      <p:sp>
        <p:nvSpPr>
          <p:cNvPr id="17" name="Google Shape;17;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atin typeface="Calibri Light" panose="020F0302020204030204" pitchFamily="34" charset="0"/>
                <a:cs typeface="Calibri Light" panose="020F030202020403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77949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D2BE7BA9-91CD-41CC-B7FA-68F96BC9FFCB}" type="datetimeFigureOut">
              <a:rPr lang="en-US" smtClean="0"/>
              <a:pPr/>
              <a:t>12/7/2025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028FF577-10E9-484E-8F87-B30A3AFE558A}" type="slidenum">
              <a:rPr lang="en-US" smtClean="0"/>
              <a:pPr/>
              <a:t>‹#›</a:t>
            </a:fld>
            <a:endParaRPr lang="en-US" dirty="0"/>
          </a:p>
        </p:txBody>
      </p:sp>
    </p:spTree>
    <p:extLst>
      <p:ext uri="{BB962C8B-B14F-4D97-AF65-F5344CB8AC3E}">
        <p14:creationId xmlns:p14="http://schemas.microsoft.com/office/powerpoint/2010/main" val="2542143183"/>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u.p.loi@googlemail.com"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doi.org/10.23880/OAJPR-16000143"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6" name="Google Shape;66;p1"/>
          <p:cNvSpPr txBox="1"/>
          <p:nvPr/>
        </p:nvSpPr>
        <p:spPr>
          <a:xfrm>
            <a:off x="1036320" y="1361150"/>
            <a:ext cx="10226040" cy="1756903"/>
          </a:xfrm>
          <a:prstGeom prst="rect">
            <a:avLst/>
          </a:prstGeom>
          <a:noFill/>
          <a:ln>
            <a:noFill/>
          </a:ln>
        </p:spPr>
        <p:txBody>
          <a:bodyPr spcFirstLastPara="1" wrap="square" lIns="28400" tIns="28400" rIns="28400" bIns="28400" anchor="ctr" anchorCtr="0">
            <a:noAutofit/>
          </a:bodyPr>
          <a:lstStyle/>
          <a:p>
            <a:pPr algn="ctr">
              <a:spcBef>
                <a:spcPts val="133"/>
              </a:spcBef>
              <a:buClr>
                <a:schemeClr val="dk1"/>
              </a:buClr>
              <a:buSzPts val="1100"/>
            </a:pPr>
            <a:r>
              <a:rPr lang="en-GB" sz="5400" b="1" dirty="0">
                <a:latin typeface="Calibri Light" panose="020F0302020204030204" pitchFamily="34" charset="0"/>
              </a:rPr>
              <a:t>A Key Transcription Factor Family: </a:t>
            </a:r>
          </a:p>
          <a:p>
            <a:pPr algn="ctr">
              <a:spcBef>
                <a:spcPts val="133"/>
              </a:spcBef>
              <a:buClr>
                <a:schemeClr val="dk1"/>
              </a:buClr>
              <a:buSzPts val="1100"/>
            </a:pPr>
            <a:r>
              <a:rPr lang="en-GB" sz="5400" b="1" dirty="0">
                <a:latin typeface="Calibri Light" panose="020F0302020204030204" pitchFamily="34" charset="0"/>
              </a:rPr>
              <a:t>Nuclear Receptors</a:t>
            </a:r>
            <a:endParaRPr lang="vi-VN" sz="5400" b="1" dirty="0">
              <a:latin typeface="Calibri Light" panose="020F0302020204030204" pitchFamily="34" charset="0"/>
              <a:cs typeface="Calibri Light" panose="020F0302020204030204" pitchFamily="34" charset="0"/>
            </a:endParaRPr>
          </a:p>
        </p:txBody>
      </p:sp>
      <p:sp>
        <p:nvSpPr>
          <p:cNvPr id="67" name="Google Shape;67;p1"/>
          <p:cNvSpPr txBox="1"/>
          <p:nvPr/>
        </p:nvSpPr>
        <p:spPr>
          <a:xfrm>
            <a:off x="5437414" y="4457608"/>
            <a:ext cx="5459186" cy="1538857"/>
          </a:xfrm>
          <a:prstGeom prst="rect">
            <a:avLst/>
          </a:prstGeom>
          <a:noFill/>
          <a:ln>
            <a:noFill/>
          </a:ln>
        </p:spPr>
        <p:txBody>
          <a:bodyPr spcFirstLastPara="1" wrap="square" lIns="60950" tIns="30467" rIns="60950" bIns="30467" anchor="t" anchorCtr="0">
            <a:spAutoFit/>
          </a:bodyPr>
          <a:lstStyle/>
          <a:p>
            <a:pPr algn="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Dec 07 2025</a:t>
            </a:r>
          </a:p>
          <a:p>
            <a:pPr algn="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Giảng</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a:t>
            </a: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viên</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TS. Lưu Phúc Lợi</a:t>
            </a:r>
          </a:p>
          <a:p>
            <a:pPr algn="r"/>
            <a:r>
              <a:rPr lang="en-US" sz="2400" b="1" dirty="0">
                <a:solidFill>
                  <a:schemeClr val="lt1"/>
                </a:solidFill>
                <a:latin typeface="Calibri Light" panose="020F0302020204030204" pitchFamily="34" charset="0"/>
                <a:cs typeface="Calibri Light" panose="020F0302020204030204" pitchFamily="34" charset="0"/>
                <a:sym typeface="Calibri"/>
              </a:rPr>
              <a:t>Email: </a:t>
            </a:r>
            <a:r>
              <a:rPr lang="en-US" sz="2400" b="1" dirty="0">
                <a:solidFill>
                  <a:schemeClr val="lt1"/>
                </a:solidFill>
                <a:latin typeface="Calibri Light" panose="020F0302020204030204" pitchFamily="34" charset="0"/>
                <a:cs typeface="Calibri Light" panose="020F0302020204030204" pitchFamily="34" charset="0"/>
                <a:sym typeface="Calibri"/>
                <a:hlinkClick r:id="rId3"/>
              </a:rPr>
              <a:t>Luu.p.loi@googlemail.com</a:t>
            </a:r>
            <a:endParaRPr lang="en-US" sz="2400" b="1" dirty="0">
              <a:solidFill>
                <a:schemeClr val="lt1"/>
              </a:solidFill>
              <a:latin typeface="Calibri Light" panose="020F0302020204030204" pitchFamily="34" charset="0"/>
              <a:cs typeface="Calibri Light" panose="020F0302020204030204" pitchFamily="34" charset="0"/>
              <a:sym typeface="Calibri"/>
            </a:endParaRPr>
          </a:p>
          <a:p>
            <a:pPr algn="r"/>
            <a:r>
              <a:rPr lang="en-US" sz="2400" b="1" dirty="0" err="1">
                <a:solidFill>
                  <a:schemeClr val="lt1"/>
                </a:solidFill>
                <a:latin typeface="Calibri Light" panose="020F0302020204030204" pitchFamily="34" charset="0"/>
                <a:cs typeface="Calibri Light" panose="020F0302020204030204" pitchFamily="34" charset="0"/>
                <a:sym typeface="Calibri"/>
              </a:rPr>
              <a:t>Zalo</a:t>
            </a:r>
            <a:r>
              <a:rPr lang="en-US" sz="2400" b="1" dirty="0">
                <a:solidFill>
                  <a:schemeClr val="lt1"/>
                </a:solidFill>
                <a:latin typeface="Calibri Light" panose="020F0302020204030204" pitchFamily="34" charset="0"/>
                <a:cs typeface="Calibri Light" panose="020F0302020204030204" pitchFamily="34" charset="0"/>
                <a:sym typeface="Calibri"/>
              </a:rPr>
              <a:t>: 0901802182</a:t>
            </a:r>
            <a:endParaRPr sz="1200" dirty="0">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220E326-3A6B-097D-A13C-0C8E1DDAD160}"/>
              </a:ext>
            </a:extLst>
          </p:cNvPr>
          <p:cNvSpPr txBox="1"/>
          <p:nvPr/>
        </p:nvSpPr>
        <p:spPr>
          <a:xfrm>
            <a:off x="1561863" y="3670089"/>
            <a:ext cx="9456373" cy="369332"/>
          </a:xfrm>
          <a:prstGeom prst="rect">
            <a:avLst/>
          </a:prstGeom>
          <a:noFill/>
        </p:spPr>
        <p:txBody>
          <a:bodyPr wrap="square">
            <a:spAutoFit/>
          </a:bodyPr>
          <a:lstStyle/>
          <a:p>
            <a:pPr algn="ctr">
              <a:spcBef>
                <a:spcPts val="133"/>
              </a:spcBef>
              <a:buClr>
                <a:schemeClr val="dk1"/>
              </a:buClr>
              <a:buSzPts val="1100"/>
            </a:pPr>
            <a:r>
              <a:rPr lang="en-GB" dirty="0">
                <a:latin typeface="Calibri Light" panose="020F0302020204030204" pitchFamily="34" charset="0"/>
              </a:rPr>
              <a:t>Chapter 5 of </a:t>
            </a:r>
            <a:r>
              <a:rPr lang="en-GB" sz="1800" b="1" dirty="0">
                <a:latin typeface="Calibri Light" panose="020F0302020204030204" pitchFamily="34" charset="0"/>
              </a:rPr>
              <a:t>A Key Transcription Factor Family: Nuclear Receptors</a:t>
            </a:r>
            <a:r>
              <a:rPr lang="en-GB" dirty="0">
                <a:latin typeface="Calibri Light" panose="020F0302020204030204" pitchFamily="34" charset="0"/>
              </a:rPr>
              <a:t>, Carsten Carlberg (2024)</a:t>
            </a:r>
            <a:endParaRPr lang="en-US" dirty="0">
              <a:latin typeface="Calibri Light" panose="020F03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Content</a:t>
            </a:r>
          </a:p>
        </p:txBody>
      </p:sp>
      <p:sp>
        <p:nvSpPr>
          <p:cNvPr id="3" name="TextBox 2">
            <a:extLst>
              <a:ext uri="{FF2B5EF4-FFF2-40B4-BE49-F238E27FC236}">
                <a16:creationId xmlns:a16="http://schemas.microsoft.com/office/drawing/2014/main" id="{BD4F4C34-97D3-2899-8411-9E2C7F7D7206}"/>
              </a:ext>
            </a:extLst>
          </p:cNvPr>
          <p:cNvSpPr txBox="1"/>
          <p:nvPr/>
        </p:nvSpPr>
        <p:spPr>
          <a:xfrm>
            <a:off x="970429" y="1090768"/>
            <a:ext cx="10553282" cy="5196166"/>
          </a:xfrm>
          <a:prstGeom prst="rect">
            <a:avLst/>
          </a:prstGeom>
          <a:noFill/>
        </p:spPr>
        <p:txBody>
          <a:bodyPr wrap="square">
            <a:spAutoFit/>
          </a:bodyPr>
          <a:lstStyle/>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b="1" dirty="0">
                <a:latin typeface="Calibri Light" panose="020F0302020204030204" pitchFamily="34" charset="0"/>
                <a:ea typeface="Calibri Light" panose="020F0302020204030204" pitchFamily="34" charset="0"/>
                <a:cs typeface="Calibri Light" panose="020F0302020204030204" pitchFamily="34" charset="0"/>
              </a:rPr>
              <a:t>Introduction to Nuclear Receptors</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 Principles of nuclear receptor </a:t>
            </a:r>
            <a:r>
              <a:rPr lang="en-GB" sz="2800" b="1" dirty="0" err="1">
                <a:latin typeface="Calibri Light" panose="020F0302020204030204" pitchFamily="34" charset="0"/>
                <a:ea typeface="Calibri Light" panose="020F0302020204030204" pitchFamily="34" charset="0"/>
                <a:cs typeface="Calibri Light" panose="020F0302020204030204" pitchFamily="34" charset="0"/>
              </a:rPr>
              <a:t>signaling</a:t>
            </a:r>
            <a:endParaRPr lang="en-GB" sz="2800" b="1"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The Nuclear Receptor Superfamily</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Structural Domains of Nuclear Receptor</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Molecular Interactions of Nuclear Receptor</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Mechanism of Transcriptional Activation</a:t>
            </a:r>
            <a:endParaRPr lang="en-GB" sz="2800"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Nuclear Receptors as Nutrient Sensors</a:t>
            </a:r>
            <a:endParaRPr lang="en-GB" sz="2800"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Clinical Relevance and Therapeutics</a:t>
            </a:r>
            <a:endParaRPr lang="en-US" sz="28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86943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Introduction to Nuclear Receptors (NR)</a:t>
            </a:r>
          </a:p>
        </p:txBody>
      </p:sp>
      <p:pic>
        <p:nvPicPr>
          <p:cNvPr id="3" name="Picture 2">
            <a:extLst>
              <a:ext uri="{FF2B5EF4-FFF2-40B4-BE49-F238E27FC236}">
                <a16:creationId xmlns:a16="http://schemas.microsoft.com/office/drawing/2014/main" id="{3EA8FE37-692D-76A0-041A-8BB9283AE82C}"/>
              </a:ext>
            </a:extLst>
          </p:cNvPr>
          <p:cNvPicPr>
            <a:picLocks noChangeAspect="1"/>
          </p:cNvPicPr>
          <p:nvPr/>
        </p:nvPicPr>
        <p:blipFill>
          <a:blip r:embed="rId2"/>
          <a:stretch>
            <a:fillRect/>
          </a:stretch>
        </p:blipFill>
        <p:spPr>
          <a:xfrm>
            <a:off x="9132734" y="1192273"/>
            <a:ext cx="2928003" cy="5046239"/>
          </a:xfrm>
          <a:prstGeom prst="rect">
            <a:avLst/>
          </a:prstGeom>
        </p:spPr>
      </p:pic>
      <p:pic>
        <p:nvPicPr>
          <p:cNvPr id="6" name="Picture 2" descr="Image of Nuclear receptor signaling pathway">
            <a:extLst>
              <a:ext uri="{FF2B5EF4-FFF2-40B4-BE49-F238E27FC236}">
                <a16:creationId xmlns:a16="http://schemas.microsoft.com/office/drawing/2014/main" id="{EC9DB024-D848-ADD2-7265-79475FEF0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49" y="1254748"/>
            <a:ext cx="8550570" cy="5046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403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Introduction to Nuclear Receptors</a:t>
            </a:r>
          </a:p>
        </p:txBody>
      </p:sp>
      <p:sp>
        <p:nvSpPr>
          <p:cNvPr id="7" name="TextBox 6">
            <a:extLst>
              <a:ext uri="{FF2B5EF4-FFF2-40B4-BE49-F238E27FC236}">
                <a16:creationId xmlns:a16="http://schemas.microsoft.com/office/drawing/2014/main" id="{4BB497E8-C5B7-DEC7-F2CC-7CC782A3302C}"/>
              </a:ext>
            </a:extLst>
          </p:cNvPr>
          <p:cNvSpPr txBox="1"/>
          <p:nvPr/>
        </p:nvSpPr>
        <p:spPr>
          <a:xfrm>
            <a:off x="692899" y="1396336"/>
            <a:ext cx="10876249" cy="4051558"/>
          </a:xfrm>
          <a:prstGeom prst="rect">
            <a:avLst/>
          </a:prstGeom>
          <a:noFill/>
        </p:spPr>
        <p:txBody>
          <a:bodyPr wrap="square">
            <a:spAutoFit/>
          </a:bodyPr>
          <a:lstStyle/>
          <a:p>
            <a:pPr marL="342900" indent="-342900" algn="just">
              <a:lnSpc>
                <a:spcPct val="120000"/>
              </a:lnSpc>
              <a:buFont typeface="Arial" panose="020B0604020202020204" pitchFamily="34" charset="0"/>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Definition</a:t>
            </a:r>
            <a:r>
              <a:rPr lang="en-GB" sz="2400" dirty="0">
                <a:latin typeface="Calibri Light" panose="020F0302020204030204" pitchFamily="34" charset="0"/>
                <a:ea typeface="Calibri Light" panose="020F0302020204030204" pitchFamily="34" charset="0"/>
                <a:cs typeface="Calibri Light" panose="020F0302020204030204" pitchFamily="34" charset="0"/>
              </a:rPr>
              <a:t>: Nuclear receptors are a superfamily of ligand-inducible transcription factors.</a:t>
            </a:r>
          </a:p>
          <a:p>
            <a:pPr marL="342900" indent="-342900" algn="just">
              <a:lnSpc>
                <a:spcPct val="120000"/>
              </a:lnSpc>
              <a:buFont typeface="Arial" panose="020B0604020202020204" pitchFamily="34" charset="0"/>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Significance</a:t>
            </a:r>
            <a:r>
              <a:rPr lang="en-GB" sz="2400" dirty="0">
                <a:latin typeface="Calibri Light" panose="020F0302020204030204" pitchFamily="34" charset="0"/>
                <a:ea typeface="Calibri Light" panose="020F0302020204030204" pitchFamily="34" charset="0"/>
                <a:cs typeface="Calibri Light" panose="020F0302020204030204" pitchFamily="34" charset="0"/>
              </a:rPr>
              <a:t>: They serve as paradigms for understanding transcription factor function, particularly molecular interactions with coactivators and corepressors.</a:t>
            </a:r>
          </a:p>
          <a:p>
            <a:pPr marL="342900" indent="-342900" algn="just">
              <a:lnSpc>
                <a:spcPct val="120000"/>
              </a:lnSpc>
              <a:buFont typeface="Arial" panose="020B0604020202020204" pitchFamily="34" charset="0"/>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Mechanism</a:t>
            </a:r>
            <a:r>
              <a:rPr lang="en-GB" sz="2400" dirty="0">
                <a:latin typeface="Calibri Light" panose="020F0302020204030204" pitchFamily="34" charset="0"/>
                <a:ea typeface="Calibri Light" panose="020F0302020204030204" pitchFamily="34" charset="0"/>
                <a:cs typeface="Calibri Light" panose="020F0302020204030204" pitchFamily="34" charset="0"/>
              </a:rPr>
              <a:t>: Unlike hydrophilic signals (e.g., peptide hormones) that require membrane receptors and kinase cascades, nuclear receptors interact with small lipophilic </a:t>
            </a:r>
            <a:r>
              <a:rPr lang="en-GB" sz="2400" dirty="0" err="1">
                <a:latin typeface="Calibri Light" panose="020F0302020204030204" pitchFamily="34" charset="0"/>
                <a:ea typeface="Calibri Light" panose="020F0302020204030204" pitchFamily="34" charset="0"/>
                <a:cs typeface="Calibri Light" panose="020F0302020204030204" pitchFamily="34" charset="0"/>
              </a:rPr>
              <a:t>signaling</a:t>
            </a:r>
            <a:r>
              <a:rPr lang="en-GB" sz="2400" dirty="0">
                <a:latin typeface="Calibri Light" panose="020F0302020204030204" pitchFamily="34" charset="0"/>
                <a:ea typeface="Calibri Light" panose="020F0302020204030204" pitchFamily="34" charset="0"/>
                <a:cs typeface="Calibri Light" panose="020F0302020204030204" pitchFamily="34" charset="0"/>
              </a:rPr>
              <a:t> molecules that can pass through the cellular membrane.</a:t>
            </a:r>
          </a:p>
          <a:p>
            <a:pPr marL="342900" indent="-342900" algn="just">
              <a:lnSpc>
                <a:spcPct val="120000"/>
              </a:lnSpc>
              <a:buFont typeface="Arial" panose="020B0604020202020204" pitchFamily="34" charset="0"/>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Direct Link</a:t>
            </a:r>
            <a:r>
              <a:rPr lang="en-GB" sz="2400" dirty="0">
                <a:latin typeface="Calibri Light" panose="020F0302020204030204" pitchFamily="34" charset="0"/>
                <a:ea typeface="Calibri Light" panose="020F0302020204030204" pitchFamily="34" charset="0"/>
                <a:cs typeface="Calibri Light" panose="020F0302020204030204" pitchFamily="34" charset="0"/>
              </a:rPr>
              <a:t>: They act as direct linkers between extracellular signals and gene transcription, often residing in the nucleus or translocating there upon activation.</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42200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 Principles of nuclear receptor </a:t>
            </a:r>
            <a:r>
              <a:rPr lang="en-GB" sz="5400" b="1" dirty="0" err="1">
                <a:latin typeface="Calibri Light" panose="020F0302020204030204" pitchFamily="34" charset="0"/>
                <a:ea typeface="Calibri Light" panose="020F0302020204030204" pitchFamily="34" charset="0"/>
                <a:cs typeface="Calibri Light" panose="020F0302020204030204" pitchFamily="34" charset="0"/>
              </a:rPr>
              <a:t>signaling</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BC1E00A8-26DD-42B9-34B9-995D119E29F7}"/>
              </a:ext>
            </a:extLst>
          </p:cNvPr>
          <p:cNvPicPr>
            <a:picLocks noChangeAspect="1"/>
          </p:cNvPicPr>
          <p:nvPr/>
        </p:nvPicPr>
        <p:blipFill>
          <a:blip r:embed="rId3"/>
          <a:stretch>
            <a:fillRect/>
          </a:stretch>
        </p:blipFill>
        <p:spPr>
          <a:xfrm>
            <a:off x="2090191" y="1161039"/>
            <a:ext cx="7496810" cy="5572012"/>
          </a:xfrm>
          <a:prstGeom prst="rect">
            <a:avLst/>
          </a:prstGeom>
        </p:spPr>
      </p:pic>
    </p:spTree>
    <p:extLst>
      <p:ext uri="{BB962C8B-B14F-4D97-AF65-F5344CB8AC3E}">
        <p14:creationId xmlns:p14="http://schemas.microsoft.com/office/powerpoint/2010/main" val="3569318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29894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The Nuclear Receptor Superfamily: Evolution</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4BB497E8-C5B7-DEC7-F2CC-7CC782A3302C}"/>
              </a:ext>
            </a:extLst>
          </p:cNvPr>
          <p:cNvSpPr txBox="1"/>
          <p:nvPr/>
        </p:nvSpPr>
        <p:spPr>
          <a:xfrm>
            <a:off x="692900" y="1856386"/>
            <a:ext cx="10475184" cy="3677289"/>
          </a:xfrm>
          <a:prstGeom prst="rect">
            <a:avLst/>
          </a:prstGeom>
          <a:noFill/>
        </p:spPr>
        <p:txBody>
          <a:bodyPr wrap="square">
            <a:spAutoFit/>
          </a:bodyPr>
          <a:lstStyle/>
          <a:p>
            <a:pPr marL="342900" indent="-342900" algn="just">
              <a:lnSpc>
                <a:spcPct val="120000"/>
              </a:lnSpc>
              <a:buFont typeface="Arial" panose="020B0604020202020204" pitchFamily="34" charset="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Gene Count: The human genome contains 48 protein-coding genes for nuclear receptors.</a:t>
            </a:r>
          </a:p>
          <a:p>
            <a:pPr marL="342900" indent="-342900" algn="just">
              <a:lnSpc>
                <a:spcPct val="120000"/>
              </a:lnSpc>
              <a:buFont typeface="Arial" panose="020B0604020202020204" pitchFamily="34" charset="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Evolutionary History: </a:t>
            </a:r>
          </a:p>
          <a:p>
            <a:pPr marL="800100" lvl="1" indent="-342900" algn="just">
              <a:lnSpc>
                <a:spcPct val="120000"/>
              </a:lnSpc>
              <a:buFont typeface="Wingdings" panose="05000000000000000000" pitchFamily="2" charset="2"/>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Simple eukaryotes (e.g., fungi) lack nuclear receptors.</a:t>
            </a:r>
          </a:p>
          <a:p>
            <a:pPr marL="800100" lvl="1" indent="-342900" algn="just">
              <a:lnSpc>
                <a:spcPct val="120000"/>
              </a:lnSpc>
              <a:buFont typeface="Wingdings" panose="05000000000000000000" pitchFamily="2" charset="2"/>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They likely evolved in metazoans as environmental sensors for nutrients and toxins.</a:t>
            </a:r>
          </a:p>
          <a:p>
            <a:pPr marL="342900" indent="-342900" algn="just">
              <a:lnSpc>
                <a:spcPct val="120000"/>
              </a:lnSpc>
              <a:buFont typeface="Arial" panose="020B0604020202020204" pitchFamily="34" charset="0"/>
              <a:buChar char="•"/>
            </a:pP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315221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The Nuclear Receptor Superfamily: Classification</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A908BBD5-1C44-30B4-44C4-776230C44197}"/>
              </a:ext>
            </a:extLst>
          </p:cNvPr>
          <p:cNvPicPr>
            <a:picLocks noChangeAspect="1"/>
          </p:cNvPicPr>
          <p:nvPr/>
        </p:nvPicPr>
        <p:blipFill>
          <a:blip r:embed="rId2"/>
          <a:stretch>
            <a:fillRect/>
          </a:stretch>
        </p:blipFill>
        <p:spPr>
          <a:xfrm>
            <a:off x="1845018" y="1149680"/>
            <a:ext cx="7872612" cy="5523779"/>
          </a:xfrm>
          <a:prstGeom prst="rect">
            <a:avLst/>
          </a:prstGeom>
        </p:spPr>
      </p:pic>
    </p:spTree>
    <p:extLst>
      <p:ext uri="{BB962C8B-B14F-4D97-AF65-F5344CB8AC3E}">
        <p14:creationId xmlns:p14="http://schemas.microsoft.com/office/powerpoint/2010/main" val="231375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The Nuclear Receptor Superfamily: Classification</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4BB497E8-C5B7-DEC7-F2CC-7CC782A3302C}"/>
              </a:ext>
            </a:extLst>
          </p:cNvPr>
          <p:cNvSpPr txBox="1"/>
          <p:nvPr/>
        </p:nvSpPr>
        <p:spPr>
          <a:xfrm>
            <a:off x="692899" y="1396336"/>
            <a:ext cx="10876249" cy="4494757"/>
          </a:xfrm>
          <a:prstGeom prst="rect">
            <a:avLst/>
          </a:prstGeom>
          <a:noFill/>
        </p:spPr>
        <p:txBody>
          <a:bodyPr wrap="square">
            <a:spAutoFit/>
          </a:bodyPr>
          <a:lstStyle/>
          <a:p>
            <a:pPr algn="just">
              <a:lnSpc>
                <a:spcPct val="120000"/>
              </a:lnSpc>
            </a:pPr>
            <a:r>
              <a:rPr lang="en-US" sz="2400" b="1" dirty="0">
                <a:latin typeface="Calibri Light" panose="020F0302020204030204" pitchFamily="34" charset="0"/>
                <a:ea typeface="Calibri Light" panose="020F0302020204030204" pitchFamily="34" charset="0"/>
                <a:cs typeface="Calibri Light" panose="020F0302020204030204" pitchFamily="34" charset="0"/>
              </a:rPr>
              <a:t>Three Classes</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Endocrine Receptors (12 members)</a:t>
            </a:r>
            <a:r>
              <a:rPr lang="en-US" sz="2400" dirty="0">
                <a:latin typeface="Calibri Light" panose="020F0302020204030204" pitchFamily="34" charset="0"/>
                <a:ea typeface="Calibri Light" panose="020F0302020204030204" pitchFamily="34" charset="0"/>
                <a:cs typeface="Calibri Light" panose="020F0302020204030204" pitchFamily="34" charset="0"/>
              </a:rPr>
              <a:t>: High-affinity receptors (</a:t>
            </a:r>
            <a:r>
              <a:rPr lang="en-US" sz="2400" dirty="0" err="1">
                <a:latin typeface="Calibri Light" panose="020F0302020204030204" pitchFamily="34" charset="0"/>
                <a:ea typeface="Calibri Light" panose="020F0302020204030204" pitchFamily="34" charset="0"/>
                <a:cs typeface="Calibri Light" panose="020F0302020204030204" pitchFamily="34" charset="0"/>
              </a:rPr>
              <a:t>K</a:t>
            </a:r>
            <a:r>
              <a:rPr lang="en-US" sz="2400" baseline="-25000" dirty="0" err="1">
                <a:latin typeface="Calibri Light" panose="020F0302020204030204" pitchFamily="34" charset="0"/>
                <a:ea typeface="Calibri Light" panose="020F0302020204030204" pitchFamily="34" charset="0"/>
                <a:cs typeface="Calibri Light" panose="020F0302020204030204" pitchFamily="34" charset="0"/>
              </a:rPr>
              <a:t>d</a:t>
            </a:r>
            <a:r>
              <a:rPr lang="en-US" sz="2400" dirty="0">
                <a:latin typeface="Calibri Light" panose="020F0302020204030204" pitchFamily="34" charset="0"/>
                <a:ea typeface="Calibri Light" panose="020F0302020204030204" pitchFamily="34" charset="0"/>
                <a:cs typeface="Calibri Light" panose="020F0302020204030204" pitchFamily="34" charset="0"/>
              </a:rPr>
              <a:t> in nanomolar range) for hormones like steroids (estrogen, testosterone, cortisol), Vitamin A/D derivatives, and thyroid hormone (T</a:t>
            </a:r>
            <a:r>
              <a:rPr lang="en-US" sz="2400" baseline="-25000" dirty="0">
                <a:latin typeface="Calibri Light" panose="020F0302020204030204" pitchFamily="34" charset="0"/>
                <a:ea typeface="Calibri Light" panose="020F0302020204030204" pitchFamily="34" charset="0"/>
                <a:cs typeface="Calibri Light" panose="020F0302020204030204" pitchFamily="34" charset="0"/>
              </a:rPr>
              <a:t>3</a:t>
            </a:r>
            <a:r>
              <a:rPr lang="en-US" sz="2400" dirty="0">
                <a:latin typeface="Calibri Light" panose="020F0302020204030204" pitchFamily="34" charset="0"/>
                <a:ea typeface="Calibri Light" panose="020F0302020204030204" pitchFamily="34" charset="0"/>
                <a:cs typeface="Calibri Light" panose="020F0302020204030204" pitchFamily="34" charset="0"/>
              </a:rPr>
              <a:t>).</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Adopted Orphan Receptors</a:t>
            </a:r>
            <a:r>
              <a:rPr lang="en-US" sz="2400" dirty="0">
                <a:latin typeface="Calibri Light" panose="020F0302020204030204" pitchFamily="34" charset="0"/>
                <a:ea typeface="Calibri Light" panose="020F0302020204030204" pitchFamily="34" charset="0"/>
                <a:cs typeface="Calibri Light" panose="020F0302020204030204" pitchFamily="34" charset="0"/>
              </a:rPr>
              <a:t>: Receptors whose ligands were identified later. Ligands are often dietary lipids/metabolites (fatty acids, bile acids) with lower affinity (</a:t>
            </a:r>
            <a:r>
              <a:rPr lang="en-US" sz="2400" dirty="0" err="1">
                <a:latin typeface="Calibri Light" panose="020F0302020204030204" pitchFamily="34" charset="0"/>
                <a:ea typeface="Calibri Light" panose="020F0302020204030204" pitchFamily="34" charset="0"/>
                <a:cs typeface="Calibri Light" panose="020F0302020204030204" pitchFamily="34" charset="0"/>
              </a:rPr>
              <a:t>K</a:t>
            </a:r>
            <a:r>
              <a:rPr lang="en-US" sz="2400" baseline="-25000" dirty="0" err="1">
                <a:latin typeface="Calibri Light" panose="020F0302020204030204" pitchFamily="34" charset="0"/>
                <a:ea typeface="Calibri Light" panose="020F0302020204030204" pitchFamily="34" charset="0"/>
                <a:cs typeface="Calibri Light" panose="020F0302020204030204" pitchFamily="34" charset="0"/>
              </a:rPr>
              <a:t>d</a:t>
            </a:r>
            <a:r>
              <a:rPr lang="en-US" sz="2400" dirty="0">
                <a:latin typeface="Calibri Light" panose="020F0302020204030204" pitchFamily="34" charset="0"/>
                <a:ea typeface="Calibri Light" panose="020F0302020204030204" pitchFamily="34" charset="0"/>
                <a:cs typeface="Calibri Light" panose="020F0302020204030204" pitchFamily="34" charset="0"/>
              </a:rPr>
              <a:t> in micromolar/millimolar range).</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True Orphan Receptors</a:t>
            </a:r>
            <a:r>
              <a:rPr lang="en-US" sz="2400" dirty="0">
                <a:latin typeface="Calibri Light" panose="020F0302020204030204" pitchFamily="34" charset="0"/>
                <a:ea typeface="Calibri Light" panose="020F0302020204030204" pitchFamily="34" charset="0"/>
                <a:cs typeface="Calibri Light" panose="020F0302020204030204" pitchFamily="34" charset="0"/>
              </a:rPr>
              <a:t>: Receptors with no known natural ligand. They often have small ligand-binding pockets and function like constitutive transcription factors regulated by posttranslational modifications.</a:t>
            </a:r>
          </a:p>
        </p:txBody>
      </p:sp>
    </p:spTree>
    <p:extLst>
      <p:ext uri="{BB962C8B-B14F-4D97-AF65-F5344CB8AC3E}">
        <p14:creationId xmlns:p14="http://schemas.microsoft.com/office/powerpoint/2010/main" val="3207699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Structural Domains of Nuclear Receptor</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4BB497E8-C5B7-DEC7-F2CC-7CC782A3302C}"/>
              </a:ext>
            </a:extLst>
          </p:cNvPr>
          <p:cNvSpPr txBox="1"/>
          <p:nvPr/>
        </p:nvSpPr>
        <p:spPr>
          <a:xfrm>
            <a:off x="692899" y="1146429"/>
            <a:ext cx="10876249" cy="5381153"/>
          </a:xfrm>
          <a:prstGeom prst="rect">
            <a:avLst/>
          </a:prstGeom>
          <a:noFill/>
        </p:spPr>
        <p:txBody>
          <a:bodyPr wrap="square">
            <a:spAutoFit/>
          </a:bodyPr>
          <a:lstStyle/>
          <a:p>
            <a:pPr algn="just">
              <a:lnSpc>
                <a:spcPct val="120000"/>
              </a:lnSpc>
            </a:pPr>
            <a:r>
              <a:rPr lang="en-US" sz="2400" b="1" dirty="0">
                <a:latin typeface="Calibri Light" panose="020F0302020204030204" pitchFamily="34" charset="0"/>
                <a:ea typeface="Calibri Light" panose="020F0302020204030204" pitchFamily="34" charset="0"/>
                <a:cs typeface="Calibri Light" panose="020F0302020204030204" pitchFamily="34" charset="0"/>
              </a:rPr>
              <a:t>Key Domains</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DNA-Binding Domain (DBD): </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Highly conserved (66–70 amino acids).</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Contains two Cys4-type zinc fingers that recognize specific DNA sequences.</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Ligand-Binding Domain (LBD):</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Structurally conserved 3-layer sandwich of 11–13 alpha-helices.</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Contains the hydrophobic ligand-binding pocket.</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Helix 12: </a:t>
            </a:r>
            <a:r>
              <a:rPr lang="en-US" sz="2400" dirty="0">
                <a:latin typeface="Calibri Light" panose="020F0302020204030204" pitchFamily="34" charset="0"/>
                <a:ea typeface="Calibri Light" panose="020F0302020204030204" pitchFamily="34" charset="0"/>
                <a:cs typeface="Calibri Light" panose="020F0302020204030204" pitchFamily="34" charset="0"/>
              </a:rPr>
              <a:t>A dynamic C-terminal helix that acts like a "mouse trap," flipping position upon ligand binding to stabilize the molecule.</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N-Terminal Domain: </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Variable length (20–450 residues)</a:t>
            </a:r>
          </a:p>
          <a:p>
            <a:pPr marL="800100" lvl="1" indent="-342900" algn="just">
              <a:lnSpc>
                <a:spcPct val="120000"/>
              </a:lnSpc>
              <a:buFont typeface="Wingdings" panose="05000000000000000000" pitchFamily="2" charset="2"/>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site for ligand-independent activation via posttranslational modifications.</a:t>
            </a:r>
          </a:p>
        </p:txBody>
      </p:sp>
    </p:spTree>
    <p:extLst>
      <p:ext uri="{BB962C8B-B14F-4D97-AF65-F5344CB8AC3E}">
        <p14:creationId xmlns:p14="http://schemas.microsoft.com/office/powerpoint/2010/main" val="1927007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Different molecular interactions of a nuclear receptor</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6588E934-6AE2-B648-DC4F-CB1CF2FE7CD5}"/>
              </a:ext>
            </a:extLst>
          </p:cNvPr>
          <p:cNvPicPr>
            <a:picLocks noChangeAspect="1"/>
          </p:cNvPicPr>
          <p:nvPr/>
        </p:nvPicPr>
        <p:blipFill>
          <a:blip r:embed="rId3"/>
          <a:stretch>
            <a:fillRect/>
          </a:stretch>
        </p:blipFill>
        <p:spPr>
          <a:xfrm>
            <a:off x="1840563" y="1130593"/>
            <a:ext cx="7865711" cy="5559090"/>
          </a:xfrm>
          <a:prstGeom prst="rect">
            <a:avLst/>
          </a:prstGeom>
        </p:spPr>
      </p:pic>
    </p:spTree>
    <p:extLst>
      <p:ext uri="{BB962C8B-B14F-4D97-AF65-F5344CB8AC3E}">
        <p14:creationId xmlns:p14="http://schemas.microsoft.com/office/powerpoint/2010/main" val="3224330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Molecular Interactions of Nuclear Receptor</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A0A7CF88-B224-33C6-74DA-70F70FA66F67}"/>
              </a:ext>
            </a:extLst>
          </p:cNvPr>
          <p:cNvSpPr txBox="1"/>
          <p:nvPr/>
        </p:nvSpPr>
        <p:spPr>
          <a:xfrm>
            <a:off x="418234" y="1344166"/>
            <a:ext cx="6090468" cy="4199611"/>
          </a:xfrm>
          <a:prstGeom prst="rect">
            <a:avLst/>
          </a:prstGeom>
          <a:noFill/>
        </p:spPr>
        <p:txBody>
          <a:bodyPr wrap="square">
            <a:spAutoFit/>
          </a:bodyPr>
          <a:lstStyle/>
          <a:p>
            <a:pPr algn="just">
              <a:lnSpc>
                <a:spcPct val="150000"/>
              </a:lnSpc>
            </a:pPr>
            <a:r>
              <a:rPr lang="en-GB" sz="2000" b="1" dirty="0">
                <a:latin typeface="Calibri Light" panose="020F0302020204030204" pitchFamily="34" charset="0"/>
                <a:ea typeface="Calibri Light" panose="020F0302020204030204" pitchFamily="34" charset="0"/>
                <a:cs typeface="Calibri Light" panose="020F0302020204030204" pitchFamily="34" charset="0"/>
              </a:rPr>
              <a:t>Pocket Volume Differences</a:t>
            </a:r>
          </a:p>
          <a:p>
            <a:pPr marL="457200" indent="-457200" algn="just">
              <a:lnSpc>
                <a:spcPct val="150000"/>
              </a:lnSpc>
              <a:buFont typeface="Arial" panose="020B0604020202020204" pitchFamily="34" charset="0"/>
              <a:buChar char="•"/>
            </a:pPr>
            <a:r>
              <a:rPr lang="en-GB" sz="2000" b="1" dirty="0">
                <a:latin typeface="Calibri Light" panose="020F0302020204030204" pitchFamily="34" charset="0"/>
                <a:ea typeface="Calibri Light" panose="020F0302020204030204" pitchFamily="34" charset="0"/>
                <a:cs typeface="Calibri Light" panose="020F0302020204030204" pitchFamily="34" charset="0"/>
              </a:rPr>
              <a:t>Endocrine Receptors</a:t>
            </a:r>
            <a:r>
              <a:rPr lang="en-GB" sz="2000" dirty="0">
                <a:latin typeface="Calibri Light" panose="020F0302020204030204" pitchFamily="34" charset="0"/>
                <a:ea typeface="Calibri Light" panose="020F0302020204030204" pitchFamily="34" charset="0"/>
                <a:cs typeface="Calibri Light" panose="020F0302020204030204" pitchFamily="34" charset="0"/>
              </a:rPr>
              <a:t>: </a:t>
            </a:r>
          </a:p>
          <a:p>
            <a:pPr marL="914400" lvl="1" indent="-457200" algn="just">
              <a:lnSpc>
                <a:spcPct val="150000"/>
              </a:lnSpc>
              <a:buFont typeface="Wingdings" panose="05000000000000000000" pitchFamily="2" charset="2"/>
              <a:buChar char="§"/>
            </a:pPr>
            <a:r>
              <a:rPr lang="en-GB" sz="2000" dirty="0">
                <a:latin typeface="Calibri Light" panose="020F0302020204030204" pitchFamily="34" charset="0"/>
                <a:ea typeface="Calibri Light" panose="020F0302020204030204" pitchFamily="34" charset="0"/>
                <a:cs typeface="Calibri Light" panose="020F0302020204030204" pitchFamily="34" charset="0"/>
              </a:rPr>
              <a:t>Moderate volume (300–700 Å</a:t>
            </a:r>
            <a:r>
              <a:rPr lang="en-GB" sz="2000" baseline="30000" dirty="0">
                <a:latin typeface="Calibri Light" panose="020F0302020204030204" pitchFamily="34" charset="0"/>
                <a:ea typeface="Calibri Light" panose="020F0302020204030204" pitchFamily="34" charset="0"/>
                <a:cs typeface="Calibri Light" panose="020F0302020204030204" pitchFamily="34" charset="0"/>
              </a:rPr>
              <a:t>3</a:t>
            </a:r>
            <a:r>
              <a:rPr lang="en-GB" sz="2000" dirty="0">
                <a:latin typeface="Calibri Light" panose="020F0302020204030204" pitchFamily="34" charset="0"/>
                <a:ea typeface="Calibri Light" panose="020F0302020204030204" pitchFamily="34" charset="0"/>
                <a:cs typeface="Calibri Light" panose="020F0302020204030204" pitchFamily="34" charset="0"/>
              </a:rPr>
              <a:t>)</a:t>
            </a:r>
          </a:p>
          <a:p>
            <a:pPr marL="914400" lvl="1" indent="-457200" algn="just">
              <a:lnSpc>
                <a:spcPct val="150000"/>
              </a:lnSpc>
              <a:buFont typeface="Wingdings" panose="05000000000000000000" pitchFamily="2" charset="2"/>
              <a:buChar char="§"/>
            </a:pPr>
            <a:r>
              <a:rPr lang="en-GB" sz="2000" dirty="0">
                <a:latin typeface="Calibri Light" panose="020F0302020204030204" pitchFamily="34" charset="0"/>
                <a:ea typeface="Calibri Light" panose="020F0302020204030204" pitchFamily="34" charset="0"/>
                <a:cs typeface="Calibri Light" panose="020F0302020204030204" pitchFamily="34" charset="0"/>
              </a:rPr>
              <a:t>ligand fills 60–80% of the pocket (high specificity/affinity).</a:t>
            </a:r>
          </a:p>
          <a:p>
            <a:pPr marL="457200" indent="-457200" algn="just">
              <a:lnSpc>
                <a:spcPct val="150000"/>
              </a:lnSpc>
              <a:buFont typeface="Arial" panose="020B0604020202020204" pitchFamily="34" charset="0"/>
              <a:buChar char="•"/>
            </a:pPr>
            <a:r>
              <a:rPr lang="en-GB" sz="2000" b="1" dirty="0">
                <a:latin typeface="Calibri Light" panose="020F0302020204030204" pitchFamily="34" charset="0"/>
                <a:ea typeface="Calibri Light" panose="020F0302020204030204" pitchFamily="34" charset="0"/>
                <a:cs typeface="Calibri Light" panose="020F0302020204030204" pitchFamily="34" charset="0"/>
              </a:rPr>
              <a:t>Adopted Orphans</a:t>
            </a:r>
            <a:r>
              <a:rPr lang="en-GB" sz="2000" dirty="0">
                <a:latin typeface="Calibri Light" panose="020F0302020204030204" pitchFamily="34" charset="0"/>
                <a:ea typeface="Calibri Light" panose="020F0302020204030204" pitchFamily="34" charset="0"/>
                <a:cs typeface="Calibri Light" panose="020F0302020204030204" pitchFamily="34" charset="0"/>
              </a:rPr>
              <a:t>: </a:t>
            </a:r>
          </a:p>
          <a:p>
            <a:pPr marL="914400" lvl="1" indent="-457200" algn="just">
              <a:lnSpc>
                <a:spcPct val="150000"/>
              </a:lnSpc>
              <a:buFont typeface="Wingdings" panose="05000000000000000000" pitchFamily="2" charset="2"/>
              <a:buChar char="§"/>
            </a:pPr>
            <a:r>
              <a:rPr lang="en-GB" sz="2000" dirty="0">
                <a:latin typeface="Calibri Light" panose="020F0302020204030204" pitchFamily="34" charset="0"/>
                <a:ea typeface="Calibri Light" panose="020F0302020204030204" pitchFamily="34" charset="0"/>
                <a:cs typeface="Calibri Light" panose="020F0302020204030204" pitchFamily="34" charset="0"/>
              </a:rPr>
              <a:t>Large volume (up to 1400 Å</a:t>
            </a:r>
            <a:r>
              <a:rPr lang="en-GB" sz="2000" baseline="30000" dirty="0">
                <a:latin typeface="Calibri Light" panose="020F0302020204030204" pitchFamily="34" charset="0"/>
                <a:ea typeface="Calibri Light" panose="020F0302020204030204" pitchFamily="34" charset="0"/>
                <a:cs typeface="Calibri Light" panose="020F0302020204030204" pitchFamily="34" charset="0"/>
              </a:rPr>
              <a:t>3</a:t>
            </a:r>
            <a:r>
              <a:rPr lang="en-GB" sz="2000" dirty="0">
                <a:latin typeface="Calibri Light" panose="020F0302020204030204" pitchFamily="34" charset="0"/>
                <a:ea typeface="Calibri Light" panose="020F0302020204030204" pitchFamily="34" charset="0"/>
                <a:cs typeface="Calibri Light" panose="020F0302020204030204" pitchFamily="34" charset="0"/>
              </a:rPr>
              <a:t>)</a:t>
            </a:r>
          </a:p>
          <a:p>
            <a:pPr marL="914400" lvl="1" indent="-457200" algn="just">
              <a:lnSpc>
                <a:spcPct val="150000"/>
              </a:lnSpc>
              <a:buFont typeface="Wingdings" panose="05000000000000000000" pitchFamily="2" charset="2"/>
              <a:buChar char="§"/>
            </a:pPr>
            <a:r>
              <a:rPr lang="en-GB" sz="2000" dirty="0">
                <a:latin typeface="Calibri Light" panose="020F0302020204030204" pitchFamily="34" charset="0"/>
                <a:ea typeface="Calibri Light" panose="020F0302020204030204" pitchFamily="34" charset="0"/>
                <a:cs typeface="Calibri Light" panose="020F0302020204030204" pitchFamily="34" charset="0"/>
              </a:rPr>
              <a:t>Ligand fills only 25–50%, allowing binding of diverse promiscuous ligands.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6" name="Picture 5">
            <a:extLst>
              <a:ext uri="{FF2B5EF4-FFF2-40B4-BE49-F238E27FC236}">
                <a16:creationId xmlns:a16="http://schemas.microsoft.com/office/drawing/2014/main" id="{A1AF37B8-5A2C-DD4D-1DCA-781D07D0BA50}"/>
              </a:ext>
            </a:extLst>
          </p:cNvPr>
          <p:cNvPicPr>
            <a:picLocks noChangeAspect="1"/>
          </p:cNvPicPr>
          <p:nvPr/>
        </p:nvPicPr>
        <p:blipFill>
          <a:blip r:embed="rId3"/>
          <a:stretch>
            <a:fillRect/>
          </a:stretch>
        </p:blipFill>
        <p:spPr>
          <a:xfrm>
            <a:off x="6911951" y="2200391"/>
            <a:ext cx="5037719" cy="2564177"/>
          </a:xfrm>
          <a:prstGeom prst="rect">
            <a:avLst/>
          </a:prstGeom>
        </p:spPr>
      </p:pic>
    </p:spTree>
    <p:extLst>
      <p:ext uri="{BB962C8B-B14F-4D97-AF65-F5344CB8AC3E}">
        <p14:creationId xmlns:p14="http://schemas.microsoft.com/office/powerpoint/2010/main" val="322573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Molecular Interactions of Nuclear Receptor</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EC7C7BB1-92F7-47C2-7AA5-8ED88FD5AF24}"/>
              </a:ext>
            </a:extLst>
          </p:cNvPr>
          <p:cNvPicPr>
            <a:picLocks noChangeAspect="1"/>
          </p:cNvPicPr>
          <p:nvPr/>
        </p:nvPicPr>
        <p:blipFill>
          <a:blip r:embed="rId3"/>
          <a:stretch>
            <a:fillRect/>
          </a:stretch>
        </p:blipFill>
        <p:spPr>
          <a:xfrm>
            <a:off x="1067746" y="1253691"/>
            <a:ext cx="9961848" cy="5166459"/>
          </a:xfrm>
          <a:prstGeom prst="rect">
            <a:avLst/>
          </a:prstGeom>
        </p:spPr>
      </p:pic>
    </p:spTree>
    <p:extLst>
      <p:ext uri="{BB962C8B-B14F-4D97-AF65-F5344CB8AC3E}">
        <p14:creationId xmlns:p14="http://schemas.microsoft.com/office/powerpoint/2010/main" val="494089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DNA Binding Specificity: The "1-to-5 Rule"</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3F84632F-9A47-54BC-54D3-06041E0920CF}"/>
              </a:ext>
            </a:extLst>
          </p:cNvPr>
          <p:cNvSpPr txBox="1"/>
          <p:nvPr/>
        </p:nvSpPr>
        <p:spPr>
          <a:xfrm>
            <a:off x="709937" y="976798"/>
            <a:ext cx="10751299" cy="5450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Dimerization</a:t>
            </a:r>
          </a:p>
          <a:p>
            <a:pPr marL="742950" lvl="1" indent="-285750">
              <a:lnSpc>
                <a:spcPct val="150000"/>
              </a:lnSpc>
              <a:buFont typeface="Wingdings" panose="05000000000000000000" pitchFamily="2" charset="2"/>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Most nuclear receptors bind DNA as dimers.</a:t>
            </a:r>
          </a:p>
          <a:p>
            <a:pPr marL="742950" lvl="1" indent="-285750">
              <a:lnSpc>
                <a:spcPct val="150000"/>
              </a:lnSpc>
              <a:buFont typeface="Wingdings" panose="05000000000000000000" pitchFamily="2" charset="2"/>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Homodimers: Steroid receptors (GR, AR, MR, PGR) bind inverted repeats of </a:t>
            </a:r>
            <a:r>
              <a:rPr lang="en-US" dirty="0" err="1">
                <a:latin typeface="Calibri Light" panose="020F0302020204030204" pitchFamily="34" charset="0"/>
                <a:ea typeface="Calibri Light" panose="020F0302020204030204" pitchFamily="34" charset="0"/>
                <a:cs typeface="Calibri Light" panose="020F0302020204030204" pitchFamily="34" charset="0"/>
              </a:rPr>
              <a:t>hexameric</a:t>
            </a:r>
            <a:r>
              <a:rPr lang="en-US" dirty="0">
                <a:latin typeface="Calibri Light" panose="020F0302020204030204" pitchFamily="34" charset="0"/>
                <a:ea typeface="Calibri Light" panose="020F0302020204030204" pitchFamily="34" charset="0"/>
                <a:cs typeface="Calibri Light" panose="020F0302020204030204" pitchFamily="34" charset="0"/>
              </a:rPr>
              <a:t> motifs.</a:t>
            </a:r>
          </a:p>
          <a:p>
            <a:pPr marL="742950" lvl="1" indent="-285750">
              <a:lnSpc>
                <a:spcPct val="150000"/>
              </a:lnSpc>
              <a:buFont typeface="Wingdings" panose="05000000000000000000" pitchFamily="2" charset="2"/>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Heterodimers: 14 receptors (including PPAR, LXR, VDR, THR, RAR) obligatorily partner with RXR (Retinoid X Receptor).</a:t>
            </a:r>
          </a:p>
          <a:p>
            <a:pPr marL="285750" indent="-285750">
              <a:lnSpc>
                <a:spcPct val="150000"/>
              </a:lnSpc>
              <a:buFont typeface="Arial" panose="020B0604020202020204" pitchFamily="34" charset="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The 1-to-5 Rule</a:t>
            </a:r>
          </a:p>
          <a:p>
            <a:pPr marL="742950" lvl="1" indent="-285750">
              <a:lnSpc>
                <a:spcPct val="150000"/>
              </a:lnSpc>
              <a:buFont typeface="Wingdings" panose="05000000000000000000" pitchFamily="2" charset="2"/>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RXR heterodimers bind </a:t>
            </a:r>
            <a:r>
              <a:rPr lang="en-US" b="1" dirty="0">
                <a:latin typeface="Calibri Light" panose="020F0302020204030204" pitchFamily="34" charset="0"/>
                <a:ea typeface="Calibri Light" panose="020F0302020204030204" pitchFamily="34" charset="0"/>
                <a:cs typeface="Calibri Light" panose="020F0302020204030204" pitchFamily="34" charset="0"/>
              </a:rPr>
              <a:t>Direct Repeats (DR)</a:t>
            </a:r>
            <a:r>
              <a:rPr lang="en-US" dirty="0">
                <a:latin typeface="Calibri Light" panose="020F0302020204030204" pitchFamily="34" charset="0"/>
                <a:ea typeface="Calibri Light" panose="020F0302020204030204" pitchFamily="34" charset="0"/>
                <a:cs typeface="Calibri Light" panose="020F0302020204030204" pitchFamily="34" charset="0"/>
              </a:rPr>
              <a:t> of the motif AGGTCA. </a:t>
            </a:r>
          </a:p>
          <a:p>
            <a:pPr marL="742950" lvl="1" indent="-285750">
              <a:lnSpc>
                <a:spcPct val="150000"/>
              </a:lnSpc>
              <a:buFont typeface="Wingdings" panose="05000000000000000000" pitchFamily="2" charset="2"/>
              <a:buChar char="§"/>
            </a:pPr>
            <a:r>
              <a:rPr lang="en-US" dirty="0">
                <a:latin typeface="Calibri Light" panose="020F0302020204030204" pitchFamily="34" charset="0"/>
                <a:ea typeface="Calibri Light" panose="020F0302020204030204" pitchFamily="34" charset="0"/>
                <a:cs typeface="Calibri Light" panose="020F0302020204030204" pitchFamily="34" charset="0"/>
              </a:rPr>
              <a:t>Specificity is determined by the number of spacer nucleotides:</a:t>
            </a:r>
          </a:p>
          <a:p>
            <a:pPr marL="1200150" lvl="2" indent="-285750">
              <a:lnSpc>
                <a:spcPct val="150000"/>
              </a:lnSpc>
              <a:buFont typeface="Courier New" panose="02070309020205020404" pitchFamily="49" charset="0"/>
              <a:buChar char="o"/>
            </a:pPr>
            <a:r>
              <a:rPr lang="en-US" dirty="0">
                <a:latin typeface="Calibri Light" panose="020F0302020204030204" pitchFamily="34" charset="0"/>
                <a:ea typeface="Calibri Light" panose="020F0302020204030204" pitchFamily="34" charset="0"/>
                <a:cs typeface="Calibri Light" panose="020F0302020204030204" pitchFamily="34" charset="0"/>
              </a:rPr>
              <a:t>DR1: PPAR-RXR (Peroxisome Proliferator-Activated Receptor)</a:t>
            </a:r>
          </a:p>
          <a:p>
            <a:pPr marL="1200150" lvl="2" indent="-285750">
              <a:lnSpc>
                <a:spcPct val="150000"/>
              </a:lnSpc>
              <a:buFont typeface="Courier New" panose="02070309020205020404" pitchFamily="49" charset="0"/>
              <a:buChar char="o"/>
            </a:pPr>
            <a:r>
              <a:rPr lang="en-US" dirty="0">
                <a:latin typeface="Calibri Light" panose="020F0302020204030204" pitchFamily="34" charset="0"/>
                <a:ea typeface="Calibri Light" panose="020F0302020204030204" pitchFamily="34" charset="0"/>
                <a:cs typeface="Calibri Light" panose="020F0302020204030204" pitchFamily="34" charset="0"/>
              </a:rPr>
              <a:t>DR2: (Less common)</a:t>
            </a:r>
          </a:p>
          <a:p>
            <a:pPr marL="1200150" lvl="2" indent="-285750">
              <a:lnSpc>
                <a:spcPct val="150000"/>
              </a:lnSpc>
              <a:buFont typeface="Courier New" panose="02070309020205020404" pitchFamily="49" charset="0"/>
              <a:buChar char="o"/>
            </a:pPr>
            <a:r>
              <a:rPr lang="en-US" dirty="0">
                <a:latin typeface="Calibri Light" panose="020F0302020204030204" pitchFamily="34" charset="0"/>
                <a:ea typeface="Calibri Light" panose="020F0302020204030204" pitchFamily="34" charset="0"/>
                <a:cs typeface="Calibri Light" panose="020F0302020204030204" pitchFamily="34" charset="0"/>
              </a:rPr>
              <a:t>DR3: VDR-RXR (Vitamin D Receptor)</a:t>
            </a:r>
          </a:p>
          <a:p>
            <a:pPr marL="1200150" lvl="2" indent="-285750">
              <a:lnSpc>
                <a:spcPct val="150000"/>
              </a:lnSpc>
              <a:buFont typeface="Courier New" panose="02070309020205020404" pitchFamily="49" charset="0"/>
              <a:buChar char="o"/>
            </a:pPr>
            <a:r>
              <a:rPr lang="en-US" dirty="0">
                <a:latin typeface="Calibri Light" panose="020F0302020204030204" pitchFamily="34" charset="0"/>
                <a:ea typeface="Calibri Light" panose="020F0302020204030204" pitchFamily="34" charset="0"/>
                <a:cs typeface="Calibri Light" panose="020F0302020204030204" pitchFamily="34" charset="0"/>
              </a:rPr>
              <a:t>DR4: THR-RXR (Thyroid Hormone Receptor)</a:t>
            </a:r>
          </a:p>
          <a:p>
            <a:pPr marL="1200150" lvl="2" indent="-285750">
              <a:lnSpc>
                <a:spcPct val="150000"/>
              </a:lnSpc>
              <a:buFont typeface="Courier New" panose="02070309020205020404" pitchFamily="49" charset="0"/>
              <a:buChar char="o"/>
            </a:pPr>
            <a:r>
              <a:rPr lang="en-US" dirty="0">
                <a:latin typeface="Calibri Light" panose="020F0302020204030204" pitchFamily="34" charset="0"/>
                <a:ea typeface="Calibri Light" panose="020F0302020204030204" pitchFamily="34" charset="0"/>
                <a:cs typeface="Calibri Light" panose="020F0302020204030204" pitchFamily="34" charset="0"/>
              </a:rPr>
              <a:t>DR5: RAR-RXR (Retinoic Acid Receptor)</a:t>
            </a:r>
          </a:p>
        </p:txBody>
      </p:sp>
    </p:spTree>
    <p:extLst>
      <p:ext uri="{BB962C8B-B14F-4D97-AF65-F5344CB8AC3E}">
        <p14:creationId xmlns:p14="http://schemas.microsoft.com/office/powerpoint/2010/main" val="1974847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BBC3C6-1AE7-702D-8E55-D91642B23284}"/>
              </a:ext>
            </a:extLst>
          </p:cNvPr>
          <p:cNvPicPr>
            <a:picLocks noChangeAspect="1"/>
          </p:cNvPicPr>
          <p:nvPr/>
        </p:nvPicPr>
        <p:blipFill>
          <a:blip r:embed="rId3"/>
          <a:stretch>
            <a:fillRect/>
          </a:stretch>
        </p:blipFill>
        <p:spPr>
          <a:xfrm>
            <a:off x="1329993" y="111174"/>
            <a:ext cx="9319077" cy="6672987"/>
          </a:xfrm>
          <a:prstGeom prst="rect">
            <a:avLst/>
          </a:prstGeom>
        </p:spPr>
      </p:pic>
    </p:spTree>
    <p:extLst>
      <p:ext uri="{BB962C8B-B14F-4D97-AF65-F5344CB8AC3E}">
        <p14:creationId xmlns:p14="http://schemas.microsoft.com/office/powerpoint/2010/main" val="2753367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Mechanism of Transcriptional Activation</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3F84632F-9A47-54BC-54D3-06041E0920CF}"/>
              </a:ext>
            </a:extLst>
          </p:cNvPr>
          <p:cNvSpPr txBox="1"/>
          <p:nvPr/>
        </p:nvSpPr>
        <p:spPr>
          <a:xfrm>
            <a:off x="698577" y="1152869"/>
            <a:ext cx="10751299" cy="5035353"/>
          </a:xfrm>
          <a:prstGeom prst="rect">
            <a:avLst/>
          </a:prstGeom>
          <a:noFill/>
        </p:spPr>
        <p:txBody>
          <a:bodyPr wrap="square">
            <a:spAutoFit/>
          </a:bodyPr>
          <a:lstStyle/>
          <a:p>
            <a:pPr algn="just">
              <a:lnSpc>
                <a:spcPct val="150000"/>
              </a:lnSpc>
            </a:pPr>
            <a:r>
              <a:rPr lang="en-US" b="1" dirty="0">
                <a:latin typeface="Calibri Light" panose="020F0302020204030204" pitchFamily="34" charset="0"/>
                <a:ea typeface="Calibri Light" panose="020F0302020204030204" pitchFamily="34" charset="0"/>
                <a:cs typeface="Calibri Light" panose="020F0302020204030204" pitchFamily="34" charset="0"/>
              </a:rPr>
              <a:t>The 3-Step Transactivation Process</a:t>
            </a:r>
          </a:p>
          <a:p>
            <a:pPr marL="285750" indent="-285750" algn="just">
              <a:lnSpc>
                <a:spcPct val="150000"/>
              </a:lnSpc>
              <a:buFont typeface="Arial" panose="020B0604020202020204" pitchFamily="34" charset="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Repression (Absence of Ligand): </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DNA-bound nuclear receptors recruit Corepressors (e.g., NCOR1, NCOR2).</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These complexes recruit HDACs (Histone Deacetylases), leading to local chromatin condensation and gene silencing.</a:t>
            </a:r>
          </a:p>
          <a:p>
            <a:pPr marL="285750" indent="-285750" algn="just">
              <a:lnSpc>
                <a:spcPct val="150000"/>
              </a:lnSpc>
              <a:buFont typeface="Arial" panose="020B0604020202020204" pitchFamily="34" charset="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Activation (Ligand Binding): </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Ligand binding triggers a conformational change (Helix 12 flip), displacing corepressors.</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Coactivators (e.g., NCOA family) are recruited, which bring in HATs (Histone Acetyltransferases) to open the chromatin (de-repression).</a:t>
            </a:r>
          </a:p>
          <a:p>
            <a:pPr marL="285750" indent="-285750" algn="just">
              <a:lnSpc>
                <a:spcPct val="150000"/>
              </a:lnSpc>
              <a:buFont typeface="Arial" panose="020B0604020202020204" pitchFamily="34" charset="0"/>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Initiation: </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Coactivators are replaced by the Mediator (MED) complex.</a:t>
            </a:r>
          </a:p>
          <a:p>
            <a:pPr marL="742950" lvl="1" indent="-285750" algn="just">
              <a:lnSpc>
                <a:spcPct val="150000"/>
              </a:lnSpc>
              <a:buFont typeface="Wingdings" panose="05000000000000000000" pitchFamily="2" charset="2"/>
              <a:buChar char="§"/>
            </a:pPr>
            <a:r>
              <a:rPr lang="en-US" b="1" dirty="0">
                <a:latin typeface="Calibri Light" panose="020F0302020204030204" pitchFamily="34" charset="0"/>
                <a:ea typeface="Calibri Light" panose="020F0302020204030204" pitchFamily="34" charset="0"/>
                <a:cs typeface="Calibri Light" panose="020F0302020204030204" pitchFamily="34" charset="0"/>
              </a:rPr>
              <a:t>This connects the receptor to the basal transcriptional machinery (Pol II), initiating transcription.</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636895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1AAB8-7EF7-7D81-27EC-B8D089BB0DD4}"/>
              </a:ext>
            </a:extLst>
          </p:cNvPr>
          <p:cNvPicPr>
            <a:picLocks noChangeAspect="1"/>
          </p:cNvPicPr>
          <p:nvPr/>
        </p:nvPicPr>
        <p:blipFill>
          <a:blip r:embed="rId3"/>
          <a:stretch>
            <a:fillRect/>
          </a:stretch>
        </p:blipFill>
        <p:spPr>
          <a:xfrm>
            <a:off x="15900" y="0"/>
            <a:ext cx="8877441" cy="6858000"/>
          </a:xfrm>
          <a:prstGeom prst="rect">
            <a:avLst/>
          </a:prstGeom>
        </p:spPr>
      </p:pic>
      <p:sp>
        <p:nvSpPr>
          <p:cNvPr id="7" name="TextBox 6">
            <a:extLst>
              <a:ext uri="{FF2B5EF4-FFF2-40B4-BE49-F238E27FC236}">
                <a16:creationId xmlns:a16="http://schemas.microsoft.com/office/drawing/2014/main" id="{943EE72D-FAAF-D964-2839-742D2534076B}"/>
              </a:ext>
            </a:extLst>
          </p:cNvPr>
          <p:cNvSpPr txBox="1"/>
          <p:nvPr/>
        </p:nvSpPr>
        <p:spPr>
          <a:xfrm>
            <a:off x="9121282" y="2231068"/>
            <a:ext cx="2852529" cy="2308324"/>
          </a:xfrm>
          <a:prstGeom prst="rect">
            <a:avLst/>
          </a:prstGeom>
          <a:noFill/>
        </p:spPr>
        <p:txBody>
          <a:bodyPr wrap="square">
            <a:spAutoFit/>
          </a:bodyPr>
          <a:lstStyle/>
          <a:p>
            <a:pPr algn="just"/>
            <a:r>
              <a:rPr lang="en-GB" b="1" dirty="0">
                <a:latin typeface="Calibri Light" panose="020F0302020204030204" pitchFamily="34" charset="0"/>
              </a:rPr>
              <a:t>Interaction of nuclear receptors with cofactors. </a:t>
            </a:r>
          </a:p>
          <a:p>
            <a:pPr algn="just"/>
            <a:r>
              <a:rPr lang="en-GB" dirty="0">
                <a:latin typeface="Calibri Light" panose="020F0302020204030204" pitchFamily="34" charset="0"/>
              </a:rPr>
              <a:t>A solvent excluded surface (Connolly surface) representation of a nuclear receptor LBD in the absence (top) and presence (bottom) of a ligand</a:t>
            </a:r>
            <a:endParaRPr lang="en-US" dirty="0">
              <a:latin typeface="Calibri Light" panose="020F0302020204030204" pitchFamily="34" charset="0"/>
            </a:endParaRPr>
          </a:p>
        </p:txBody>
      </p:sp>
    </p:spTree>
    <p:extLst>
      <p:ext uri="{BB962C8B-B14F-4D97-AF65-F5344CB8AC3E}">
        <p14:creationId xmlns:p14="http://schemas.microsoft.com/office/powerpoint/2010/main" val="202070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Nuclear Receptors as Nutrient Sensors</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3F84632F-9A47-54BC-54D3-06041E0920CF}"/>
              </a:ext>
            </a:extLst>
          </p:cNvPr>
          <p:cNvSpPr txBox="1"/>
          <p:nvPr/>
        </p:nvSpPr>
        <p:spPr>
          <a:xfrm>
            <a:off x="953179" y="1658344"/>
            <a:ext cx="10081120" cy="2802690"/>
          </a:xfrm>
          <a:prstGeom prst="rect">
            <a:avLst/>
          </a:prstGeom>
          <a:noFill/>
        </p:spPr>
        <p:txBody>
          <a:bodyPr wrap="square">
            <a:spAutoFit/>
          </a:bodyPr>
          <a:lstStyle/>
          <a:p>
            <a:pPr algn="just">
              <a:lnSpc>
                <a:spcPct val="150000"/>
              </a:lnSpc>
            </a:pPr>
            <a:r>
              <a:rPr lang="en-US" sz="2400" b="1" dirty="0">
                <a:latin typeface="Calibri Light" panose="020F0302020204030204" pitchFamily="34" charset="0"/>
                <a:ea typeface="Calibri Light" panose="020F0302020204030204" pitchFamily="34" charset="0"/>
                <a:cs typeface="Calibri Light" panose="020F0302020204030204" pitchFamily="34" charset="0"/>
              </a:rPr>
              <a:t>Metabolic Integration</a:t>
            </a:r>
          </a:p>
          <a:p>
            <a:pPr marL="800100" lvl="1" indent="-342900" algn="just">
              <a:lnSpc>
                <a:spcPct val="15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Adopted orphan receptors</a:t>
            </a:r>
            <a:r>
              <a:rPr lang="en-US" sz="2400" dirty="0">
                <a:latin typeface="Calibri Light" panose="020F0302020204030204" pitchFamily="34" charset="0"/>
                <a:ea typeface="Calibri Light" panose="020F0302020204030204" pitchFamily="34" charset="0"/>
                <a:cs typeface="Calibri Light" panose="020F0302020204030204" pitchFamily="34" charset="0"/>
              </a:rPr>
              <a:t> act as sensors for micro- and macronutrients, regulating lipid, glucose, and energy metabolism.</a:t>
            </a:r>
          </a:p>
          <a:p>
            <a:pPr marL="800100" lvl="1" indent="-342900" algn="just">
              <a:lnSpc>
                <a:spcPct val="15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Triangle Regulatory Circuits</a:t>
            </a:r>
            <a:r>
              <a:rPr lang="en-US" sz="2400" dirty="0">
                <a:latin typeface="Calibri Light" panose="020F0302020204030204" pitchFamily="34" charset="0"/>
                <a:ea typeface="Calibri Light" panose="020F0302020204030204" pitchFamily="34" charset="0"/>
                <a:cs typeface="Calibri Light" panose="020F0302020204030204" pitchFamily="34" charset="0"/>
              </a:rPr>
              <a:t>: A metabolite activates a receptor </a:t>
            </a:r>
            <a:r>
              <a:rPr lang="en-US" sz="2400" dirty="0">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lang="en-US" sz="2400" dirty="0">
                <a:latin typeface="Calibri Light" panose="020F0302020204030204" pitchFamily="34" charset="0"/>
                <a:ea typeface="Calibri Light" panose="020F0302020204030204" pitchFamily="34" charset="0"/>
                <a:cs typeface="Calibri Light" panose="020F0302020204030204" pitchFamily="34" charset="0"/>
              </a:rPr>
              <a:t> receptor regulates the enzyme/transporter </a:t>
            </a:r>
            <a:r>
              <a:rPr lang="en-US" sz="2400" dirty="0">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lang="en-US" sz="2400" dirty="0">
                <a:latin typeface="Calibri Light" panose="020F0302020204030204" pitchFamily="34" charset="0"/>
                <a:ea typeface="Calibri Light" panose="020F0302020204030204" pitchFamily="34" charset="0"/>
                <a:cs typeface="Calibri Light" panose="020F0302020204030204" pitchFamily="34" charset="0"/>
              </a:rPr>
              <a:t> enzyme controls metabolite levels.</a:t>
            </a:r>
          </a:p>
        </p:txBody>
      </p:sp>
    </p:spTree>
    <p:extLst>
      <p:ext uri="{BB962C8B-B14F-4D97-AF65-F5344CB8AC3E}">
        <p14:creationId xmlns:p14="http://schemas.microsoft.com/office/powerpoint/2010/main" val="254474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7F9577-164E-30C5-8B21-4E7D95B6731F}"/>
              </a:ext>
            </a:extLst>
          </p:cNvPr>
          <p:cNvPicPr>
            <a:picLocks noChangeAspect="1"/>
          </p:cNvPicPr>
          <p:nvPr/>
        </p:nvPicPr>
        <p:blipFill>
          <a:blip r:embed="rId3"/>
          <a:stretch>
            <a:fillRect/>
          </a:stretch>
        </p:blipFill>
        <p:spPr>
          <a:xfrm>
            <a:off x="439469" y="39496"/>
            <a:ext cx="11345502" cy="6795783"/>
          </a:xfrm>
          <a:prstGeom prst="rect">
            <a:avLst/>
          </a:prstGeom>
        </p:spPr>
      </p:pic>
    </p:spTree>
    <p:extLst>
      <p:ext uri="{BB962C8B-B14F-4D97-AF65-F5344CB8AC3E}">
        <p14:creationId xmlns:p14="http://schemas.microsoft.com/office/powerpoint/2010/main" val="909596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17199"/>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Nuclear Receptors as Nutrient Sensors</a:t>
            </a:r>
            <a:endParaRPr lang="en-GB" sz="4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3F84632F-9A47-54BC-54D3-06041E0920CF}"/>
              </a:ext>
            </a:extLst>
          </p:cNvPr>
          <p:cNvSpPr txBox="1"/>
          <p:nvPr/>
        </p:nvSpPr>
        <p:spPr>
          <a:xfrm>
            <a:off x="953179" y="1022240"/>
            <a:ext cx="10081120" cy="5381153"/>
          </a:xfrm>
          <a:prstGeom prst="rect">
            <a:avLst/>
          </a:prstGeom>
          <a:noFill/>
        </p:spPr>
        <p:txBody>
          <a:bodyPr wrap="square">
            <a:spAutoFit/>
          </a:bodyPr>
          <a:lstStyle/>
          <a:p>
            <a:pPr algn="just">
              <a:lnSpc>
                <a:spcPct val="120000"/>
              </a:lnSpc>
            </a:pPr>
            <a:r>
              <a:rPr lang="en-US" sz="2400" b="1" dirty="0">
                <a:latin typeface="Calibri Light" panose="020F0302020204030204" pitchFamily="34" charset="0"/>
                <a:ea typeface="Calibri Light" panose="020F0302020204030204" pitchFamily="34" charset="0"/>
                <a:cs typeface="Calibri Light" panose="020F0302020204030204" pitchFamily="34" charset="0"/>
              </a:rPr>
              <a:t>Key Metabolic Receptors:</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PPARs (Fatty Acid Sensors): </a:t>
            </a:r>
          </a:p>
          <a:p>
            <a:pPr marL="800100" lvl="1" indent="-342900" algn="just">
              <a:lnSpc>
                <a:spcPct val="120000"/>
              </a:lnSpc>
              <a:buFont typeface="Wingdings" panose="05000000000000000000" pitchFamily="2" charset="2"/>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PPAR alpha: Liver/heart. Regulates fatty acid oxidation (fasting response) and ketogenesis.</a:t>
            </a:r>
          </a:p>
          <a:p>
            <a:pPr marL="800100" lvl="1" indent="-342900" algn="just">
              <a:lnSpc>
                <a:spcPct val="120000"/>
              </a:lnSpc>
              <a:buFont typeface="Wingdings" panose="05000000000000000000" pitchFamily="2" charset="2"/>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PPAR gamma: Adipose tissue. Master regulator of adipogenesis and insulin sensitivity.</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LXRs (Oxysterol Sensors): </a:t>
            </a:r>
          </a:p>
          <a:p>
            <a:pPr marL="800100" lvl="1" indent="-342900" algn="just">
              <a:lnSpc>
                <a:spcPct val="120000"/>
              </a:lnSpc>
              <a:buFont typeface="Wingdings" panose="05000000000000000000" pitchFamily="2" charset="2"/>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Promote reverse cholesterol transport (via ABCA1, ABCG1) to eliminate excess cholesterol.</a:t>
            </a:r>
          </a:p>
          <a:p>
            <a:pPr marL="800100" lvl="1" indent="-342900" algn="just">
              <a:lnSpc>
                <a:spcPct val="120000"/>
              </a:lnSpc>
              <a:buFont typeface="Wingdings" panose="05000000000000000000" pitchFamily="2" charset="2"/>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Stimulate lipogenesis (SREBF1, FASN) to buffer free cholesterol.</a:t>
            </a:r>
          </a:p>
          <a:p>
            <a:pPr marL="342900" indent="-342900" algn="just">
              <a:lnSpc>
                <a:spcPct val="120000"/>
              </a:lnSpc>
              <a:buFont typeface="Arial" panose="020B0604020202020204" pitchFamily="34" charset="0"/>
              <a:buChar char="•"/>
            </a:pPr>
            <a:r>
              <a:rPr lang="en-US" sz="2400" b="1" dirty="0">
                <a:latin typeface="Calibri Light" panose="020F0302020204030204" pitchFamily="34" charset="0"/>
                <a:ea typeface="Calibri Light" panose="020F0302020204030204" pitchFamily="34" charset="0"/>
                <a:cs typeface="Calibri Light" panose="020F0302020204030204" pitchFamily="34" charset="0"/>
              </a:rPr>
              <a:t>FXR (Bile Acid Sensor): Protects liver from bile acid toxicity by inhibiting their synthesis (CYP7A1) and promoting excretion.</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851500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Clinical Relevance and Therapeutics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558069" y="1106170"/>
            <a:ext cx="11056515" cy="5584606"/>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Pharmacology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Nuclear receptors are major drug targets due to their lipophilic ligand pockets.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Thiazolidinediones (e.g., Rosiglitazone): Activate PPAR-gamma to treat Type 2 Diabetes (improve insulin sensitivity).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Fibrates: Activate PPAR-alpha to treat hyperlipidemia.</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Tamoxifen: ER antagonist used in breast cancer therapy.</a:t>
            </a:r>
          </a:p>
          <a:p>
            <a:pPr marR="0" lvl="0" algn="just"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Inflammation and Immunity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Many NRs (GR, VDR, PPAR, LXR) exert anti-inflammatory effects.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Transrepression</a:t>
            </a: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They inhibit inflammatory transcription factors like NF-</a:t>
            </a:r>
            <a:r>
              <a:rPr kumimoji="0" lang="en-US" altLang="en-US" sz="20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kappaB</a:t>
            </a: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and AP1 through protein-protein interactions, reducing cytokine production.</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Vitamin D (VDR): Promotes antimicrobial peptide expression (CAMP) in macrophages to fight infection (e.g., tuberculosis).</a:t>
            </a:r>
          </a:p>
        </p:txBody>
      </p:sp>
    </p:spTree>
    <p:extLst>
      <p:ext uri="{BB962C8B-B14F-4D97-AF65-F5344CB8AC3E}">
        <p14:creationId xmlns:p14="http://schemas.microsoft.com/office/powerpoint/2010/main" val="3689598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BE099-6B27-9F55-9FD5-C28CEAE85BF7}"/>
              </a:ext>
            </a:extLst>
          </p:cNvPr>
          <p:cNvPicPr>
            <a:picLocks noChangeAspect="1"/>
          </p:cNvPicPr>
          <p:nvPr/>
        </p:nvPicPr>
        <p:blipFill>
          <a:blip r:embed="rId3"/>
          <a:stretch>
            <a:fillRect/>
          </a:stretch>
        </p:blipFill>
        <p:spPr>
          <a:xfrm>
            <a:off x="1317206" y="158285"/>
            <a:ext cx="9144443" cy="6165835"/>
          </a:xfrm>
          <a:prstGeom prst="rect">
            <a:avLst/>
          </a:prstGeom>
        </p:spPr>
      </p:pic>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DOI:</a:t>
            </a:r>
            <a:r>
              <a:rPr lang="en-US" sz="1400" b="0" i="0" u="sng" dirty="0">
                <a:effectLst/>
                <a:latin typeface="Calibri Light" panose="020F0302020204030204" pitchFamily="34" charset="0"/>
                <a:hlinkClick r:id="rId4">
                  <a:extLst>
                    <a:ext uri="{A12FA001-AC4F-418D-AE19-62706E023703}">
                      <ahyp:hlinkClr xmlns:ahyp="http://schemas.microsoft.com/office/drawing/2018/hyperlinkcolor" val="tx"/>
                    </a:ext>
                  </a:extLst>
                </a:hlinkClick>
              </a:rPr>
              <a:t>10.23880/OAJPR-16000143</a:t>
            </a:r>
            <a:endParaRPr lang="en-US" sz="1400" dirty="0">
              <a:latin typeface="Calibri Light" panose="020F0302020204030204" pitchFamily="34" charset="0"/>
            </a:endParaRPr>
          </a:p>
        </p:txBody>
      </p:sp>
    </p:spTree>
    <p:extLst>
      <p:ext uri="{BB962C8B-B14F-4D97-AF65-F5344CB8AC3E}">
        <p14:creationId xmlns:p14="http://schemas.microsoft.com/office/powerpoint/2010/main" val="325545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10.1016/j.molliq.2024.126209</a:t>
            </a:r>
            <a:endParaRPr lang="en-US" sz="1400" dirty="0">
              <a:latin typeface="Calibri Light" panose="020F0302020204030204" pitchFamily="34" charset="0"/>
            </a:endParaRPr>
          </a:p>
        </p:txBody>
      </p:sp>
      <p:pic>
        <p:nvPicPr>
          <p:cNvPr id="5122" name="Picture 2" descr="Evaluation of tamoxifen analogues as potential estrogen receptor alpha  inhibitors for breast cancer treatment: A computational approach -  ScienceDirect">
            <a:extLst>
              <a:ext uri="{FF2B5EF4-FFF2-40B4-BE49-F238E27FC236}">
                <a16:creationId xmlns:a16="http://schemas.microsoft.com/office/drawing/2014/main" id="{3BFDDCAA-4EC8-442E-9E2F-8FBFA917A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394" y="618892"/>
            <a:ext cx="8925546" cy="5620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3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Summary</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367434"/>
            <a:ext cx="10821371" cy="4661276"/>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Nuclear receptors serve since some 30 years as paradigms for many functional and structural aspects of transcription factors, such as the interaction with coactivator and corepressor proteins.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Many of the 48 human members of the largest family of transcription factors in metazoans have the unique property to be specifically activated by small lipophilic ligands in the size of cholesterol (approximately 400 Da).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Some of these ligands are known as endocrine hormones, such as </a:t>
            </a:r>
            <a:r>
              <a:rPr kumimoji="0" lang="en-GB" altLang="en-US" sz="20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estradiol</a:t>
            </a: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and testosterone, while others are metabolites of dietary compounds, such as fatty acids and cholesterol.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Both types of lipids are of large physiological impact in health and disease, such as metabolic control and the modulation of immunity.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GB"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This made nuclear receptors especially attractive for both basic and applied research.</a:t>
            </a:r>
            <a:endPar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69087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2FDC-DBEB-99F5-E8DD-22AC2DE42B71}"/>
              </a:ext>
            </a:extLst>
          </p:cNvPr>
          <p:cNvSpPr>
            <a:spLocks noGrp="1"/>
          </p:cNvSpPr>
          <p:nvPr>
            <p:ph type="ctrTitle"/>
          </p:nvPr>
        </p:nvSpPr>
        <p:spPr>
          <a:xfrm>
            <a:off x="1524000" y="868362"/>
            <a:ext cx="9144000" cy="2387600"/>
          </a:xfrm>
        </p:spPr>
        <p:txBody>
          <a:bodyPr>
            <a:normAutofit/>
          </a:bodyPr>
          <a:lstStyle/>
          <a:p>
            <a:r>
              <a:rPr lang="vi-VN" sz="7200" b="1" i="0" dirty="0">
                <a:solidFill>
                  <a:schemeClr val="tx1"/>
                </a:solidFill>
                <a:effectLst/>
                <a:latin typeface="Calibri Light" panose="020F0302020204030204" pitchFamily="34" charset="0"/>
              </a:rPr>
              <a:t>Xin chân thành cảm ơn!</a:t>
            </a:r>
            <a:endParaRPr lang="en-US" sz="7200" dirty="0">
              <a:solidFill>
                <a:schemeClr val="tx1"/>
              </a:solidFill>
            </a:endParaRPr>
          </a:p>
        </p:txBody>
      </p:sp>
      <p:sp>
        <p:nvSpPr>
          <p:cNvPr id="3" name="Subtitle 2">
            <a:extLst>
              <a:ext uri="{FF2B5EF4-FFF2-40B4-BE49-F238E27FC236}">
                <a16:creationId xmlns:a16="http://schemas.microsoft.com/office/drawing/2014/main" id="{528AAA23-BC4D-773B-8E37-395D5A12E168}"/>
              </a:ext>
            </a:extLst>
          </p:cNvPr>
          <p:cNvSpPr>
            <a:spLocks noGrp="1"/>
          </p:cNvSpPr>
          <p:nvPr>
            <p:ph type="subTitle" idx="1"/>
          </p:nvPr>
        </p:nvSpPr>
        <p:spPr>
          <a:xfrm>
            <a:off x="1461655" y="4777380"/>
            <a:ext cx="8825658" cy="861420"/>
          </a:xfrm>
        </p:spPr>
        <p:txBody>
          <a:bodyPr>
            <a:noAutofit/>
          </a:bodyPr>
          <a:lstStyle/>
          <a:p>
            <a:pPr algn="ctr"/>
            <a:r>
              <a:rPr lang="en-US" dirty="0">
                <a:solidFill>
                  <a:schemeClr val="tx1"/>
                </a:solidFill>
              </a:rPr>
              <a:t>Luu Phuc Loi, PhD</a:t>
            </a:r>
          </a:p>
          <a:p>
            <a:pPr algn="ctr"/>
            <a:r>
              <a:rPr lang="en-US" dirty="0" err="1">
                <a:solidFill>
                  <a:schemeClr val="tx1"/>
                </a:solidFill>
              </a:rPr>
              <a:t>Zalo</a:t>
            </a:r>
            <a:r>
              <a:rPr lang="en-US" dirty="0">
                <a:solidFill>
                  <a:schemeClr val="tx1"/>
                </a:solidFill>
              </a:rPr>
              <a:t>: 0901802182</a:t>
            </a:r>
          </a:p>
          <a:p>
            <a:pPr algn="ctr"/>
            <a:r>
              <a:rPr lang="en-US" cap="none" dirty="0">
                <a:solidFill>
                  <a:schemeClr val="tx1"/>
                </a:solidFill>
              </a:rPr>
              <a:t>luu.p.loi@googlemail.com</a:t>
            </a:r>
          </a:p>
        </p:txBody>
      </p:sp>
    </p:spTree>
    <p:extLst>
      <p:ext uri="{BB962C8B-B14F-4D97-AF65-F5344CB8AC3E}">
        <p14:creationId xmlns:p14="http://schemas.microsoft.com/office/powerpoint/2010/main" val="3221103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13432</TotalTime>
  <Words>2155</Words>
  <Application>Microsoft Office PowerPoint</Application>
  <PresentationFormat>Widescreen</PresentationFormat>
  <Paragraphs>140</Paragraphs>
  <Slides>24</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 Light</vt:lpstr>
      <vt:lpstr>Courier New</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Luu Loi</dc:creator>
  <cp:lastModifiedBy>Luu Loi</cp:lastModifiedBy>
  <cp:revision>585</cp:revision>
  <dcterms:created xsi:type="dcterms:W3CDTF">2024-11-15T02:34:27Z</dcterms:created>
  <dcterms:modified xsi:type="dcterms:W3CDTF">2025-12-07T14:17:23Z</dcterms:modified>
</cp:coreProperties>
</file>